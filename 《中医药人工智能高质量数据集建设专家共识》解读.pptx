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40"/>
  </p:notesMasterIdLst>
  <p:sldIdLst>
    <p:sldId id="3573" r:id="rId4"/>
    <p:sldId id="3585" r:id="rId5"/>
    <p:sldId id="3587" r:id="rId6"/>
    <p:sldId id="3641" r:id="rId7"/>
    <p:sldId id="3642" r:id="rId8"/>
    <p:sldId id="3588" r:id="rId9"/>
    <p:sldId id="3591" r:id="rId10"/>
    <p:sldId id="3592" r:id="rId11"/>
    <p:sldId id="3594" r:id="rId12"/>
    <p:sldId id="3596" r:id="rId13"/>
    <p:sldId id="3598" r:id="rId14"/>
    <p:sldId id="3599" r:id="rId15"/>
    <p:sldId id="3632" r:id="rId16"/>
    <p:sldId id="3604" r:id="rId17"/>
    <p:sldId id="3637" r:id="rId18"/>
    <p:sldId id="3609" r:id="rId19"/>
    <p:sldId id="3634" r:id="rId20"/>
    <p:sldId id="3608" r:id="rId21"/>
    <p:sldId id="3605" r:id="rId22"/>
    <p:sldId id="3612" r:id="rId23"/>
    <p:sldId id="3635" r:id="rId24"/>
    <p:sldId id="3614" r:id="rId25"/>
    <p:sldId id="3615" r:id="rId26"/>
    <p:sldId id="3597" r:id="rId27"/>
    <p:sldId id="3618" r:id="rId28"/>
    <p:sldId id="3534" r:id="rId29"/>
    <p:sldId id="3621" r:id="rId30"/>
    <p:sldId id="3623" r:id="rId31"/>
    <p:sldId id="3626" r:id="rId32"/>
    <p:sldId id="3628" r:id="rId33"/>
    <p:sldId id="3636" r:id="rId34"/>
    <p:sldId id="3567" r:id="rId35"/>
    <p:sldId id="3627" r:id="rId36"/>
    <p:sldId id="3639" r:id="rId37"/>
    <p:sldId id="3640" r:id="rId38"/>
    <p:sldId id="3631"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F88"/>
    <a:srgbClr val="1F5FA0"/>
    <a:srgbClr val="9A0000"/>
    <a:srgbClr val="629DD1"/>
    <a:srgbClr val="F2F2F2"/>
    <a:srgbClr val="FF9933"/>
    <a:srgbClr val="760000"/>
    <a:srgbClr val="BF17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56" autoAdjust="0"/>
    <p:restoredTop sz="94660"/>
  </p:normalViewPr>
  <p:slideViewPr>
    <p:cSldViewPr snapToGrid="0">
      <p:cViewPr varScale="1">
        <p:scale>
          <a:sx n="83" d="100"/>
          <a:sy n="83" d="100"/>
        </p:scale>
        <p:origin x="34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4">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ltNode1NoLn">
    <dgm:fillClrLst>
      <a:schemeClr val="accent2">
        <a:tint val="75000"/>
      </a:schemeClr>
      <a:schemeClr val="accent3">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1NoLn">
    <dgm:fillClrLst>
      <a:schemeClr val="accent2"/>
      <a:schemeClr val="accent3"/>
    </dgm:fillClrLst>
    <dgm:linClrLst meth="repeat">
      <a:schemeClr val="lt1">
        <a:alpha val="0"/>
      </a:schemeClr>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2NoLn">
    <dgm:fillClrLst>
      <a:schemeClr val="accent3"/>
    </dgm:fillClrLst>
    <dgm:linClrLst meth="repeat">
      <a:schemeClr val="lt1">
        <a:alpha val="0"/>
      </a:schemeClr>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3NoLn">
    <dgm:fillClrLst>
      <a:schemeClr val="accent4"/>
    </dgm:fillClrLst>
    <dgm:linClrLst meth="repeat">
      <a:schemeClr val="lt1">
        <a:alpha val="0"/>
      </a:schemeClr>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node4NoLn">
    <dgm:fillClrLst>
      <a:schemeClr val="accent5"/>
    </dgm:fillClrLst>
    <dgm:linClrLst meth="repeat">
      <a:schemeClr val="lt1">
        <a:alpha val="0"/>
      </a:schemeClr>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F0AD4D3-58ED-4DD1-8624-8D46B2972601}" type="doc">
      <dgm:prSet loTypeId="urn:microsoft.com/office/officeart/2005/8/layout/hList6" loCatId="list" qsTypeId="urn:microsoft.com/office/officeart/2005/8/quickstyle/simple5#4" qsCatId="simple" csTypeId="urn:microsoft.com/office/officeart/2005/8/colors/colorful1#7" csCatId="colorful" phldr="1"/>
      <dgm:spPr/>
      <dgm:t>
        <a:bodyPr/>
        <a:lstStyle/>
        <a:p>
          <a:endParaRPr lang="zh-CN" altLang="en-US"/>
        </a:p>
      </dgm:t>
    </dgm:pt>
    <dgm:pt modelId="{6F860121-43CF-433A-AE61-1564FBAC0B1A}">
      <dgm:prSet phldrT="[文本]" phldr="0" custT="1"/>
      <dgm:spPr/>
      <dgm:t>
        <a:bodyPr vert="horz" wrap="square"/>
        <a:lstStyle/>
        <a:p>
          <a:pPr>
            <a:lnSpc>
              <a:spcPct val="100000"/>
            </a:lnSpc>
            <a:spcBef>
              <a:spcPct val="0"/>
            </a:spcBef>
            <a:spcAft>
              <a:spcPct val="35000"/>
            </a:spcAft>
          </a:pPr>
          <a:r>
            <a:rPr lang="zh-CN" sz="2400" b="1" dirty="0"/>
            <a:t>数据孤岛与碎片化突出</a:t>
          </a:r>
          <a:endParaRPr lang="en-US" altLang="zh-CN" sz="1600" b="1" dirty="0"/>
        </a:p>
        <a:p>
          <a:pPr>
            <a:lnSpc>
              <a:spcPct val="100000"/>
            </a:lnSpc>
            <a:spcBef>
              <a:spcPct val="0"/>
            </a:spcBef>
            <a:spcAft>
              <a:spcPct val="35000"/>
            </a:spcAft>
          </a:pPr>
          <a:r>
            <a:rPr lang="zh-CN" sz="1400" dirty="0"/>
            <a:t>医疗机构、科研院所、企业数据分散割据，跨机构、跨区域共享机制不健全，形成大量“数据孤岛”；中医临床、古籍、产业等核心数据采集难度大、原始数据质量参差不齐，难以形成规模化、标准化高质量数据池。 </a:t>
          </a:r>
          <a:endParaRPr lang="zh-CN" altLang="en-US" sz="1400" dirty="0"/>
        </a:p>
      </dgm:t>
    </dgm:pt>
    <dgm:pt modelId="{AD63D763-6F30-4AC0-8A98-5D1D4CA7607E}" type="parTrans" cxnId="{70CE94F3-4F4E-43AA-8844-931B8AFEEFAB}">
      <dgm:prSet/>
      <dgm:spPr/>
      <dgm:t>
        <a:bodyPr/>
        <a:lstStyle/>
        <a:p>
          <a:endParaRPr lang="zh-CN" altLang="en-US"/>
        </a:p>
      </dgm:t>
    </dgm:pt>
    <dgm:pt modelId="{1258BDF1-5FB4-4584-8707-FB190251FD0B}" type="sibTrans" cxnId="{70CE94F3-4F4E-43AA-8844-931B8AFEEFAB}">
      <dgm:prSet/>
      <dgm:spPr/>
      <dgm:t>
        <a:bodyPr/>
        <a:lstStyle/>
        <a:p>
          <a:endParaRPr lang="zh-CN" altLang="en-US"/>
        </a:p>
      </dgm:t>
    </dgm:pt>
    <dgm:pt modelId="{A3D04F49-8F38-413E-8F41-26182E6BC8A6}">
      <dgm:prSet phldrT="[文本]" phldr="0" custT="1"/>
      <dgm:spPr/>
      <dgm:t>
        <a:bodyPr vert="horz" wrap="square"/>
        <a:lstStyle/>
        <a:p>
          <a:pPr>
            <a:lnSpc>
              <a:spcPct val="100000"/>
            </a:lnSpc>
            <a:spcBef>
              <a:spcPct val="0"/>
            </a:spcBef>
            <a:spcAft>
              <a:spcPct val="35000"/>
            </a:spcAft>
          </a:pPr>
          <a:r>
            <a:rPr lang="zh-CN" sz="2000" b="1" dirty="0"/>
            <a:t>标准规范缺失，治理体系不健全</a:t>
          </a:r>
          <a:endParaRPr lang="en-US" altLang="zh-CN" sz="1600" b="1" dirty="0"/>
        </a:p>
        <a:p>
          <a:pPr>
            <a:lnSpc>
              <a:spcPct val="100000"/>
            </a:lnSpc>
            <a:spcBef>
              <a:spcPct val="0"/>
            </a:spcBef>
            <a:spcAft>
              <a:spcPct val="35000"/>
            </a:spcAft>
          </a:pPr>
          <a:r>
            <a:rPr lang="zh-CN" sz="1400" dirty="0"/>
            <a:t>数据采集、术语体系、标注规则缺乏统一标准，多模态数据融合难度大，数据可比性与复用性不足；中医宏观证候数据与西医微观组学、影像数据之间 的对齐技术尚不成熟；古籍、病历、舌脉影像等非结构化数据占比高，结构化转化依赖专家人工标注，成本高、效率低，名医经验等隐性知识提取困难。</a:t>
          </a:r>
          <a:endParaRPr lang="zh-CN" altLang="en-US" sz="1400" dirty="0"/>
        </a:p>
      </dgm:t>
    </dgm:pt>
    <dgm:pt modelId="{948D4B7C-FE33-4369-8A13-3ACE4A22CC50}" type="parTrans" cxnId="{990DB6DA-13CA-47DA-B40F-BD7E1E47BD70}">
      <dgm:prSet/>
      <dgm:spPr/>
      <dgm:t>
        <a:bodyPr/>
        <a:lstStyle/>
        <a:p>
          <a:endParaRPr lang="zh-CN" altLang="en-US"/>
        </a:p>
      </dgm:t>
    </dgm:pt>
    <dgm:pt modelId="{8CAABC15-DCDF-42E8-A5E8-38E810FAAA89}" type="sibTrans" cxnId="{990DB6DA-13CA-47DA-B40F-BD7E1E47BD70}">
      <dgm:prSet/>
      <dgm:spPr/>
      <dgm:t>
        <a:bodyPr/>
        <a:lstStyle/>
        <a:p>
          <a:endParaRPr lang="zh-CN" altLang="en-US"/>
        </a:p>
      </dgm:t>
    </dgm:pt>
    <dgm:pt modelId="{4E97F8B8-1FFC-48AC-85C1-7E33D369D619}">
      <dgm:prSet phldrT="[文本]" phldr="0" custT="1"/>
      <dgm:spPr/>
      <dgm:t>
        <a:bodyPr vert="horz" wrap="square"/>
        <a:lstStyle/>
        <a:p>
          <a:pPr>
            <a:lnSpc>
              <a:spcPct val="100000"/>
            </a:lnSpc>
            <a:spcBef>
              <a:spcPct val="0"/>
            </a:spcBef>
            <a:spcAft>
              <a:spcPct val="35000"/>
            </a:spcAft>
          </a:pPr>
          <a:r>
            <a:rPr lang="zh-CN" sz="1800" b="1" dirty="0"/>
            <a:t>治理成本与效率瓶颈凸显，价值变现机制不成熟</a:t>
          </a:r>
          <a:endParaRPr lang="en-US" altLang="zh-CN" sz="1600" b="1" dirty="0"/>
        </a:p>
        <a:p>
          <a:pPr>
            <a:lnSpc>
              <a:spcPct val="100000"/>
            </a:lnSpc>
            <a:spcBef>
              <a:spcPct val="0"/>
            </a:spcBef>
            <a:spcAft>
              <a:spcPct val="35000"/>
            </a:spcAft>
          </a:pPr>
          <a:r>
            <a:rPr lang="zh-CN" sz="1400" dirty="0"/>
            <a:t>非结构化数据治理周期长、投入大，高质量数据集需多级审核、全流程溯源，建设成本高，中小机构难以负担，制约规模化推广；数据价值 变现路径不清晰，可持续运营机制尚未形成。</a:t>
          </a:r>
          <a:endParaRPr lang="zh-CN" altLang="en-US" sz="1400" dirty="0"/>
        </a:p>
      </dgm:t>
    </dgm:pt>
    <dgm:pt modelId="{1A2BB036-D5CD-4DE4-A586-DE0E3D2423BD}" type="parTrans" cxnId="{06F598DE-7C24-4503-9987-763D47D30BBE}">
      <dgm:prSet/>
      <dgm:spPr/>
      <dgm:t>
        <a:bodyPr/>
        <a:lstStyle/>
        <a:p>
          <a:endParaRPr lang="zh-CN" altLang="en-US"/>
        </a:p>
      </dgm:t>
    </dgm:pt>
    <dgm:pt modelId="{B5C3A7CF-B787-4F3A-9D06-2E1B8E00D1AE}" type="sibTrans" cxnId="{06F598DE-7C24-4503-9987-763D47D30BBE}">
      <dgm:prSet/>
      <dgm:spPr/>
      <dgm:t>
        <a:bodyPr/>
        <a:lstStyle/>
        <a:p>
          <a:endParaRPr lang="zh-CN" altLang="en-US"/>
        </a:p>
      </dgm:t>
    </dgm:pt>
    <dgm:pt modelId="{892B6112-E707-4FE8-BDB4-84C3A7F6C794}">
      <dgm:prSet phldrT="[文本]" phldr="0" custT="1"/>
      <dgm:spPr/>
      <dgm:t>
        <a:bodyPr vert="horz" wrap="square"/>
        <a:lstStyle/>
        <a:p>
          <a:pPr>
            <a:lnSpc>
              <a:spcPct val="100000"/>
            </a:lnSpc>
            <a:spcBef>
              <a:spcPct val="0"/>
            </a:spcBef>
            <a:spcAft>
              <a:spcPct val="35000"/>
            </a:spcAft>
          </a:pPr>
          <a:r>
            <a:rPr lang="zh-CN" sz="1800" b="1" dirty="0"/>
            <a:t>安全合规边界不清，共享流通存在壁垒</a:t>
          </a:r>
          <a:endParaRPr lang="en-US" altLang="zh-CN" sz="1600" b="1" dirty="0"/>
        </a:p>
        <a:p>
          <a:pPr>
            <a:lnSpc>
              <a:spcPct val="100000"/>
            </a:lnSpc>
            <a:spcBef>
              <a:spcPct val="0"/>
            </a:spcBef>
            <a:spcAft>
              <a:spcPct val="35000"/>
            </a:spcAft>
          </a:pPr>
          <a:r>
            <a:rPr lang="zh-CN" sz="1400" dirty="0"/>
            <a:t>医疗数据隐私保护要求严格，数据流通与应用的 合规边界需进一步明晰。数据归属、利益分配、知识产权等规则不明确，机构共享意愿低，数据流通效率低，难以形成规模化高质量数据集。 </a:t>
          </a:r>
          <a:endParaRPr lang="zh-CN" altLang="en-US" sz="1400" dirty="0"/>
        </a:p>
      </dgm:t>
    </dgm:pt>
    <dgm:pt modelId="{4A8ADEEB-F4AC-424B-9138-57288809980E}" type="parTrans" cxnId="{FF0843BA-2346-41DB-A8B3-8E5BDB856C48}">
      <dgm:prSet/>
      <dgm:spPr/>
      <dgm:t>
        <a:bodyPr/>
        <a:lstStyle/>
        <a:p>
          <a:endParaRPr lang="zh-CN" altLang="en-US"/>
        </a:p>
      </dgm:t>
    </dgm:pt>
    <dgm:pt modelId="{920F7230-A758-4155-8DA1-D4CC5CC92F8F}" type="sibTrans" cxnId="{FF0843BA-2346-41DB-A8B3-8E5BDB856C48}">
      <dgm:prSet/>
      <dgm:spPr/>
      <dgm:t>
        <a:bodyPr/>
        <a:lstStyle/>
        <a:p>
          <a:endParaRPr lang="zh-CN" altLang="en-US"/>
        </a:p>
      </dgm:t>
    </dgm:pt>
    <dgm:pt modelId="{E2745766-DFAF-4526-B0DF-0E040DA9C774}">
      <dgm:prSet phldrT="[文本]" phldr="0" custT="1"/>
      <dgm:spPr/>
      <dgm:t>
        <a:bodyPr vert="horz" wrap="square"/>
        <a:lstStyle/>
        <a:p>
          <a:pPr>
            <a:lnSpc>
              <a:spcPct val="100000"/>
            </a:lnSpc>
            <a:spcBef>
              <a:spcPct val="0"/>
            </a:spcBef>
            <a:spcAft>
              <a:spcPct val="35000"/>
            </a:spcAft>
          </a:pPr>
          <a:r>
            <a:rPr lang="zh-CN" sz="1800" b="1" dirty="0">
              <a:latin typeface="微软雅黑" panose="020B0503020204020204" pitchFamily="34" charset="-122"/>
              <a:ea typeface="微软雅黑" panose="020B0503020204020204" pitchFamily="34" charset="-122"/>
            </a:rPr>
            <a:t>政策、人才、资金支撑不足，体系建设进展缓慢</a:t>
          </a:r>
          <a:endParaRPr lang="en-US" altLang="zh-CN" sz="1600" b="1" dirty="0"/>
        </a:p>
        <a:p>
          <a:pPr>
            <a:lnSpc>
              <a:spcPct val="100000"/>
            </a:lnSpc>
            <a:spcBef>
              <a:spcPct val="0"/>
            </a:spcBef>
            <a:spcAft>
              <a:spcPct val="35000"/>
            </a:spcAft>
          </a:pPr>
          <a:r>
            <a:rPr lang="zh-CN" sz="1400" dirty="0"/>
            <a:t>国家政策处于落地初期，地方配套细则 不完善；中医药与数据科学交叉复合型人才严重短缺；中医药高质量数据集建设周期长、回报慢、短 期经济效益不显著，长期稳定资金投入不足，难以支撑持续迭代与运维；支撑高质量数据集建设的区 域数据共享与协作机制等亟待完善。</a:t>
          </a:r>
          <a:endParaRPr lang="zh-CN" altLang="en-US" sz="1400" dirty="0"/>
        </a:p>
      </dgm:t>
    </dgm:pt>
    <dgm:pt modelId="{6264DA1F-86A5-40EC-B89E-F604555EEB27}" type="parTrans" cxnId="{F75CEAA9-0FE2-4B18-95C0-1CDBD902FCCB}">
      <dgm:prSet/>
      <dgm:spPr/>
      <dgm:t>
        <a:bodyPr/>
        <a:lstStyle/>
        <a:p>
          <a:endParaRPr lang="zh-CN" altLang="en-US"/>
        </a:p>
      </dgm:t>
    </dgm:pt>
    <dgm:pt modelId="{75345D0B-E109-4012-AF17-174927BB22EC}" type="sibTrans" cxnId="{F75CEAA9-0FE2-4B18-95C0-1CDBD902FCCB}">
      <dgm:prSet/>
      <dgm:spPr/>
      <dgm:t>
        <a:bodyPr/>
        <a:lstStyle/>
        <a:p>
          <a:endParaRPr lang="zh-CN" altLang="en-US"/>
        </a:p>
      </dgm:t>
    </dgm:pt>
    <dgm:pt modelId="{482CD305-3C50-44D2-852E-755B53832B22}" type="pres">
      <dgm:prSet presAssocID="{FF0AD4D3-58ED-4DD1-8624-8D46B2972601}" presName="Name0" presStyleCnt="0">
        <dgm:presLayoutVars>
          <dgm:dir/>
          <dgm:resizeHandles val="exact"/>
        </dgm:presLayoutVars>
      </dgm:prSet>
      <dgm:spPr/>
    </dgm:pt>
    <dgm:pt modelId="{D2F9475C-3AC5-405A-87DF-9C340A9C60E8}" type="pres">
      <dgm:prSet presAssocID="{6F860121-43CF-433A-AE61-1564FBAC0B1A}" presName="node" presStyleLbl="node1" presStyleIdx="0" presStyleCnt="5">
        <dgm:presLayoutVars>
          <dgm:bulletEnabled val="1"/>
        </dgm:presLayoutVars>
      </dgm:prSet>
      <dgm:spPr/>
    </dgm:pt>
    <dgm:pt modelId="{73B9C7E4-29FB-4BB4-A710-824DC1B0BF68}" type="pres">
      <dgm:prSet presAssocID="{1258BDF1-5FB4-4584-8707-FB190251FD0B}" presName="sibTrans" presStyleCnt="0"/>
      <dgm:spPr/>
    </dgm:pt>
    <dgm:pt modelId="{79F51E03-45A5-4A95-8C15-99381B780097}" type="pres">
      <dgm:prSet presAssocID="{A3D04F49-8F38-413E-8F41-26182E6BC8A6}" presName="node" presStyleLbl="node1" presStyleIdx="1" presStyleCnt="5">
        <dgm:presLayoutVars>
          <dgm:bulletEnabled val="1"/>
        </dgm:presLayoutVars>
      </dgm:prSet>
      <dgm:spPr/>
    </dgm:pt>
    <dgm:pt modelId="{F614994D-738F-4E2B-A6AA-091A50F0FC98}" type="pres">
      <dgm:prSet presAssocID="{8CAABC15-DCDF-42E8-A5E8-38E810FAAA89}" presName="sibTrans" presStyleCnt="0"/>
      <dgm:spPr/>
    </dgm:pt>
    <dgm:pt modelId="{E6E75FB3-5AC8-430C-AF4A-61A198B64629}" type="pres">
      <dgm:prSet presAssocID="{4E97F8B8-1FFC-48AC-85C1-7E33D369D619}" presName="node" presStyleLbl="node1" presStyleIdx="2" presStyleCnt="5">
        <dgm:presLayoutVars>
          <dgm:bulletEnabled val="1"/>
        </dgm:presLayoutVars>
      </dgm:prSet>
      <dgm:spPr/>
    </dgm:pt>
    <dgm:pt modelId="{6041F702-DC21-4AEA-AFA7-8E5ED8C4D3FF}" type="pres">
      <dgm:prSet presAssocID="{B5C3A7CF-B787-4F3A-9D06-2E1B8E00D1AE}" presName="sibTrans" presStyleCnt="0"/>
      <dgm:spPr/>
    </dgm:pt>
    <dgm:pt modelId="{9515BEAD-DD61-40C0-ABD3-2731660030B2}" type="pres">
      <dgm:prSet presAssocID="{892B6112-E707-4FE8-BDB4-84C3A7F6C794}" presName="node" presStyleLbl="node1" presStyleIdx="3" presStyleCnt="5">
        <dgm:presLayoutVars>
          <dgm:bulletEnabled val="1"/>
        </dgm:presLayoutVars>
      </dgm:prSet>
      <dgm:spPr/>
    </dgm:pt>
    <dgm:pt modelId="{FCAEB15F-6961-49B3-9431-678448AFBD88}" type="pres">
      <dgm:prSet presAssocID="{920F7230-A758-4155-8DA1-D4CC5CC92F8F}" presName="sibTrans" presStyleCnt="0"/>
      <dgm:spPr/>
    </dgm:pt>
    <dgm:pt modelId="{A566D76E-2CAD-4243-A738-BE8990CB60D8}" type="pres">
      <dgm:prSet presAssocID="{E2745766-DFAF-4526-B0DF-0E040DA9C774}" presName="node" presStyleLbl="node1" presStyleIdx="4" presStyleCnt="5">
        <dgm:presLayoutVars>
          <dgm:bulletEnabled val="1"/>
        </dgm:presLayoutVars>
      </dgm:prSet>
      <dgm:spPr/>
    </dgm:pt>
  </dgm:ptLst>
  <dgm:cxnLst>
    <dgm:cxn modelId="{79B79707-DCFD-4F3F-AB6C-D7923502E47D}" type="presOf" srcId="{A3D04F49-8F38-413E-8F41-26182E6BC8A6}" destId="{79F51E03-45A5-4A95-8C15-99381B780097}" srcOrd="0" destOrd="0" presId="urn:microsoft.com/office/officeart/2005/8/layout/hList6"/>
    <dgm:cxn modelId="{B0A6350A-DC25-4FA0-B7D7-9BB88CA80F61}" type="presOf" srcId="{FF0AD4D3-58ED-4DD1-8624-8D46B2972601}" destId="{482CD305-3C50-44D2-852E-755B53832B22}" srcOrd="0" destOrd="0" presId="urn:microsoft.com/office/officeart/2005/8/layout/hList6"/>
    <dgm:cxn modelId="{3B8E7E4C-3A63-47F7-A0C9-0156C25463DE}" type="presOf" srcId="{E2745766-DFAF-4526-B0DF-0E040DA9C774}" destId="{A566D76E-2CAD-4243-A738-BE8990CB60D8}" srcOrd="0" destOrd="0" presId="urn:microsoft.com/office/officeart/2005/8/layout/hList6"/>
    <dgm:cxn modelId="{F75CEAA9-0FE2-4B18-95C0-1CDBD902FCCB}" srcId="{FF0AD4D3-58ED-4DD1-8624-8D46B2972601}" destId="{E2745766-DFAF-4526-B0DF-0E040DA9C774}" srcOrd="4" destOrd="0" parTransId="{6264DA1F-86A5-40EC-B89E-F604555EEB27}" sibTransId="{75345D0B-E109-4012-AF17-174927BB22EC}"/>
    <dgm:cxn modelId="{C650BFB7-3AB3-406E-BEED-D3DB532FAF43}" type="presOf" srcId="{6F860121-43CF-433A-AE61-1564FBAC0B1A}" destId="{D2F9475C-3AC5-405A-87DF-9C340A9C60E8}" srcOrd="0" destOrd="0" presId="urn:microsoft.com/office/officeart/2005/8/layout/hList6"/>
    <dgm:cxn modelId="{689BB9B9-A1C8-496E-A747-88FFB1336CFD}" type="presOf" srcId="{892B6112-E707-4FE8-BDB4-84C3A7F6C794}" destId="{9515BEAD-DD61-40C0-ABD3-2731660030B2}" srcOrd="0" destOrd="0" presId="urn:microsoft.com/office/officeart/2005/8/layout/hList6"/>
    <dgm:cxn modelId="{FF0843BA-2346-41DB-A8B3-8E5BDB856C48}" srcId="{FF0AD4D3-58ED-4DD1-8624-8D46B2972601}" destId="{892B6112-E707-4FE8-BDB4-84C3A7F6C794}" srcOrd="3" destOrd="0" parTransId="{4A8ADEEB-F4AC-424B-9138-57288809980E}" sibTransId="{920F7230-A758-4155-8DA1-D4CC5CC92F8F}"/>
    <dgm:cxn modelId="{990DB6DA-13CA-47DA-B40F-BD7E1E47BD70}" srcId="{FF0AD4D3-58ED-4DD1-8624-8D46B2972601}" destId="{A3D04F49-8F38-413E-8F41-26182E6BC8A6}" srcOrd="1" destOrd="0" parTransId="{948D4B7C-FE33-4369-8A13-3ACE4A22CC50}" sibTransId="{8CAABC15-DCDF-42E8-A5E8-38E810FAAA89}"/>
    <dgm:cxn modelId="{06F598DE-7C24-4503-9987-763D47D30BBE}" srcId="{FF0AD4D3-58ED-4DD1-8624-8D46B2972601}" destId="{4E97F8B8-1FFC-48AC-85C1-7E33D369D619}" srcOrd="2" destOrd="0" parTransId="{1A2BB036-D5CD-4DE4-A586-DE0E3D2423BD}" sibTransId="{B5C3A7CF-B787-4F3A-9D06-2E1B8E00D1AE}"/>
    <dgm:cxn modelId="{70CE94F3-4F4E-43AA-8844-931B8AFEEFAB}" srcId="{FF0AD4D3-58ED-4DD1-8624-8D46B2972601}" destId="{6F860121-43CF-433A-AE61-1564FBAC0B1A}" srcOrd="0" destOrd="0" parTransId="{AD63D763-6F30-4AC0-8A98-5D1D4CA7607E}" sibTransId="{1258BDF1-5FB4-4584-8707-FB190251FD0B}"/>
    <dgm:cxn modelId="{F8826CFC-8458-4E85-A9E6-C736490842D2}" type="presOf" srcId="{4E97F8B8-1FFC-48AC-85C1-7E33D369D619}" destId="{E6E75FB3-5AC8-430C-AF4A-61A198B64629}" srcOrd="0" destOrd="0" presId="urn:microsoft.com/office/officeart/2005/8/layout/hList6"/>
    <dgm:cxn modelId="{79A2E44A-ED3D-43F8-8A3D-8065CC178193}" type="presParOf" srcId="{482CD305-3C50-44D2-852E-755B53832B22}" destId="{D2F9475C-3AC5-405A-87DF-9C340A9C60E8}" srcOrd="0" destOrd="0" presId="urn:microsoft.com/office/officeart/2005/8/layout/hList6"/>
    <dgm:cxn modelId="{0F3D5A95-B598-4C43-A860-3CC99258ABDD}" type="presParOf" srcId="{482CD305-3C50-44D2-852E-755B53832B22}" destId="{73B9C7E4-29FB-4BB4-A710-824DC1B0BF68}" srcOrd="1" destOrd="0" presId="urn:microsoft.com/office/officeart/2005/8/layout/hList6"/>
    <dgm:cxn modelId="{01E3726F-BAA8-4B8E-AA42-2906466A18F9}" type="presParOf" srcId="{482CD305-3C50-44D2-852E-755B53832B22}" destId="{79F51E03-45A5-4A95-8C15-99381B780097}" srcOrd="2" destOrd="0" presId="urn:microsoft.com/office/officeart/2005/8/layout/hList6"/>
    <dgm:cxn modelId="{068BC784-9F37-4158-8ADA-EE062A0CCAE0}" type="presParOf" srcId="{482CD305-3C50-44D2-852E-755B53832B22}" destId="{F614994D-738F-4E2B-A6AA-091A50F0FC98}" srcOrd="3" destOrd="0" presId="urn:microsoft.com/office/officeart/2005/8/layout/hList6"/>
    <dgm:cxn modelId="{F0DB831B-9B1E-4612-B1BC-9BB16332D005}" type="presParOf" srcId="{482CD305-3C50-44D2-852E-755B53832B22}" destId="{E6E75FB3-5AC8-430C-AF4A-61A198B64629}" srcOrd="4" destOrd="0" presId="urn:microsoft.com/office/officeart/2005/8/layout/hList6"/>
    <dgm:cxn modelId="{D64E4A65-E34B-4F48-A1D8-50A8F809C070}" type="presParOf" srcId="{482CD305-3C50-44D2-852E-755B53832B22}" destId="{6041F702-DC21-4AEA-AFA7-8E5ED8C4D3FF}" srcOrd="5" destOrd="0" presId="urn:microsoft.com/office/officeart/2005/8/layout/hList6"/>
    <dgm:cxn modelId="{A95A29B4-B472-4712-9ACE-FF8C8FA6544D}" type="presParOf" srcId="{482CD305-3C50-44D2-852E-755B53832B22}" destId="{9515BEAD-DD61-40C0-ABD3-2731660030B2}" srcOrd="6" destOrd="0" presId="urn:microsoft.com/office/officeart/2005/8/layout/hList6"/>
    <dgm:cxn modelId="{E5E815E2-FD9B-469C-B6B6-040128FB1BF5}" type="presParOf" srcId="{482CD305-3C50-44D2-852E-755B53832B22}" destId="{FCAEB15F-6961-49B3-9431-678448AFBD88}" srcOrd="7" destOrd="0" presId="urn:microsoft.com/office/officeart/2005/8/layout/hList6"/>
    <dgm:cxn modelId="{8BF36255-1FF6-4317-BBFF-5AC88D2184FD}" type="presParOf" srcId="{482CD305-3C50-44D2-852E-755B53832B22}" destId="{A566D76E-2CAD-4243-A738-BE8990CB60D8}" srcOrd="8"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0386EC-E120-4A70-981F-BC4E6CBA1278}" type="doc">
      <dgm:prSet loTypeId="urn:microsoft.com/office/officeart/2005/8/layout/vList5" loCatId="list" qsTypeId="urn:microsoft.com/office/officeart/2005/8/quickstyle/simple1#19" qsCatId="simple" csTypeId="urn:microsoft.com/office/officeart/2005/8/colors/colorful1#8" csCatId="colorful" phldr="1"/>
      <dgm:spPr/>
      <dgm:t>
        <a:bodyPr/>
        <a:lstStyle/>
        <a:p>
          <a:endParaRPr lang="zh-CN" altLang="en-US"/>
        </a:p>
      </dgm:t>
    </dgm:pt>
    <dgm:pt modelId="{5AF5F206-72E1-4E7A-8229-A7421AB42B16}">
      <dgm:prSet phldrT="[文本]" phldr="0" custT="1"/>
      <dgm:spPr/>
      <dgm:t>
        <a:bodyPr vert="horz" wrap="square"/>
        <a:lstStyle/>
        <a:p>
          <a:pPr>
            <a:lnSpc>
              <a:spcPct val="100000"/>
            </a:lnSpc>
            <a:spcBef>
              <a:spcPct val="0"/>
            </a:spcBef>
            <a:spcAft>
              <a:spcPct val="35000"/>
            </a:spcAft>
            <a:buFont typeface="Wingdings" panose="05000000000000000000" pitchFamily="2" charset="2"/>
          </a:pPr>
          <a:r>
            <a:rPr lang="zh-CN" altLang="en-US" sz="2000" b="1" i="0">
              <a:effectLst/>
              <a:latin typeface="微软雅黑" panose="020B0503020204020204" pitchFamily="34" charset="-122"/>
              <a:ea typeface="微软雅黑" panose="020B0503020204020204" pitchFamily="34" charset="-122"/>
            </a:rPr>
            <a:t>建立标准化数据治理体系打通行业数据壁垒</a:t>
          </a:r>
          <a:endParaRPr lang="zh-CN" altLang="en-US" sz="2000" dirty="0"/>
        </a:p>
      </dgm:t>
    </dgm:pt>
    <dgm:pt modelId="{5E3DBB3A-A42F-4296-B8DE-ACC4AD2C465D}" type="parTrans" cxnId="{EFE02847-A27D-4934-AF65-C7C04A0426B1}">
      <dgm:prSet/>
      <dgm:spPr/>
      <dgm:t>
        <a:bodyPr/>
        <a:lstStyle/>
        <a:p>
          <a:endParaRPr lang="zh-CN" altLang="en-US"/>
        </a:p>
      </dgm:t>
    </dgm:pt>
    <dgm:pt modelId="{ACB7D8C6-C19E-47BE-93F6-74C46B6CE923}" type="sibTrans" cxnId="{EFE02847-A27D-4934-AF65-C7C04A0426B1}">
      <dgm:prSet/>
      <dgm:spPr/>
      <dgm:t>
        <a:bodyPr/>
        <a:lstStyle/>
        <a:p>
          <a:endParaRPr lang="zh-CN" altLang="en-US"/>
        </a:p>
      </dgm:t>
    </dgm:pt>
    <dgm:pt modelId="{08CBB790-608B-494E-9DDA-0E66B7660F71}">
      <dgm:prSet phldrT="[文本]" phldr="0" custT="1"/>
      <dgm:spPr/>
      <dgm:t>
        <a:bodyPr vert="horz" wrap="square"/>
        <a:lstStyle/>
        <a:p>
          <a:pPr>
            <a:lnSpc>
              <a:spcPct val="100000"/>
            </a:lnSpc>
            <a:spcBef>
              <a:spcPct val="0"/>
            </a:spcBef>
            <a:spcAft>
              <a:spcPct val="15000"/>
            </a:spcAft>
            <a:buFont typeface="Arial" panose="020B0604020202020204" pitchFamily="34" charset="0"/>
          </a:pPr>
          <a:r>
            <a:rPr lang="zh-CN" altLang="en-US" sz="2000" b="1" i="0">
              <a:effectLst/>
              <a:latin typeface="微软雅黑" panose="020B0503020204020204" pitchFamily="34" charset="-122"/>
              <a:ea typeface="微软雅黑" panose="020B0503020204020204" pitchFamily="34" charset="-122"/>
            </a:rPr>
            <a:t>制定中医药数据分类分级、多源融合、质量评估等标准规范</a:t>
          </a:r>
          <a:endParaRPr lang="zh-CN" altLang="en-US" sz="2000" b="1" dirty="0"/>
        </a:p>
      </dgm:t>
    </dgm:pt>
    <dgm:pt modelId="{23149449-F506-4051-BBB1-3617E6345207}" type="parTrans" cxnId="{FBB1E256-93D1-4CE2-B4B4-01EFF55253D1}">
      <dgm:prSet/>
      <dgm:spPr/>
      <dgm:t>
        <a:bodyPr/>
        <a:lstStyle/>
        <a:p>
          <a:endParaRPr lang="zh-CN" altLang="en-US"/>
        </a:p>
      </dgm:t>
    </dgm:pt>
    <dgm:pt modelId="{D686D9B8-0C3D-4FDA-A6C0-98184741DBFB}" type="sibTrans" cxnId="{FBB1E256-93D1-4CE2-B4B4-01EFF55253D1}">
      <dgm:prSet/>
      <dgm:spPr/>
      <dgm:t>
        <a:bodyPr/>
        <a:lstStyle/>
        <a:p>
          <a:endParaRPr lang="zh-CN" altLang="en-US"/>
        </a:p>
      </dgm:t>
    </dgm:pt>
    <dgm:pt modelId="{07A63858-D645-4440-8E6A-357BAB02C02F}">
      <dgm:prSet phldr="0" custT="1"/>
      <dgm:spPr/>
      <dgm:t>
        <a:bodyPr vert="horz" wrap="square"/>
        <a:lstStyle/>
        <a:p>
          <a:pPr>
            <a:lnSpc>
              <a:spcPct val="100000"/>
            </a:lnSpc>
            <a:spcBef>
              <a:spcPct val="0"/>
            </a:spcBef>
            <a:spcAft>
              <a:spcPct val="15000"/>
            </a:spcAft>
            <a:buFont typeface="Arial" panose="020B0604020202020204" pitchFamily="34" charset="0"/>
          </a:pPr>
          <a:r>
            <a:rPr lang="zh-CN" altLang="en-US" sz="2000" b="1" i="0" dirty="0">
              <a:effectLst/>
              <a:latin typeface="微软雅黑" panose="020B0503020204020204" pitchFamily="34" charset="-122"/>
              <a:ea typeface="微软雅黑" panose="020B0503020204020204" pitchFamily="34" charset="-122"/>
            </a:rPr>
            <a:t>建立覆盖采集、清洗、标注、存储、共享的全流程治理机制</a:t>
          </a:r>
          <a:endParaRPr lang="zh-CN" altLang="en-US" sz="2000" b="1" dirty="0"/>
        </a:p>
      </dgm:t>
    </dgm:pt>
    <dgm:pt modelId="{33FA7205-3CDD-4BA3-B189-461596F592E1}" type="parTrans" cxnId="{BDC3F032-3323-4B73-9F55-AA752E0C82AE}">
      <dgm:prSet/>
      <dgm:spPr/>
    </dgm:pt>
    <dgm:pt modelId="{8DD7EED5-D15F-441A-9A0A-DF2BBFA5253B}" type="sibTrans" cxnId="{BDC3F032-3323-4B73-9F55-AA752E0C82AE}">
      <dgm:prSet/>
      <dgm:spPr/>
    </dgm:pt>
    <dgm:pt modelId="{6CC1A006-A725-42D1-8E66-A4EAA766B225}">
      <dgm:prSet phldrT="[文本]" phldr="0" custT="1"/>
      <dgm:spPr/>
      <dgm:t>
        <a:bodyPr vert="horz" wrap="square"/>
        <a:lstStyle/>
        <a:p>
          <a:pPr>
            <a:lnSpc>
              <a:spcPct val="100000"/>
            </a:lnSpc>
            <a:spcBef>
              <a:spcPct val="0"/>
            </a:spcBef>
            <a:spcAft>
              <a:spcPct val="35000"/>
            </a:spcAft>
            <a:buFont typeface="Wingdings" panose="05000000000000000000" pitchFamily="2" charset="2"/>
          </a:pPr>
          <a:r>
            <a:rPr lang="zh-CN" altLang="en-US" sz="2000" b="1" i="0">
              <a:effectLst/>
              <a:latin typeface="微软雅黑" panose="020B0503020204020204" pitchFamily="34" charset="-122"/>
              <a:ea typeface="微软雅黑" panose="020B0503020204020204" pitchFamily="34" charset="-122"/>
            </a:rPr>
            <a:t>推进全链条数据资源汇聚 搭建高水平科学数据平台</a:t>
          </a:r>
          <a:endParaRPr lang="zh-CN" altLang="en-US" sz="2000" dirty="0"/>
        </a:p>
      </dgm:t>
    </dgm:pt>
    <dgm:pt modelId="{EF09D554-2B94-4137-9E37-979362157392}" type="parTrans" cxnId="{38C9DD05-87F5-47B6-A092-8EF287845AC3}">
      <dgm:prSet/>
      <dgm:spPr/>
      <dgm:t>
        <a:bodyPr/>
        <a:lstStyle/>
        <a:p>
          <a:endParaRPr lang="zh-CN" altLang="en-US"/>
        </a:p>
      </dgm:t>
    </dgm:pt>
    <dgm:pt modelId="{CA25BACA-9251-4DCA-88E0-9F011042230C}" type="sibTrans" cxnId="{38C9DD05-87F5-47B6-A092-8EF287845AC3}">
      <dgm:prSet/>
      <dgm:spPr/>
      <dgm:t>
        <a:bodyPr/>
        <a:lstStyle/>
        <a:p>
          <a:endParaRPr lang="zh-CN" altLang="en-US"/>
        </a:p>
      </dgm:t>
    </dgm:pt>
    <dgm:pt modelId="{254C81FE-20EA-4B53-90D1-EEC5FAD0A781}">
      <dgm:prSet phldrT="[文本]" phldr="0" custT="1"/>
      <dgm:spPr/>
      <dgm:t>
        <a:bodyPr vert="horz" wrap="square"/>
        <a:lstStyle/>
        <a:p>
          <a:pPr>
            <a:lnSpc>
              <a:spcPct val="100000"/>
            </a:lnSpc>
            <a:spcBef>
              <a:spcPct val="0"/>
            </a:spcBef>
            <a:spcAft>
              <a:spcPts val="0"/>
            </a:spcAft>
            <a:buFont typeface="Arial" panose="020B0604020202020204" pitchFamily="34" charset="0"/>
          </a:pPr>
          <a:r>
            <a:rPr lang="zh-CN" altLang="en-US" sz="1800" b="1" i="0" dirty="0">
              <a:effectLst/>
              <a:latin typeface="微软雅黑" panose="020B0503020204020204" pitchFamily="34" charset="-122"/>
              <a:ea typeface="微软雅黑" panose="020B0503020204020204" pitchFamily="34" charset="-122"/>
            </a:rPr>
            <a:t>中医药全领域数据汇聚</a:t>
          </a:r>
          <a:endParaRPr lang="zh-CN" altLang="en-US" sz="1800" b="1" dirty="0"/>
        </a:p>
      </dgm:t>
    </dgm:pt>
    <dgm:pt modelId="{714392B1-31B3-46C6-BBD9-DD77B175AEED}" type="parTrans" cxnId="{E254C4C9-8211-4083-850B-309CB0DAE2C3}">
      <dgm:prSet/>
      <dgm:spPr/>
      <dgm:t>
        <a:bodyPr/>
        <a:lstStyle/>
        <a:p>
          <a:endParaRPr lang="zh-CN" altLang="en-US"/>
        </a:p>
      </dgm:t>
    </dgm:pt>
    <dgm:pt modelId="{165E71AD-971C-4B71-A902-B4F9B9E6A0A1}" type="sibTrans" cxnId="{E254C4C9-8211-4083-850B-309CB0DAE2C3}">
      <dgm:prSet/>
      <dgm:spPr/>
      <dgm:t>
        <a:bodyPr/>
        <a:lstStyle/>
        <a:p>
          <a:endParaRPr lang="zh-CN" altLang="en-US"/>
        </a:p>
      </dgm:t>
    </dgm:pt>
    <dgm:pt modelId="{6377EA54-A5AF-4075-9CA6-A4C504281B71}">
      <dgm:prSet phldr="0" custT="1"/>
      <dgm:spPr/>
      <dgm:t>
        <a:bodyPr vert="horz" wrap="square"/>
        <a:lstStyle/>
        <a:p>
          <a:pPr>
            <a:lnSpc>
              <a:spcPct val="100000"/>
            </a:lnSpc>
            <a:spcBef>
              <a:spcPct val="0"/>
            </a:spcBef>
            <a:spcAft>
              <a:spcPts val="0"/>
            </a:spcAft>
          </a:pPr>
          <a:r>
            <a:rPr lang="zh-CN" altLang="en-US" sz="1800" b="1" i="0" dirty="0">
              <a:effectLst/>
              <a:latin typeface="微软雅黑" panose="020B0503020204020204" pitchFamily="34" charset="-122"/>
              <a:ea typeface="微软雅黑" panose="020B0503020204020204" pitchFamily="34" charset="-122"/>
            </a:rPr>
            <a:t>打造中医药专病与特色数据集</a:t>
          </a:r>
        </a:p>
      </dgm:t>
    </dgm:pt>
    <dgm:pt modelId="{DF1A6CD6-1F6E-4E45-B2A6-B52346DC3253}" type="parTrans" cxnId="{B1F9A5CF-ED7F-4123-AAF4-D8C51ACD8ADB}">
      <dgm:prSet/>
      <dgm:spPr/>
    </dgm:pt>
    <dgm:pt modelId="{C02E3126-765B-4BEF-AC92-201DEC6DAE38}" type="sibTrans" cxnId="{B1F9A5CF-ED7F-4123-AAF4-D8C51ACD8ADB}">
      <dgm:prSet/>
      <dgm:spPr/>
    </dgm:pt>
    <dgm:pt modelId="{0BC87282-5DDD-4976-BDB1-EFCB76A72C14}">
      <dgm:prSet phldr="0" custT="1"/>
      <dgm:spPr/>
      <dgm:t>
        <a:bodyPr vert="horz" wrap="square"/>
        <a:lstStyle/>
        <a:p>
          <a:pPr>
            <a:lnSpc>
              <a:spcPct val="100000"/>
            </a:lnSpc>
            <a:spcBef>
              <a:spcPct val="0"/>
            </a:spcBef>
            <a:spcAft>
              <a:spcPts val="0"/>
            </a:spcAft>
          </a:pPr>
          <a:r>
            <a:rPr lang="zh-CN" altLang="en-US" sz="1800" b="1" i="0" dirty="0">
              <a:effectLst/>
              <a:latin typeface="微软雅黑" panose="020B0503020204020204" pitchFamily="34" charset="-122"/>
              <a:ea typeface="微软雅黑" panose="020B0503020204020204" pitchFamily="34" charset="-122"/>
            </a:rPr>
            <a:t>建设高水平中医药科学数据平台</a:t>
          </a:r>
        </a:p>
      </dgm:t>
    </dgm:pt>
    <dgm:pt modelId="{5B61C1D3-89E9-42D0-AB6C-E0E831441E87}" type="parTrans" cxnId="{C364AEDC-B9CE-4DC6-A4FC-AA1B2FD28619}">
      <dgm:prSet/>
      <dgm:spPr/>
    </dgm:pt>
    <dgm:pt modelId="{418D9775-1F65-4166-A7D0-D285EED53ACA}" type="sibTrans" cxnId="{C364AEDC-B9CE-4DC6-A4FC-AA1B2FD28619}">
      <dgm:prSet/>
      <dgm:spPr/>
    </dgm:pt>
    <dgm:pt modelId="{4D5BA102-A6D1-4DF7-A6FF-9FFE4A7B7694}">
      <dgm:prSet phldrT="[文本]" phldr="0" custT="1"/>
      <dgm:spPr/>
      <dgm:t>
        <a:bodyPr vert="horz" wrap="square"/>
        <a:lstStyle/>
        <a:p>
          <a:pPr>
            <a:lnSpc>
              <a:spcPct val="100000"/>
            </a:lnSpc>
            <a:spcBef>
              <a:spcPct val="0"/>
            </a:spcBef>
            <a:spcAft>
              <a:spcPct val="35000"/>
            </a:spcAft>
          </a:pPr>
          <a:r>
            <a:rPr lang="zh-CN" altLang="en-US" sz="2000" b="1" dirty="0">
              <a:latin typeface="微软雅黑" panose="020B0503020204020204" pitchFamily="34" charset="-122"/>
              <a:ea typeface="微软雅黑" panose="020B0503020204020204" pitchFamily="34" charset="-122"/>
            </a:rPr>
            <a:t>强化安全与合规管理 提供数据全周期可信保障</a:t>
          </a:r>
          <a:endParaRPr sz="2000"/>
        </a:p>
      </dgm:t>
    </dgm:pt>
    <dgm:pt modelId="{6D1F7D70-FD58-43B2-B02F-97A6ACF7AFAB}" type="parTrans" cxnId="{B2D428BD-9835-445D-A8C1-986CB4D95DDD}">
      <dgm:prSet/>
      <dgm:spPr/>
      <dgm:t>
        <a:bodyPr/>
        <a:lstStyle/>
        <a:p>
          <a:endParaRPr lang="zh-CN" altLang="en-US"/>
        </a:p>
      </dgm:t>
    </dgm:pt>
    <dgm:pt modelId="{822073C2-A841-4A25-A64F-9B820EF2CC4B}" type="sibTrans" cxnId="{B2D428BD-9835-445D-A8C1-986CB4D95DDD}">
      <dgm:prSet/>
      <dgm:spPr/>
      <dgm:t>
        <a:bodyPr/>
        <a:lstStyle/>
        <a:p>
          <a:endParaRPr lang="zh-CN" altLang="en-US"/>
        </a:p>
      </dgm:t>
    </dgm:pt>
    <dgm:pt modelId="{D1B22C82-A58D-41C3-A3A6-777BB313EE6D}">
      <dgm:prSet phldrT="[文本]" phldr="0" custT="1"/>
      <dgm:spPr/>
      <dgm:t>
        <a:bodyPr vert="horz" wrap="square"/>
        <a:lstStyle/>
        <a:p>
          <a:pPr>
            <a:lnSpc>
              <a:spcPct val="100000"/>
            </a:lnSpc>
            <a:spcBef>
              <a:spcPct val="0"/>
            </a:spcBef>
            <a:spcAft>
              <a:spcPct val="15000"/>
            </a:spcAft>
            <a:buFont typeface="Arial" panose="020B0604020202020204" pitchFamily="34" charset="0"/>
          </a:pPr>
          <a:r>
            <a:rPr lang="zh-CN" altLang="en-US" sz="1800" b="1" dirty="0">
              <a:latin typeface="微软雅黑" panose="020B0503020204020204" pitchFamily="34" charset="-122"/>
              <a:ea typeface="微软雅黑" panose="020B0503020204020204" pitchFamily="34" charset="-122"/>
            </a:rPr>
            <a:t>筑牢数据安全防线。严格遵循</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中华人民共和国网络安全法</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中华人民共和国数据安全法</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中华人民共和国个人信息保护法</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关键信息基础设施安全保护条例</a:t>
          </a:r>
          <a:r>
            <a:rPr lang="en-US" altLang="zh-CN" sz="1800" b="1" dirty="0">
              <a:latin typeface="微软雅黑" panose="020B0503020204020204" pitchFamily="34" charset="-122"/>
              <a:ea typeface="微软雅黑" panose="020B0503020204020204" pitchFamily="34" charset="-122"/>
            </a:rPr>
            <a:t>》</a:t>
          </a:r>
          <a:r>
            <a:rPr lang="zh-CN" altLang="en-US" sz="1800" b="1" dirty="0">
              <a:latin typeface="微软雅黑" panose="020B0503020204020204" pitchFamily="34" charset="-122"/>
              <a:ea typeface="微软雅黑" panose="020B0503020204020204" pitchFamily="34" charset="-122"/>
            </a:rPr>
            <a:t>等法律法规</a:t>
          </a:r>
        </a:p>
      </dgm:t>
    </dgm:pt>
    <dgm:pt modelId="{45B3CBCD-04DA-4DFE-91A5-2A09FC5A16DD}" type="parTrans" cxnId="{54A15ACD-EC3E-4BB2-8679-D2951C1BB373}">
      <dgm:prSet/>
      <dgm:spPr/>
      <dgm:t>
        <a:bodyPr/>
        <a:lstStyle/>
        <a:p>
          <a:endParaRPr lang="zh-CN" altLang="en-US"/>
        </a:p>
      </dgm:t>
    </dgm:pt>
    <dgm:pt modelId="{5DECBE5C-EE7F-45B8-8267-FFB07457A222}" type="sibTrans" cxnId="{54A15ACD-EC3E-4BB2-8679-D2951C1BB373}">
      <dgm:prSet/>
      <dgm:spPr/>
      <dgm:t>
        <a:bodyPr/>
        <a:lstStyle/>
        <a:p>
          <a:endParaRPr lang="zh-CN" altLang="en-US"/>
        </a:p>
      </dgm:t>
    </dgm:pt>
    <dgm:pt modelId="{FC016F6E-3FB7-4D20-9260-7E299E89EEB4}">
      <dgm:prSet phldrT="[文本]" phldr="0" custT="1"/>
      <dgm:spPr/>
      <dgm:t>
        <a:bodyPr vert="horz" wrap="square"/>
        <a:lstStyle/>
        <a:p>
          <a:pPr>
            <a:lnSpc>
              <a:spcPct val="100000"/>
            </a:lnSpc>
            <a:spcBef>
              <a:spcPct val="0"/>
            </a:spcBef>
            <a:spcAft>
              <a:spcPct val="35000"/>
            </a:spcAft>
            <a:buFont typeface="Wingdings" panose="05000000000000000000" pitchFamily="2" charset="2"/>
          </a:pPr>
          <a:r>
            <a:rPr lang="zh-CN" altLang="en-US" sz="2000" b="1" dirty="0">
              <a:latin typeface="微软雅黑" panose="020B0503020204020204" pitchFamily="34" charset="-122"/>
              <a:ea typeface="微软雅黑" panose="020B0503020204020204" pitchFamily="34" charset="-122"/>
            </a:rPr>
            <a:t>打造全方位数据应用场景 赋能全行业高质量发展</a:t>
          </a:r>
          <a:endParaRPr lang="zh-CN" altLang="en-US" sz="2000" dirty="0"/>
        </a:p>
      </dgm:t>
    </dgm:pt>
    <dgm:pt modelId="{4DB87CAC-4670-4A3B-B8B6-5987FDD8FA3C}" type="parTrans" cxnId="{9C73E1EF-AB7D-44D9-96B7-8EA6FDD23F47}">
      <dgm:prSet/>
      <dgm:spPr/>
      <dgm:t>
        <a:bodyPr/>
        <a:lstStyle/>
        <a:p>
          <a:endParaRPr lang="zh-CN" altLang="en-US"/>
        </a:p>
      </dgm:t>
    </dgm:pt>
    <dgm:pt modelId="{027C5AA2-E9FD-45E0-852A-6B40DB5FAC9D}" type="sibTrans" cxnId="{9C73E1EF-AB7D-44D9-96B7-8EA6FDD23F47}">
      <dgm:prSet/>
      <dgm:spPr/>
      <dgm:t>
        <a:bodyPr/>
        <a:lstStyle/>
        <a:p>
          <a:endParaRPr lang="zh-CN" altLang="en-US"/>
        </a:p>
      </dgm:t>
    </dgm:pt>
    <dgm:pt modelId="{A591C99E-13FE-442C-A170-1BCBE3ACAD22}">
      <dgm:prSet phldrT="[文本]" phldr="0" custT="1"/>
      <dgm:spPr/>
      <dgm:t>
        <a:bodyPr vert="horz" wrap="square"/>
        <a:lstStyle/>
        <a:p>
          <a:pPr>
            <a:lnSpc>
              <a:spcPct val="100000"/>
            </a:lnSpc>
            <a:spcBef>
              <a:spcPct val="0"/>
            </a:spcBef>
            <a:spcAft>
              <a:spcPct val="15000"/>
            </a:spcAft>
            <a:buFont typeface="Arial" panose="020B0604020202020204" pitchFamily="34" charset="0"/>
          </a:pPr>
          <a:r>
            <a:rPr lang="zh-CN" altLang="en-US" sz="1800" b="1">
              <a:latin typeface="微软雅黑" panose="020B0503020204020204" pitchFamily="34" charset="-122"/>
              <a:ea typeface="微软雅黑" panose="020B0503020204020204" pitchFamily="34" charset="-122"/>
            </a:rPr>
            <a:t>面向中医药核心场景，建立数据集与业务需求的精准映射，开发标准化数据接口与工具组件，依托高质量数据集持续提升 </a:t>
          </a:r>
          <a:r>
            <a:rPr lang="en-US" altLang="zh-CN" sz="1800" b="1">
              <a:latin typeface="微软雅黑" panose="020B0503020204020204" pitchFamily="34" charset="-122"/>
              <a:ea typeface="微软雅黑" panose="020B0503020204020204" pitchFamily="34" charset="-122"/>
            </a:rPr>
            <a:t>AI </a:t>
          </a:r>
          <a:r>
            <a:rPr lang="zh-CN" altLang="en-US" sz="1800" b="1">
              <a:latin typeface="微软雅黑" panose="020B0503020204020204" pitchFamily="34" charset="-122"/>
              <a:ea typeface="微软雅黑" panose="020B0503020204020204" pitchFamily="34" charset="-122"/>
            </a:rPr>
            <a:t>模型与智能体的决策能力，全面提升中医药服务效能与产业竞争力。</a:t>
          </a:r>
          <a:endParaRPr lang="zh-CN" altLang="en-US" sz="1800" b="1" dirty="0">
            <a:latin typeface="微软雅黑" panose="020B0503020204020204" pitchFamily="34" charset="-122"/>
            <a:ea typeface="微软雅黑" panose="020B0503020204020204" pitchFamily="34" charset="-122"/>
          </a:endParaRPr>
        </a:p>
      </dgm:t>
    </dgm:pt>
    <dgm:pt modelId="{50CC5136-4C33-4E15-9C94-87868DEFA6F9}" type="parTrans" cxnId="{F4C8D51E-4B42-44BD-B013-98FE10652282}">
      <dgm:prSet/>
      <dgm:spPr/>
      <dgm:t>
        <a:bodyPr/>
        <a:lstStyle/>
        <a:p>
          <a:endParaRPr lang="zh-CN" altLang="en-US"/>
        </a:p>
      </dgm:t>
    </dgm:pt>
    <dgm:pt modelId="{D9A19B0C-F937-46B2-B3E4-AD6EA5D7291F}" type="sibTrans" cxnId="{F4C8D51E-4B42-44BD-B013-98FE10652282}">
      <dgm:prSet/>
      <dgm:spPr/>
      <dgm:t>
        <a:bodyPr/>
        <a:lstStyle/>
        <a:p>
          <a:endParaRPr lang="zh-CN" altLang="en-US"/>
        </a:p>
      </dgm:t>
    </dgm:pt>
    <dgm:pt modelId="{A1052AD3-2A2C-49DE-86C4-E02F7B606AB9}">
      <dgm:prSet phldrT="[文本]" phldr="0" custT="1"/>
      <dgm:spPr/>
      <dgm:t>
        <a:bodyPr vert="horz" wrap="square"/>
        <a:lstStyle/>
        <a:p>
          <a:pPr>
            <a:lnSpc>
              <a:spcPct val="100000"/>
            </a:lnSpc>
            <a:spcBef>
              <a:spcPct val="0"/>
            </a:spcBef>
            <a:spcAft>
              <a:spcPct val="35000"/>
            </a:spcAft>
            <a:buFont typeface="Wingdings" panose="05000000000000000000" pitchFamily="2" charset="2"/>
          </a:pPr>
          <a:r>
            <a:rPr lang="zh-CN" altLang="en-US" sz="2000" b="1">
              <a:latin typeface="微软雅黑" panose="020B0503020204020204" pitchFamily="34" charset="-122"/>
              <a:ea typeface="微软雅黑" panose="020B0503020204020204" pitchFamily="34" charset="-122"/>
            </a:rPr>
            <a:t>强化技术人才支撑 构建数据驱动产业生态</a:t>
          </a:r>
          <a:endParaRPr lang="zh-CN" altLang="en-US" sz="2000" dirty="0"/>
        </a:p>
      </dgm:t>
    </dgm:pt>
    <dgm:pt modelId="{ABC7E526-ED74-41E1-8F29-A263D7E12012}" type="parTrans" cxnId="{AD379D6D-32B1-45AD-85B3-63935EEA17BE}">
      <dgm:prSet/>
      <dgm:spPr/>
      <dgm:t>
        <a:bodyPr/>
        <a:lstStyle/>
        <a:p>
          <a:endParaRPr lang="zh-CN" altLang="en-US"/>
        </a:p>
      </dgm:t>
    </dgm:pt>
    <dgm:pt modelId="{282D29B4-35C5-460D-B0D9-BD814370607F}" type="sibTrans" cxnId="{AD379D6D-32B1-45AD-85B3-63935EEA17BE}">
      <dgm:prSet/>
      <dgm:spPr/>
      <dgm:t>
        <a:bodyPr/>
        <a:lstStyle/>
        <a:p>
          <a:endParaRPr lang="zh-CN" altLang="en-US"/>
        </a:p>
      </dgm:t>
    </dgm:pt>
    <dgm:pt modelId="{F8F99B95-47C0-4AEF-9E2B-84ED62CF63E5}">
      <dgm:prSet phldrT="[文本]" phldr="0" custT="1"/>
      <dgm:spPr/>
      <dgm:t>
        <a:bodyPr vert="horz" wrap="square"/>
        <a:lstStyle/>
        <a:p>
          <a:pPr>
            <a:lnSpc>
              <a:spcPct val="100000"/>
            </a:lnSpc>
            <a:spcBef>
              <a:spcPct val="0"/>
            </a:spcBef>
            <a:spcAft>
              <a:spcPct val="15000"/>
            </a:spcAft>
          </a:pPr>
          <a:r>
            <a:rPr lang="zh-CN" altLang="en-US" sz="2000" b="1" dirty="0">
              <a:latin typeface="微软雅黑" panose="020B0503020204020204" pitchFamily="34" charset="-122"/>
              <a:ea typeface="微软雅黑" panose="020B0503020204020204" pitchFamily="34" charset="-122"/>
            </a:rPr>
            <a:t>强化技术与人才保障</a:t>
          </a:r>
          <a:endParaRPr lang="zh-CN" altLang="en-US" sz="2000" b="1" dirty="0"/>
        </a:p>
      </dgm:t>
    </dgm:pt>
    <dgm:pt modelId="{DA03C8E9-93A6-4581-A71D-640DEE2E14A2}" type="parTrans" cxnId="{2309685C-C12D-486D-A19B-F5CF0934D009}">
      <dgm:prSet/>
      <dgm:spPr/>
      <dgm:t>
        <a:bodyPr/>
        <a:lstStyle/>
        <a:p>
          <a:endParaRPr lang="zh-CN" altLang="en-US"/>
        </a:p>
      </dgm:t>
    </dgm:pt>
    <dgm:pt modelId="{DD0E775E-078D-4B93-AB5A-4B4EABC042F0}" type="sibTrans" cxnId="{2309685C-C12D-486D-A19B-F5CF0934D009}">
      <dgm:prSet/>
      <dgm:spPr/>
      <dgm:t>
        <a:bodyPr/>
        <a:lstStyle/>
        <a:p>
          <a:endParaRPr lang="zh-CN" altLang="en-US"/>
        </a:p>
      </dgm:t>
    </dgm:pt>
    <dgm:pt modelId="{5C204C66-0814-42CB-8E2E-335DA116D751}">
      <dgm:prSet phldr="0" custT="1"/>
      <dgm:spPr/>
      <dgm:t>
        <a:bodyPr vert="horz" wrap="square"/>
        <a:lstStyle/>
        <a:p>
          <a:pPr>
            <a:lnSpc>
              <a:spcPct val="100000"/>
            </a:lnSpc>
            <a:spcBef>
              <a:spcPct val="0"/>
            </a:spcBef>
            <a:spcAft>
              <a:spcPct val="15000"/>
            </a:spcAft>
            <a:buFont typeface="Arial" panose="020B0604020202020204" pitchFamily="34" charset="0"/>
          </a:pPr>
          <a:r>
            <a:rPr lang="zh-CN" altLang="en-US" sz="2000" b="1" dirty="0">
              <a:latin typeface="微软雅黑" panose="020B0503020204020204" pitchFamily="34" charset="-122"/>
              <a:ea typeface="微软雅黑" panose="020B0503020204020204" pitchFamily="34" charset="-122"/>
            </a:rPr>
            <a:t>促进数据要素与中医药产业深度融合</a:t>
          </a:r>
          <a:endParaRPr lang="zh-CN" altLang="en-US" sz="2000" b="1" dirty="0"/>
        </a:p>
      </dgm:t>
    </dgm:pt>
    <dgm:pt modelId="{AC3C2EAA-713B-4762-8950-2DCED9DB5C4F}" type="parTrans" cxnId="{A0246DD0-F9E0-44FA-BAD2-7040F9E2B2F7}">
      <dgm:prSet/>
      <dgm:spPr/>
    </dgm:pt>
    <dgm:pt modelId="{23F4BDBB-D681-41FC-AFB6-BDA86BF2ECCD}" type="sibTrans" cxnId="{A0246DD0-F9E0-44FA-BAD2-7040F9E2B2F7}">
      <dgm:prSet/>
      <dgm:spPr/>
    </dgm:pt>
    <dgm:pt modelId="{05A1C9C2-426A-43F5-891A-BB0CA3118276}" type="pres">
      <dgm:prSet presAssocID="{B60386EC-E120-4A70-981F-BC4E6CBA1278}" presName="Name0" presStyleCnt="0">
        <dgm:presLayoutVars>
          <dgm:dir/>
          <dgm:animLvl val="lvl"/>
          <dgm:resizeHandles val="exact"/>
        </dgm:presLayoutVars>
      </dgm:prSet>
      <dgm:spPr/>
    </dgm:pt>
    <dgm:pt modelId="{85D9BDE2-EB62-421D-874C-BAC076002430}" type="pres">
      <dgm:prSet presAssocID="{5AF5F206-72E1-4E7A-8229-A7421AB42B16}" presName="linNode" presStyleCnt="0"/>
      <dgm:spPr/>
    </dgm:pt>
    <dgm:pt modelId="{DA428245-A486-4D6F-9813-53A5E9A2CEF4}" type="pres">
      <dgm:prSet presAssocID="{5AF5F206-72E1-4E7A-8229-A7421AB42B16}" presName="parentText" presStyleLbl="node1" presStyleIdx="0" presStyleCnt="5">
        <dgm:presLayoutVars>
          <dgm:chMax val="1"/>
          <dgm:bulletEnabled val="1"/>
        </dgm:presLayoutVars>
      </dgm:prSet>
      <dgm:spPr/>
    </dgm:pt>
    <dgm:pt modelId="{3D5C1289-CE86-4471-9FAE-65B642AEAF6F}" type="pres">
      <dgm:prSet presAssocID="{5AF5F206-72E1-4E7A-8229-A7421AB42B16}" presName="descendantText" presStyleLbl="alignAccFollowNode1" presStyleIdx="0" presStyleCnt="5">
        <dgm:presLayoutVars>
          <dgm:bulletEnabled val="1"/>
        </dgm:presLayoutVars>
      </dgm:prSet>
      <dgm:spPr/>
    </dgm:pt>
    <dgm:pt modelId="{1A9C99AB-7D3A-4BD3-8373-DEDBFEE1C16C}" type="pres">
      <dgm:prSet presAssocID="{ACB7D8C6-C19E-47BE-93F6-74C46B6CE923}" presName="sp" presStyleCnt="0"/>
      <dgm:spPr/>
    </dgm:pt>
    <dgm:pt modelId="{D214EDC4-2E16-4BB9-8688-9E1D7D7D7F48}" type="pres">
      <dgm:prSet presAssocID="{6CC1A006-A725-42D1-8E66-A4EAA766B225}" presName="linNode" presStyleCnt="0"/>
      <dgm:spPr/>
    </dgm:pt>
    <dgm:pt modelId="{323B61E0-CF0D-4D77-961D-C43247F3D677}" type="pres">
      <dgm:prSet presAssocID="{6CC1A006-A725-42D1-8E66-A4EAA766B225}" presName="parentText" presStyleLbl="node1" presStyleIdx="1" presStyleCnt="5">
        <dgm:presLayoutVars>
          <dgm:chMax val="1"/>
          <dgm:bulletEnabled val="1"/>
        </dgm:presLayoutVars>
      </dgm:prSet>
      <dgm:spPr/>
    </dgm:pt>
    <dgm:pt modelId="{654ACBD1-E6E1-4BB7-89FF-E9A09C066E4F}" type="pres">
      <dgm:prSet presAssocID="{6CC1A006-A725-42D1-8E66-A4EAA766B225}" presName="descendantText" presStyleLbl="alignAccFollowNode1" presStyleIdx="1" presStyleCnt="5">
        <dgm:presLayoutVars>
          <dgm:bulletEnabled val="1"/>
        </dgm:presLayoutVars>
      </dgm:prSet>
      <dgm:spPr/>
    </dgm:pt>
    <dgm:pt modelId="{FABCCC32-7270-44F1-9B9D-3D4EBECD66BB}" type="pres">
      <dgm:prSet presAssocID="{CA25BACA-9251-4DCA-88E0-9F011042230C}" presName="sp" presStyleCnt="0"/>
      <dgm:spPr/>
    </dgm:pt>
    <dgm:pt modelId="{78435899-DC43-4C14-A48D-E127DC231DC2}" type="pres">
      <dgm:prSet presAssocID="{4D5BA102-A6D1-4DF7-A6FF-9FFE4A7B7694}" presName="linNode" presStyleCnt="0"/>
      <dgm:spPr/>
    </dgm:pt>
    <dgm:pt modelId="{B9481580-703B-41D4-8F3E-C3E657FA8C73}" type="pres">
      <dgm:prSet presAssocID="{4D5BA102-A6D1-4DF7-A6FF-9FFE4A7B7694}" presName="parentText" presStyleLbl="node1" presStyleIdx="2" presStyleCnt="5">
        <dgm:presLayoutVars>
          <dgm:chMax val="1"/>
          <dgm:bulletEnabled val="1"/>
        </dgm:presLayoutVars>
      </dgm:prSet>
      <dgm:spPr/>
    </dgm:pt>
    <dgm:pt modelId="{6F3CC94E-F901-43A5-B744-FD6B35125A24}" type="pres">
      <dgm:prSet presAssocID="{4D5BA102-A6D1-4DF7-A6FF-9FFE4A7B7694}" presName="descendantText" presStyleLbl="alignAccFollowNode1" presStyleIdx="2" presStyleCnt="5">
        <dgm:presLayoutVars>
          <dgm:bulletEnabled val="1"/>
        </dgm:presLayoutVars>
      </dgm:prSet>
      <dgm:spPr/>
    </dgm:pt>
    <dgm:pt modelId="{EAB61D86-69C0-4EFC-A454-A863CF2E66AF}" type="pres">
      <dgm:prSet presAssocID="{822073C2-A841-4A25-A64F-9B820EF2CC4B}" presName="sp" presStyleCnt="0"/>
      <dgm:spPr/>
    </dgm:pt>
    <dgm:pt modelId="{4ED8025F-0FBA-43C0-BF04-39EA774CB479}" type="pres">
      <dgm:prSet presAssocID="{FC016F6E-3FB7-4D20-9260-7E299E89EEB4}" presName="linNode" presStyleCnt="0"/>
      <dgm:spPr/>
    </dgm:pt>
    <dgm:pt modelId="{E5E80831-79B1-47DF-9D8F-0436167950C9}" type="pres">
      <dgm:prSet presAssocID="{FC016F6E-3FB7-4D20-9260-7E299E89EEB4}" presName="parentText" presStyleLbl="node1" presStyleIdx="3" presStyleCnt="5">
        <dgm:presLayoutVars>
          <dgm:chMax val="1"/>
          <dgm:bulletEnabled val="1"/>
        </dgm:presLayoutVars>
      </dgm:prSet>
      <dgm:spPr/>
    </dgm:pt>
    <dgm:pt modelId="{321D6A7C-D002-446E-B4C0-C36ECE6EBF63}" type="pres">
      <dgm:prSet presAssocID="{FC016F6E-3FB7-4D20-9260-7E299E89EEB4}" presName="descendantText" presStyleLbl="alignAccFollowNode1" presStyleIdx="3" presStyleCnt="5">
        <dgm:presLayoutVars>
          <dgm:bulletEnabled val="1"/>
        </dgm:presLayoutVars>
      </dgm:prSet>
      <dgm:spPr/>
    </dgm:pt>
    <dgm:pt modelId="{287BDA5C-E9A2-4FEE-8174-AD4F5473945B}" type="pres">
      <dgm:prSet presAssocID="{027C5AA2-E9FD-45E0-852A-6B40DB5FAC9D}" presName="sp" presStyleCnt="0"/>
      <dgm:spPr/>
    </dgm:pt>
    <dgm:pt modelId="{BEBBBD14-EEE0-4EE9-87BC-40122A61379D}" type="pres">
      <dgm:prSet presAssocID="{A1052AD3-2A2C-49DE-86C4-E02F7B606AB9}" presName="linNode" presStyleCnt="0"/>
      <dgm:spPr/>
    </dgm:pt>
    <dgm:pt modelId="{C35C0A8E-700C-499E-B324-0B01AA39C4B2}" type="pres">
      <dgm:prSet presAssocID="{A1052AD3-2A2C-49DE-86C4-E02F7B606AB9}" presName="parentText" presStyleLbl="node1" presStyleIdx="4" presStyleCnt="5">
        <dgm:presLayoutVars>
          <dgm:chMax val="1"/>
          <dgm:bulletEnabled val="1"/>
        </dgm:presLayoutVars>
      </dgm:prSet>
      <dgm:spPr/>
    </dgm:pt>
    <dgm:pt modelId="{1EB6355E-34F4-418C-ABB0-B4CB5E8395EA}" type="pres">
      <dgm:prSet presAssocID="{A1052AD3-2A2C-49DE-86C4-E02F7B606AB9}" presName="descendantText" presStyleLbl="alignAccFollowNode1" presStyleIdx="4" presStyleCnt="5">
        <dgm:presLayoutVars>
          <dgm:bulletEnabled val="1"/>
        </dgm:presLayoutVars>
      </dgm:prSet>
      <dgm:spPr/>
    </dgm:pt>
  </dgm:ptLst>
  <dgm:cxnLst>
    <dgm:cxn modelId="{38C9DD05-87F5-47B6-A092-8EF287845AC3}" srcId="{B60386EC-E120-4A70-981F-BC4E6CBA1278}" destId="{6CC1A006-A725-42D1-8E66-A4EAA766B225}" srcOrd="1" destOrd="0" parTransId="{EF09D554-2B94-4137-9E37-979362157392}" sibTransId="{CA25BACA-9251-4DCA-88E0-9F011042230C}"/>
    <dgm:cxn modelId="{C6D93706-F828-4ACD-8C92-AAB81ED6E428}" type="presOf" srcId="{254C81FE-20EA-4B53-90D1-EEC5FAD0A781}" destId="{654ACBD1-E6E1-4BB7-89FF-E9A09C066E4F}" srcOrd="0" destOrd="0" presId="urn:microsoft.com/office/officeart/2005/8/layout/vList5"/>
    <dgm:cxn modelId="{F4C8D51E-4B42-44BD-B013-98FE10652282}" srcId="{FC016F6E-3FB7-4D20-9260-7E299E89EEB4}" destId="{A591C99E-13FE-442C-A170-1BCBE3ACAD22}" srcOrd="0" destOrd="0" parTransId="{50CC5136-4C33-4E15-9C94-87868DEFA6F9}" sibTransId="{D9A19B0C-F937-46B2-B3E4-AD6EA5D7291F}"/>
    <dgm:cxn modelId="{A32FDD2A-26BA-4707-BBFD-A948D51523E1}" type="presOf" srcId="{4D5BA102-A6D1-4DF7-A6FF-9FFE4A7B7694}" destId="{B9481580-703B-41D4-8F3E-C3E657FA8C73}" srcOrd="0" destOrd="0" presId="urn:microsoft.com/office/officeart/2005/8/layout/vList5"/>
    <dgm:cxn modelId="{BDC3F032-3323-4B73-9F55-AA752E0C82AE}" srcId="{5AF5F206-72E1-4E7A-8229-A7421AB42B16}" destId="{07A63858-D645-4440-8E6A-357BAB02C02F}" srcOrd="1" destOrd="0" parTransId="{33FA7205-3CDD-4BA3-B189-461596F592E1}" sibTransId="{8DD7EED5-D15F-441A-9A0A-DF2BBFA5253B}"/>
    <dgm:cxn modelId="{D0427635-E7CB-4C56-838F-C61837E13B36}" type="presOf" srcId="{07A63858-D645-4440-8E6A-357BAB02C02F}" destId="{3D5C1289-CE86-4471-9FAE-65B642AEAF6F}" srcOrd="0" destOrd="1" presId="urn:microsoft.com/office/officeart/2005/8/layout/vList5"/>
    <dgm:cxn modelId="{2309685C-C12D-486D-A19B-F5CF0934D009}" srcId="{A1052AD3-2A2C-49DE-86C4-E02F7B606AB9}" destId="{F8F99B95-47C0-4AEF-9E2B-84ED62CF63E5}" srcOrd="0" destOrd="0" parTransId="{DA03C8E9-93A6-4581-A71D-640DEE2E14A2}" sibTransId="{DD0E775E-078D-4B93-AB5A-4B4EABC042F0}"/>
    <dgm:cxn modelId="{503D595D-F0D7-4E94-BFD6-07E46A8EF5BC}" type="presOf" srcId="{B60386EC-E120-4A70-981F-BC4E6CBA1278}" destId="{05A1C9C2-426A-43F5-891A-BB0CA3118276}" srcOrd="0" destOrd="0" presId="urn:microsoft.com/office/officeart/2005/8/layout/vList5"/>
    <dgm:cxn modelId="{8A96BD5F-8EF2-4FD4-BD7E-99CF62F3B07F}" type="presOf" srcId="{5AF5F206-72E1-4E7A-8229-A7421AB42B16}" destId="{DA428245-A486-4D6F-9813-53A5E9A2CEF4}" srcOrd="0" destOrd="0" presId="urn:microsoft.com/office/officeart/2005/8/layout/vList5"/>
    <dgm:cxn modelId="{EFE02847-A27D-4934-AF65-C7C04A0426B1}" srcId="{B60386EC-E120-4A70-981F-BC4E6CBA1278}" destId="{5AF5F206-72E1-4E7A-8229-A7421AB42B16}" srcOrd="0" destOrd="0" parTransId="{5E3DBB3A-A42F-4296-B8DE-ACC4AD2C465D}" sibTransId="{ACB7D8C6-C19E-47BE-93F6-74C46B6CE923}"/>
    <dgm:cxn modelId="{9610F26B-A4F4-468F-8ECC-EEE52674A7EE}" type="presOf" srcId="{A1052AD3-2A2C-49DE-86C4-E02F7B606AB9}" destId="{C35C0A8E-700C-499E-B324-0B01AA39C4B2}" srcOrd="0" destOrd="0" presId="urn:microsoft.com/office/officeart/2005/8/layout/vList5"/>
    <dgm:cxn modelId="{FEA81A4D-9AB4-4A6E-BA9A-D2F041057B11}" type="presOf" srcId="{D1B22C82-A58D-41C3-A3A6-777BB313EE6D}" destId="{6F3CC94E-F901-43A5-B744-FD6B35125A24}" srcOrd="0" destOrd="0" presId="urn:microsoft.com/office/officeart/2005/8/layout/vList5"/>
    <dgm:cxn modelId="{AD379D6D-32B1-45AD-85B3-63935EEA17BE}" srcId="{B60386EC-E120-4A70-981F-BC4E6CBA1278}" destId="{A1052AD3-2A2C-49DE-86C4-E02F7B606AB9}" srcOrd="4" destOrd="0" parTransId="{ABC7E526-ED74-41E1-8F29-A263D7E12012}" sibTransId="{282D29B4-35C5-460D-B0D9-BD814370607F}"/>
    <dgm:cxn modelId="{0A4EB673-899B-41E8-9437-01B0D5066E2D}" type="presOf" srcId="{A591C99E-13FE-442C-A170-1BCBE3ACAD22}" destId="{321D6A7C-D002-446E-B4C0-C36ECE6EBF63}" srcOrd="0" destOrd="0" presId="urn:microsoft.com/office/officeart/2005/8/layout/vList5"/>
    <dgm:cxn modelId="{FBB1E256-93D1-4CE2-B4B4-01EFF55253D1}" srcId="{5AF5F206-72E1-4E7A-8229-A7421AB42B16}" destId="{08CBB790-608B-494E-9DDA-0E66B7660F71}" srcOrd="0" destOrd="0" parTransId="{23149449-F506-4051-BBB1-3617E6345207}" sibTransId="{D686D9B8-0C3D-4FDA-A6C0-98184741DBFB}"/>
    <dgm:cxn modelId="{4AACBF58-265D-4833-8C5D-127243935246}" type="presOf" srcId="{08CBB790-608B-494E-9DDA-0E66B7660F71}" destId="{3D5C1289-CE86-4471-9FAE-65B642AEAF6F}" srcOrd="0" destOrd="0" presId="urn:microsoft.com/office/officeart/2005/8/layout/vList5"/>
    <dgm:cxn modelId="{57D8A97B-A24C-4FC9-8C9A-1BDEA628E2F0}" type="presOf" srcId="{6377EA54-A5AF-4075-9CA6-A4C504281B71}" destId="{654ACBD1-E6E1-4BB7-89FF-E9A09C066E4F}" srcOrd="0" destOrd="1" presId="urn:microsoft.com/office/officeart/2005/8/layout/vList5"/>
    <dgm:cxn modelId="{B08D09AF-1DD3-4685-9F81-927E678929FF}" type="presOf" srcId="{0BC87282-5DDD-4976-BDB1-EFCB76A72C14}" destId="{654ACBD1-E6E1-4BB7-89FF-E9A09C066E4F}" srcOrd="0" destOrd="2" presId="urn:microsoft.com/office/officeart/2005/8/layout/vList5"/>
    <dgm:cxn modelId="{94C87FB9-4327-4431-A9A6-95CF7D1CF814}" type="presOf" srcId="{6CC1A006-A725-42D1-8E66-A4EAA766B225}" destId="{323B61E0-CF0D-4D77-961D-C43247F3D677}" srcOrd="0" destOrd="0" presId="urn:microsoft.com/office/officeart/2005/8/layout/vList5"/>
    <dgm:cxn modelId="{B2D428BD-9835-445D-A8C1-986CB4D95DDD}" srcId="{B60386EC-E120-4A70-981F-BC4E6CBA1278}" destId="{4D5BA102-A6D1-4DF7-A6FF-9FFE4A7B7694}" srcOrd="2" destOrd="0" parTransId="{6D1F7D70-FD58-43B2-B02F-97A6ACF7AFAB}" sibTransId="{822073C2-A841-4A25-A64F-9B820EF2CC4B}"/>
    <dgm:cxn modelId="{A6E702C1-9B6C-407D-89C6-6E8F759C4FDE}" type="presOf" srcId="{5C204C66-0814-42CB-8E2E-335DA116D751}" destId="{1EB6355E-34F4-418C-ABB0-B4CB5E8395EA}" srcOrd="0" destOrd="1" presId="urn:microsoft.com/office/officeart/2005/8/layout/vList5"/>
    <dgm:cxn modelId="{4F3403C9-1117-47EC-B16D-A3A03507371A}" type="presOf" srcId="{FC016F6E-3FB7-4D20-9260-7E299E89EEB4}" destId="{E5E80831-79B1-47DF-9D8F-0436167950C9}" srcOrd="0" destOrd="0" presId="urn:microsoft.com/office/officeart/2005/8/layout/vList5"/>
    <dgm:cxn modelId="{E254C4C9-8211-4083-850B-309CB0DAE2C3}" srcId="{6CC1A006-A725-42D1-8E66-A4EAA766B225}" destId="{254C81FE-20EA-4B53-90D1-EEC5FAD0A781}" srcOrd="0" destOrd="0" parTransId="{714392B1-31B3-46C6-BBD9-DD77B175AEED}" sibTransId="{165E71AD-971C-4B71-A902-B4F9B9E6A0A1}"/>
    <dgm:cxn modelId="{54A15ACD-EC3E-4BB2-8679-D2951C1BB373}" srcId="{4D5BA102-A6D1-4DF7-A6FF-9FFE4A7B7694}" destId="{D1B22C82-A58D-41C3-A3A6-777BB313EE6D}" srcOrd="0" destOrd="0" parTransId="{45B3CBCD-04DA-4DFE-91A5-2A09FC5A16DD}" sibTransId="{5DECBE5C-EE7F-45B8-8267-FFB07457A222}"/>
    <dgm:cxn modelId="{B1F9A5CF-ED7F-4123-AAF4-D8C51ACD8ADB}" srcId="{6CC1A006-A725-42D1-8E66-A4EAA766B225}" destId="{6377EA54-A5AF-4075-9CA6-A4C504281B71}" srcOrd="1" destOrd="0" parTransId="{DF1A6CD6-1F6E-4E45-B2A6-B52346DC3253}" sibTransId="{C02E3126-765B-4BEF-AC92-201DEC6DAE38}"/>
    <dgm:cxn modelId="{A0246DD0-F9E0-44FA-BAD2-7040F9E2B2F7}" srcId="{A1052AD3-2A2C-49DE-86C4-E02F7B606AB9}" destId="{5C204C66-0814-42CB-8E2E-335DA116D751}" srcOrd="1" destOrd="0" parTransId="{AC3C2EAA-713B-4762-8950-2DCED9DB5C4F}" sibTransId="{23F4BDBB-D681-41FC-AFB6-BDA86BF2ECCD}"/>
    <dgm:cxn modelId="{53E2A8D4-0318-49CB-887F-31CF6CF73780}" type="presOf" srcId="{F8F99B95-47C0-4AEF-9E2B-84ED62CF63E5}" destId="{1EB6355E-34F4-418C-ABB0-B4CB5E8395EA}" srcOrd="0" destOrd="0" presId="urn:microsoft.com/office/officeart/2005/8/layout/vList5"/>
    <dgm:cxn modelId="{C364AEDC-B9CE-4DC6-A4FC-AA1B2FD28619}" srcId="{6CC1A006-A725-42D1-8E66-A4EAA766B225}" destId="{0BC87282-5DDD-4976-BDB1-EFCB76A72C14}" srcOrd="2" destOrd="0" parTransId="{5B61C1D3-89E9-42D0-AB6C-E0E831441E87}" sibTransId="{418D9775-1F65-4166-A7D0-D285EED53ACA}"/>
    <dgm:cxn modelId="{9C73E1EF-AB7D-44D9-96B7-8EA6FDD23F47}" srcId="{B60386EC-E120-4A70-981F-BC4E6CBA1278}" destId="{FC016F6E-3FB7-4D20-9260-7E299E89EEB4}" srcOrd="3" destOrd="0" parTransId="{4DB87CAC-4670-4A3B-B8B6-5987FDD8FA3C}" sibTransId="{027C5AA2-E9FD-45E0-852A-6B40DB5FAC9D}"/>
    <dgm:cxn modelId="{1899F52B-B4F7-467D-BA4C-4987D6CC2462}" type="presParOf" srcId="{05A1C9C2-426A-43F5-891A-BB0CA3118276}" destId="{85D9BDE2-EB62-421D-874C-BAC076002430}" srcOrd="0" destOrd="0" presId="urn:microsoft.com/office/officeart/2005/8/layout/vList5"/>
    <dgm:cxn modelId="{073164FC-970C-4176-B55A-8C7395653609}" type="presParOf" srcId="{85D9BDE2-EB62-421D-874C-BAC076002430}" destId="{DA428245-A486-4D6F-9813-53A5E9A2CEF4}" srcOrd="0" destOrd="0" presId="urn:microsoft.com/office/officeart/2005/8/layout/vList5"/>
    <dgm:cxn modelId="{20614BE0-77D0-4CEC-8A13-E9FB5FDEF84F}" type="presParOf" srcId="{85D9BDE2-EB62-421D-874C-BAC076002430}" destId="{3D5C1289-CE86-4471-9FAE-65B642AEAF6F}" srcOrd="1" destOrd="0" presId="urn:microsoft.com/office/officeart/2005/8/layout/vList5"/>
    <dgm:cxn modelId="{9BA8C886-B1C2-4837-96AA-24200735CAC4}" type="presParOf" srcId="{05A1C9C2-426A-43F5-891A-BB0CA3118276}" destId="{1A9C99AB-7D3A-4BD3-8373-DEDBFEE1C16C}" srcOrd="1" destOrd="0" presId="urn:microsoft.com/office/officeart/2005/8/layout/vList5"/>
    <dgm:cxn modelId="{834D3593-9CE7-4D43-B10E-498A1253E488}" type="presParOf" srcId="{05A1C9C2-426A-43F5-891A-BB0CA3118276}" destId="{D214EDC4-2E16-4BB9-8688-9E1D7D7D7F48}" srcOrd="2" destOrd="0" presId="urn:microsoft.com/office/officeart/2005/8/layout/vList5"/>
    <dgm:cxn modelId="{5AAD5416-C5C2-4F64-AF40-E261F656B001}" type="presParOf" srcId="{D214EDC4-2E16-4BB9-8688-9E1D7D7D7F48}" destId="{323B61E0-CF0D-4D77-961D-C43247F3D677}" srcOrd="0" destOrd="0" presId="urn:microsoft.com/office/officeart/2005/8/layout/vList5"/>
    <dgm:cxn modelId="{17C0B0B1-7328-4195-981C-D7AEC852E12A}" type="presParOf" srcId="{D214EDC4-2E16-4BB9-8688-9E1D7D7D7F48}" destId="{654ACBD1-E6E1-4BB7-89FF-E9A09C066E4F}" srcOrd="1" destOrd="0" presId="urn:microsoft.com/office/officeart/2005/8/layout/vList5"/>
    <dgm:cxn modelId="{CB33DF87-FA5D-4DE9-A046-23C0180D426A}" type="presParOf" srcId="{05A1C9C2-426A-43F5-891A-BB0CA3118276}" destId="{FABCCC32-7270-44F1-9B9D-3D4EBECD66BB}" srcOrd="3" destOrd="0" presId="urn:microsoft.com/office/officeart/2005/8/layout/vList5"/>
    <dgm:cxn modelId="{6BCA6BE5-BDAC-4BAC-8E99-802742C06782}" type="presParOf" srcId="{05A1C9C2-426A-43F5-891A-BB0CA3118276}" destId="{78435899-DC43-4C14-A48D-E127DC231DC2}" srcOrd="4" destOrd="0" presId="urn:microsoft.com/office/officeart/2005/8/layout/vList5"/>
    <dgm:cxn modelId="{C6783A80-5654-4CB2-9C52-D5C130EAFFCB}" type="presParOf" srcId="{78435899-DC43-4C14-A48D-E127DC231DC2}" destId="{B9481580-703B-41D4-8F3E-C3E657FA8C73}" srcOrd="0" destOrd="0" presId="urn:microsoft.com/office/officeart/2005/8/layout/vList5"/>
    <dgm:cxn modelId="{8CB6E521-FEA3-431A-8A26-80219809F8E7}" type="presParOf" srcId="{78435899-DC43-4C14-A48D-E127DC231DC2}" destId="{6F3CC94E-F901-43A5-B744-FD6B35125A24}" srcOrd="1" destOrd="0" presId="urn:microsoft.com/office/officeart/2005/8/layout/vList5"/>
    <dgm:cxn modelId="{5FDF77A6-EFB8-4996-AE47-7F5D9B8D86F2}" type="presParOf" srcId="{05A1C9C2-426A-43F5-891A-BB0CA3118276}" destId="{EAB61D86-69C0-4EFC-A454-A863CF2E66AF}" srcOrd="5" destOrd="0" presId="urn:microsoft.com/office/officeart/2005/8/layout/vList5"/>
    <dgm:cxn modelId="{AB76B054-C7B1-4FDE-A6F3-54F7A8299A6B}" type="presParOf" srcId="{05A1C9C2-426A-43F5-891A-BB0CA3118276}" destId="{4ED8025F-0FBA-43C0-BF04-39EA774CB479}" srcOrd="6" destOrd="0" presId="urn:microsoft.com/office/officeart/2005/8/layout/vList5"/>
    <dgm:cxn modelId="{15F77446-EF6D-4318-90D6-A3C5EA5EA4FD}" type="presParOf" srcId="{4ED8025F-0FBA-43C0-BF04-39EA774CB479}" destId="{E5E80831-79B1-47DF-9D8F-0436167950C9}" srcOrd="0" destOrd="0" presId="urn:microsoft.com/office/officeart/2005/8/layout/vList5"/>
    <dgm:cxn modelId="{AB73BE42-F2D8-4F13-96AA-4CBB065113FB}" type="presParOf" srcId="{4ED8025F-0FBA-43C0-BF04-39EA774CB479}" destId="{321D6A7C-D002-446E-B4C0-C36ECE6EBF63}" srcOrd="1" destOrd="0" presId="urn:microsoft.com/office/officeart/2005/8/layout/vList5"/>
    <dgm:cxn modelId="{5E45FD69-2AD9-4F0E-AAF4-1BE4C5738F48}" type="presParOf" srcId="{05A1C9C2-426A-43F5-891A-BB0CA3118276}" destId="{287BDA5C-E9A2-4FEE-8174-AD4F5473945B}" srcOrd="7" destOrd="0" presId="urn:microsoft.com/office/officeart/2005/8/layout/vList5"/>
    <dgm:cxn modelId="{39D3AA1C-BECB-4760-B30B-6530C5DD2E04}" type="presParOf" srcId="{05A1C9C2-426A-43F5-891A-BB0CA3118276}" destId="{BEBBBD14-EEE0-4EE9-87BC-40122A61379D}" srcOrd="8" destOrd="0" presId="urn:microsoft.com/office/officeart/2005/8/layout/vList5"/>
    <dgm:cxn modelId="{23660471-6A4E-4B68-9ECE-89D59A958EB2}" type="presParOf" srcId="{BEBBBD14-EEE0-4EE9-87BC-40122A61379D}" destId="{C35C0A8E-700C-499E-B324-0B01AA39C4B2}" srcOrd="0" destOrd="0" presId="urn:microsoft.com/office/officeart/2005/8/layout/vList5"/>
    <dgm:cxn modelId="{F411025F-4344-4DE5-AAF5-FE5A35377C83}" type="presParOf" srcId="{BEBBBD14-EEE0-4EE9-87BC-40122A61379D}" destId="{1EB6355E-34F4-418C-ABB0-B4CB5E8395E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67953A-74F0-46E9-A8A1-71BE06D42C1B}" type="doc">
      <dgm:prSet loTypeId="urn:microsoft.com/office/officeart/2005/8/layout/hList1" loCatId="list" qsTypeId="urn:microsoft.com/office/officeart/2005/8/quickstyle/simple1#20" qsCatId="simple" csTypeId="urn:microsoft.com/office/officeart/2005/8/colors/accent1_2#13" csCatId="accent1" phldr="1"/>
      <dgm:spPr/>
      <dgm:t>
        <a:bodyPr/>
        <a:lstStyle/>
        <a:p>
          <a:endParaRPr lang="zh-CN" altLang="en-US"/>
        </a:p>
      </dgm:t>
    </dgm:pt>
    <dgm:pt modelId="{02A55F30-3B6B-46B3-A5E9-77400CFBD6D6}">
      <dgm:prSet phldrT="[文本]" phldr="0" custT="1"/>
      <dgm:spPr/>
      <dgm:t>
        <a:bodyPr vert="horz" wrap="square"/>
        <a:lstStyle/>
        <a:p>
          <a:pPr>
            <a:lnSpc>
              <a:spcPct val="100000"/>
            </a:lnSpc>
            <a:spcBef>
              <a:spcPct val="0"/>
            </a:spcBef>
            <a:spcAft>
              <a:spcPct val="35000"/>
            </a:spcAft>
          </a:pPr>
          <a:r>
            <a:rPr lang="zh-CN" altLang="en-US" sz="1800" b="1" dirty="0">
              <a:latin typeface="微软雅黑" panose="020B0503020204020204" pitchFamily="34" charset="-122"/>
              <a:ea typeface="微软雅黑" panose="020B0503020204020204" pitchFamily="34" charset="-122"/>
            </a:rPr>
            <a:t>场景适配性</a:t>
          </a:r>
          <a:endParaRPr sz="1800"/>
        </a:p>
      </dgm:t>
    </dgm:pt>
    <dgm:pt modelId="{DB0D94E6-AD27-484A-846E-A1DCE7D09A05}" type="parTrans" cxnId="{E29659FF-59D5-48EA-91D0-5D58AC655573}">
      <dgm:prSet/>
      <dgm:spPr/>
      <dgm:t>
        <a:bodyPr/>
        <a:lstStyle/>
        <a:p>
          <a:endParaRPr lang="zh-CN" altLang="en-US"/>
        </a:p>
      </dgm:t>
    </dgm:pt>
    <dgm:pt modelId="{AB17245B-10A8-4707-AF1A-2AE582EC05E9}" type="sibTrans" cxnId="{E29659FF-59D5-48EA-91D0-5D58AC655573}">
      <dgm:prSet/>
      <dgm:spPr/>
      <dgm:t>
        <a:bodyPr/>
        <a:lstStyle/>
        <a:p>
          <a:endParaRPr lang="zh-CN" altLang="en-US"/>
        </a:p>
      </dgm:t>
    </dgm:pt>
    <dgm:pt modelId="{8C987173-8840-4DEA-999C-26283DA1AD25}">
      <dgm:prSet phldrT="[文本]" custT="1"/>
      <dgm:spPr/>
      <dgm:t>
        <a:bodyPr/>
        <a:lstStyle/>
        <a:p>
          <a:r>
            <a:rPr lang="zh-CN" altLang="en-US" sz="1600" dirty="0"/>
            <a:t>医药高质量数据集应围绕明确的 </a:t>
          </a:r>
          <a:r>
            <a:rPr lang="en-US" altLang="en-US" sz="1600" dirty="0"/>
            <a:t>AI </a:t>
          </a:r>
          <a:r>
            <a:rPr lang="zh-CN" altLang="en-US" sz="1600" dirty="0"/>
            <a:t>任务和中医药应用场景进行设计，数据来源、字段结构、标签体系、质量标准、使用方式应与具体应用目标相匹配。</a:t>
          </a:r>
        </a:p>
      </dgm:t>
    </dgm:pt>
    <dgm:pt modelId="{657CE7B0-6809-4EEA-BAC5-96B833E71EC7}" type="parTrans" cxnId="{268A14EA-D83E-4FB7-A37D-4ECFDC62D857}">
      <dgm:prSet/>
      <dgm:spPr/>
      <dgm:t>
        <a:bodyPr/>
        <a:lstStyle/>
        <a:p>
          <a:endParaRPr lang="zh-CN" altLang="en-US"/>
        </a:p>
      </dgm:t>
    </dgm:pt>
    <dgm:pt modelId="{F80F18CF-F442-4EE1-840D-06DE6DEFCF35}" type="sibTrans" cxnId="{268A14EA-D83E-4FB7-A37D-4ECFDC62D857}">
      <dgm:prSet/>
      <dgm:spPr/>
      <dgm:t>
        <a:bodyPr/>
        <a:lstStyle/>
        <a:p>
          <a:endParaRPr lang="zh-CN" altLang="en-US"/>
        </a:p>
      </dgm:t>
    </dgm:pt>
    <dgm:pt modelId="{FA2370E0-D8D9-4C1E-8684-A2EBBA2FDFFF}">
      <dgm:prSet phldrT="[文本]" phldr="0" custT="1"/>
      <dgm:spPr/>
      <dgm:t>
        <a:bodyPr vert="horz" wrap="square"/>
        <a:lstStyle/>
        <a:p>
          <a:pPr>
            <a:lnSpc>
              <a:spcPct val="100000"/>
            </a:lnSpc>
            <a:spcBef>
              <a:spcPct val="0"/>
            </a:spcBef>
            <a:spcAft>
              <a:spcPct val="35000"/>
            </a:spcAft>
            <a:buFont typeface="Wingdings" panose="05000000000000000000" pitchFamily="2" charset="2"/>
          </a:pPr>
          <a:r>
            <a:rPr lang="zh-CN" altLang="en-US" sz="1900" b="1" i="0" dirty="0">
              <a:solidFill>
                <a:schemeClr val="bg1"/>
              </a:solidFill>
              <a:effectLst/>
              <a:latin typeface="微软雅黑" panose="020B0503020204020204" pitchFamily="34" charset="-122"/>
              <a:ea typeface="微软雅黑" panose="020B0503020204020204" pitchFamily="34" charset="-122"/>
            </a:rPr>
            <a:t>准确性与完整性</a:t>
          </a:r>
          <a:endParaRPr lang="zh-CN" altLang="en-US" sz="1900" b="1" dirty="0">
            <a:solidFill>
              <a:schemeClr val="bg1"/>
            </a:solidFill>
          </a:endParaRPr>
        </a:p>
      </dgm:t>
    </dgm:pt>
    <dgm:pt modelId="{916E199F-10E4-41F4-8148-0E80396EB860}" type="parTrans" cxnId="{AA19B68D-AA5B-42E9-935E-2AF1DB6C7E33}">
      <dgm:prSet/>
      <dgm:spPr/>
      <dgm:t>
        <a:bodyPr/>
        <a:lstStyle/>
        <a:p>
          <a:endParaRPr lang="zh-CN" altLang="en-US"/>
        </a:p>
      </dgm:t>
    </dgm:pt>
    <dgm:pt modelId="{F63A2D4F-1560-4592-9B60-BC36BAFE8BFB}" type="sibTrans" cxnId="{AA19B68D-AA5B-42E9-935E-2AF1DB6C7E33}">
      <dgm:prSet/>
      <dgm:spPr/>
      <dgm:t>
        <a:bodyPr/>
        <a:lstStyle/>
        <a:p>
          <a:endParaRPr lang="zh-CN" altLang="en-US"/>
        </a:p>
      </dgm:t>
    </dgm:pt>
    <dgm:pt modelId="{61A8E31B-B5C1-4429-A811-EB19287752C2}">
      <dgm:prSet phldrT="[文本]" custT="1"/>
      <dgm:spPr/>
      <dgm:t>
        <a:bodyPr/>
        <a:lstStyle/>
        <a:p>
          <a:r>
            <a:rPr lang="zh-CN" altLang="en-US" sz="1600" dirty="0"/>
            <a:t>数据应真实可靠、来源清晰、内容准确，并与客观事实、临床记录或权威知识来源保持一致。</a:t>
          </a:r>
        </a:p>
      </dgm:t>
    </dgm:pt>
    <dgm:pt modelId="{AAABE657-975A-4ACA-9F5E-E9D36F71CAA0}" type="parTrans" cxnId="{3488A536-0DD4-4973-ACBF-F0617DEBB87B}">
      <dgm:prSet/>
      <dgm:spPr/>
      <dgm:t>
        <a:bodyPr/>
        <a:lstStyle/>
        <a:p>
          <a:endParaRPr lang="zh-CN" altLang="en-US"/>
        </a:p>
      </dgm:t>
    </dgm:pt>
    <dgm:pt modelId="{AB369489-DECB-4708-8B2D-1C6C7C8A867C}" type="sibTrans" cxnId="{3488A536-0DD4-4973-ACBF-F0617DEBB87B}">
      <dgm:prSet/>
      <dgm:spPr/>
      <dgm:t>
        <a:bodyPr/>
        <a:lstStyle/>
        <a:p>
          <a:endParaRPr lang="zh-CN" altLang="en-US"/>
        </a:p>
      </dgm:t>
    </dgm:pt>
    <dgm:pt modelId="{0CB78452-5C9C-4B0A-9163-4B86E1A905B5}">
      <dgm:prSet phldrT="[文本]" phldr="0" custT="1"/>
      <dgm:spPr/>
      <dgm:t>
        <a:bodyPr vert="horz" wrap="square"/>
        <a:lstStyle/>
        <a:p>
          <a:pPr>
            <a:lnSpc>
              <a:spcPct val="100000"/>
            </a:lnSpc>
            <a:spcBef>
              <a:spcPct val="0"/>
            </a:spcBef>
            <a:spcAft>
              <a:spcPct val="35000"/>
            </a:spcAft>
          </a:pPr>
          <a:r>
            <a:rPr lang="zh-CN" altLang="en-US" sz="1800" b="1" dirty="0">
              <a:latin typeface="微软雅黑" panose="020B0503020204020204" pitchFamily="34" charset="-122"/>
              <a:ea typeface="微软雅黑" panose="020B0503020204020204" pitchFamily="34" charset="-122"/>
            </a:rPr>
            <a:t>治理规范性</a:t>
          </a:r>
          <a:endParaRPr sz="1800"/>
        </a:p>
      </dgm:t>
    </dgm:pt>
    <dgm:pt modelId="{46F077F3-6C60-445B-AA25-6491E24993BA}" type="parTrans" cxnId="{79BB8D3B-1696-404B-98F1-B8217EEEA9DA}">
      <dgm:prSet/>
      <dgm:spPr/>
      <dgm:t>
        <a:bodyPr/>
        <a:lstStyle/>
        <a:p>
          <a:endParaRPr lang="zh-CN" altLang="en-US"/>
        </a:p>
      </dgm:t>
    </dgm:pt>
    <dgm:pt modelId="{A02499E2-000A-4B0E-AD81-E957D4CD2D19}" type="sibTrans" cxnId="{79BB8D3B-1696-404B-98F1-B8217EEEA9DA}">
      <dgm:prSet/>
      <dgm:spPr/>
      <dgm:t>
        <a:bodyPr/>
        <a:lstStyle/>
        <a:p>
          <a:endParaRPr lang="zh-CN" altLang="en-US"/>
        </a:p>
      </dgm:t>
    </dgm:pt>
    <dgm:pt modelId="{C6D54AE5-2B6B-4195-AD0C-2A140D286208}">
      <dgm:prSet phldrT="[文本]" custT="1"/>
      <dgm:spPr/>
      <dgm:t>
        <a:bodyPr/>
        <a:lstStyle/>
        <a:p>
          <a:r>
            <a:rPr lang="zh-CN" altLang="en-US" sz="1600" dirty="0"/>
            <a:t>应以国家标准为依据，在采集、预处理、标注、质量评测各环节遵循相应规范，通过统一的术语标准化体系、字段规范与质量控制流程，减少多源异构数据之间的歧义与冲突。</a:t>
          </a:r>
        </a:p>
      </dgm:t>
    </dgm:pt>
    <dgm:pt modelId="{E041A2A7-BC8B-44CE-980E-04A3CA2A4AC7}" type="parTrans" cxnId="{5632706C-809C-4AA5-8926-CC5494D50E3A}">
      <dgm:prSet/>
      <dgm:spPr/>
      <dgm:t>
        <a:bodyPr/>
        <a:lstStyle/>
        <a:p>
          <a:endParaRPr lang="zh-CN" altLang="en-US"/>
        </a:p>
      </dgm:t>
    </dgm:pt>
    <dgm:pt modelId="{695D1735-673C-4B32-BFCF-7D6CD1CA8678}" type="sibTrans" cxnId="{5632706C-809C-4AA5-8926-CC5494D50E3A}">
      <dgm:prSet/>
      <dgm:spPr/>
      <dgm:t>
        <a:bodyPr/>
        <a:lstStyle/>
        <a:p>
          <a:endParaRPr lang="zh-CN" altLang="en-US"/>
        </a:p>
      </dgm:t>
    </dgm:pt>
    <dgm:pt modelId="{445560BE-1B24-4847-9E89-648975DC4BEA}">
      <dgm:prSet phldrT="[文本]" phldr="0" custT="1"/>
      <dgm:spPr/>
      <dgm:t>
        <a:bodyPr vert="horz" wrap="square"/>
        <a:lstStyle/>
        <a:p>
          <a:pPr>
            <a:lnSpc>
              <a:spcPct val="100000"/>
            </a:lnSpc>
            <a:spcBef>
              <a:spcPct val="0"/>
            </a:spcBef>
            <a:spcAft>
              <a:spcPct val="35000"/>
            </a:spcAft>
          </a:pPr>
          <a:r>
            <a:rPr lang="zh-CN" altLang="en-US" sz="1800" b="1" dirty="0">
              <a:latin typeface="微软雅黑" panose="020B0503020204020204" pitchFamily="34" charset="-122"/>
              <a:ea typeface="微软雅黑" panose="020B0503020204020204" pitchFamily="34" charset="-122"/>
            </a:rPr>
            <a:t>标注专业性</a:t>
          </a:r>
          <a:endParaRPr sz="1800"/>
        </a:p>
      </dgm:t>
    </dgm:pt>
    <dgm:pt modelId="{F70FC323-AD10-4708-AD40-AC9755617D9A}" type="parTrans" cxnId="{CFB2E11F-E812-42B6-AFDE-656389D9E98C}">
      <dgm:prSet/>
      <dgm:spPr/>
      <dgm:t>
        <a:bodyPr/>
        <a:lstStyle/>
        <a:p>
          <a:endParaRPr lang="zh-CN" altLang="en-US"/>
        </a:p>
      </dgm:t>
    </dgm:pt>
    <dgm:pt modelId="{3C886436-9807-476F-8FD2-D4ABCD594FFE}" type="sibTrans" cxnId="{CFB2E11F-E812-42B6-AFDE-656389D9E98C}">
      <dgm:prSet/>
      <dgm:spPr/>
      <dgm:t>
        <a:bodyPr/>
        <a:lstStyle/>
        <a:p>
          <a:endParaRPr lang="zh-CN" altLang="en-US"/>
        </a:p>
      </dgm:t>
    </dgm:pt>
    <dgm:pt modelId="{29EA87AD-F14D-4171-9449-258E3FB8B165}">
      <dgm:prSet phldrT="[文本]" phldr="0" custT="1"/>
      <dgm:spPr/>
      <dgm:t>
        <a:bodyPr/>
        <a:lstStyle/>
        <a:p>
          <a:r>
            <a:rPr lang="zh-CN" altLang="en-US" sz="1600" b="0" dirty="0">
              <a:latin typeface="+mn-ea"/>
              <a:ea typeface="+mn-ea"/>
            </a:rPr>
            <a:t>数据标注应面向 </a:t>
          </a:r>
          <a:r>
            <a:rPr lang="en-US" altLang="en-US" sz="1600" b="0" dirty="0">
              <a:latin typeface="+mn-ea"/>
              <a:ea typeface="+mn-ea"/>
            </a:rPr>
            <a:t>AI </a:t>
          </a:r>
          <a:r>
            <a:rPr lang="zh-CN" altLang="en-US" sz="1600" b="0" dirty="0">
              <a:latin typeface="+mn-ea"/>
              <a:ea typeface="+mn-ea"/>
            </a:rPr>
            <a:t>任务需求，遵循明确的标签体系、标注规范和质量控制要求。对于具有专业判断属性的核心标签，应由具备相应专业背景的人员参与标注或审核。</a:t>
          </a:r>
        </a:p>
      </dgm:t>
    </dgm:pt>
    <dgm:pt modelId="{A0FC17D1-07CD-4A96-B226-22B77531C066}" type="parTrans" cxnId="{1868B6F7-756B-4622-9FB1-37D1477E01BB}">
      <dgm:prSet/>
      <dgm:spPr/>
      <dgm:t>
        <a:bodyPr/>
        <a:lstStyle/>
        <a:p>
          <a:endParaRPr lang="zh-CN" altLang="en-US"/>
        </a:p>
      </dgm:t>
    </dgm:pt>
    <dgm:pt modelId="{26D77CB3-EDA7-4464-A70C-1186AE6A1CEB}" type="sibTrans" cxnId="{1868B6F7-756B-4622-9FB1-37D1477E01BB}">
      <dgm:prSet/>
      <dgm:spPr/>
      <dgm:t>
        <a:bodyPr/>
        <a:lstStyle/>
        <a:p>
          <a:endParaRPr lang="zh-CN" altLang="en-US"/>
        </a:p>
      </dgm:t>
    </dgm:pt>
    <dgm:pt modelId="{912F4DDB-344C-4B57-A2EF-977CE3E022B4}" type="pres">
      <dgm:prSet presAssocID="{C367953A-74F0-46E9-A8A1-71BE06D42C1B}" presName="Name0" presStyleCnt="0">
        <dgm:presLayoutVars>
          <dgm:dir/>
          <dgm:animLvl val="lvl"/>
          <dgm:resizeHandles val="exact"/>
        </dgm:presLayoutVars>
      </dgm:prSet>
      <dgm:spPr/>
    </dgm:pt>
    <dgm:pt modelId="{310E49D5-17EF-468E-B4DB-F22FB10953D0}" type="pres">
      <dgm:prSet presAssocID="{02A55F30-3B6B-46B3-A5E9-77400CFBD6D6}" presName="composite" presStyleCnt="0"/>
      <dgm:spPr/>
    </dgm:pt>
    <dgm:pt modelId="{25945D6B-90B5-49BC-BB01-27EF837E4005}" type="pres">
      <dgm:prSet presAssocID="{02A55F30-3B6B-46B3-A5E9-77400CFBD6D6}" presName="parTx" presStyleLbl="alignNode1" presStyleIdx="0" presStyleCnt="4">
        <dgm:presLayoutVars>
          <dgm:chMax val="0"/>
          <dgm:chPref val="0"/>
          <dgm:bulletEnabled val="1"/>
        </dgm:presLayoutVars>
      </dgm:prSet>
      <dgm:spPr/>
    </dgm:pt>
    <dgm:pt modelId="{A1E064F9-87B1-4602-A7C1-FF28BFB7B555}" type="pres">
      <dgm:prSet presAssocID="{02A55F30-3B6B-46B3-A5E9-77400CFBD6D6}" presName="desTx" presStyleLbl="alignAccFollowNode1" presStyleIdx="0" presStyleCnt="4">
        <dgm:presLayoutVars>
          <dgm:bulletEnabled val="1"/>
        </dgm:presLayoutVars>
      </dgm:prSet>
      <dgm:spPr/>
    </dgm:pt>
    <dgm:pt modelId="{B6CD6887-3698-4C59-9CE0-67A3332D95E8}" type="pres">
      <dgm:prSet presAssocID="{AB17245B-10A8-4707-AF1A-2AE582EC05E9}" presName="space" presStyleCnt="0"/>
      <dgm:spPr/>
    </dgm:pt>
    <dgm:pt modelId="{49582D5E-5526-4BA5-8CD3-5838BEAE77F4}" type="pres">
      <dgm:prSet presAssocID="{FA2370E0-D8D9-4C1E-8684-A2EBBA2FDFFF}" presName="composite" presStyleCnt="0"/>
      <dgm:spPr/>
    </dgm:pt>
    <dgm:pt modelId="{9991138E-C291-4EE4-ACD2-2E69C163FA4C}" type="pres">
      <dgm:prSet presAssocID="{FA2370E0-D8D9-4C1E-8684-A2EBBA2FDFFF}" presName="parTx" presStyleLbl="alignNode1" presStyleIdx="1" presStyleCnt="4">
        <dgm:presLayoutVars>
          <dgm:chMax val="0"/>
          <dgm:chPref val="0"/>
          <dgm:bulletEnabled val="1"/>
        </dgm:presLayoutVars>
      </dgm:prSet>
      <dgm:spPr/>
    </dgm:pt>
    <dgm:pt modelId="{270AE915-C6F1-4F55-BF50-A243EBD89415}" type="pres">
      <dgm:prSet presAssocID="{FA2370E0-D8D9-4C1E-8684-A2EBBA2FDFFF}" presName="desTx" presStyleLbl="alignAccFollowNode1" presStyleIdx="1" presStyleCnt="4">
        <dgm:presLayoutVars>
          <dgm:bulletEnabled val="1"/>
        </dgm:presLayoutVars>
      </dgm:prSet>
      <dgm:spPr/>
    </dgm:pt>
    <dgm:pt modelId="{FCEC9492-A085-4E7C-81AA-98606D9676D6}" type="pres">
      <dgm:prSet presAssocID="{F63A2D4F-1560-4592-9B60-BC36BAFE8BFB}" presName="space" presStyleCnt="0"/>
      <dgm:spPr/>
    </dgm:pt>
    <dgm:pt modelId="{C66D8943-DEC1-4782-89CA-6CB3DCA5D4D0}" type="pres">
      <dgm:prSet presAssocID="{0CB78452-5C9C-4B0A-9163-4B86E1A905B5}" presName="composite" presStyleCnt="0"/>
      <dgm:spPr/>
    </dgm:pt>
    <dgm:pt modelId="{0DC85261-D3D5-4BFB-A63D-DA1DD4932AA6}" type="pres">
      <dgm:prSet presAssocID="{0CB78452-5C9C-4B0A-9163-4B86E1A905B5}" presName="parTx" presStyleLbl="alignNode1" presStyleIdx="2" presStyleCnt="4">
        <dgm:presLayoutVars>
          <dgm:chMax val="0"/>
          <dgm:chPref val="0"/>
          <dgm:bulletEnabled val="1"/>
        </dgm:presLayoutVars>
      </dgm:prSet>
      <dgm:spPr/>
    </dgm:pt>
    <dgm:pt modelId="{0933B54E-500F-4E26-8FCE-91E85656FAE4}" type="pres">
      <dgm:prSet presAssocID="{0CB78452-5C9C-4B0A-9163-4B86E1A905B5}" presName="desTx" presStyleLbl="alignAccFollowNode1" presStyleIdx="2" presStyleCnt="4">
        <dgm:presLayoutVars>
          <dgm:bulletEnabled val="1"/>
        </dgm:presLayoutVars>
      </dgm:prSet>
      <dgm:spPr/>
    </dgm:pt>
    <dgm:pt modelId="{A2E24861-A371-464A-966A-CDB460C43988}" type="pres">
      <dgm:prSet presAssocID="{A02499E2-000A-4B0E-AD81-E957D4CD2D19}" presName="space" presStyleCnt="0"/>
      <dgm:spPr/>
    </dgm:pt>
    <dgm:pt modelId="{BB58CD4F-B7F5-49BD-997E-4B0BF2787A9C}" type="pres">
      <dgm:prSet presAssocID="{445560BE-1B24-4847-9E89-648975DC4BEA}" presName="composite" presStyleCnt="0"/>
      <dgm:spPr/>
    </dgm:pt>
    <dgm:pt modelId="{A67F78C5-F25D-4FC8-B8FF-F5DF258410B4}" type="pres">
      <dgm:prSet presAssocID="{445560BE-1B24-4847-9E89-648975DC4BEA}" presName="parTx" presStyleLbl="alignNode1" presStyleIdx="3" presStyleCnt="4">
        <dgm:presLayoutVars>
          <dgm:chMax val="0"/>
          <dgm:chPref val="0"/>
          <dgm:bulletEnabled val="1"/>
        </dgm:presLayoutVars>
      </dgm:prSet>
      <dgm:spPr/>
    </dgm:pt>
    <dgm:pt modelId="{60F17C7C-2E4F-45B2-9E4F-CE91915A037B}" type="pres">
      <dgm:prSet presAssocID="{445560BE-1B24-4847-9E89-648975DC4BEA}" presName="desTx" presStyleLbl="alignAccFollowNode1" presStyleIdx="3" presStyleCnt="4">
        <dgm:presLayoutVars>
          <dgm:bulletEnabled val="1"/>
        </dgm:presLayoutVars>
      </dgm:prSet>
      <dgm:spPr/>
    </dgm:pt>
  </dgm:ptLst>
  <dgm:cxnLst>
    <dgm:cxn modelId="{C12EF40A-7153-48D3-91DC-5FA46B3AAC3C}" type="presOf" srcId="{445560BE-1B24-4847-9E89-648975DC4BEA}" destId="{A67F78C5-F25D-4FC8-B8FF-F5DF258410B4}" srcOrd="0" destOrd="0" presId="urn:microsoft.com/office/officeart/2005/8/layout/hList1"/>
    <dgm:cxn modelId="{7694BA16-3A6B-4493-8ADC-A69569129F82}" type="presOf" srcId="{C367953A-74F0-46E9-A8A1-71BE06D42C1B}" destId="{912F4DDB-344C-4B57-A2EF-977CE3E022B4}" srcOrd="0" destOrd="0" presId="urn:microsoft.com/office/officeart/2005/8/layout/hList1"/>
    <dgm:cxn modelId="{CFB2E11F-E812-42B6-AFDE-656389D9E98C}" srcId="{C367953A-74F0-46E9-A8A1-71BE06D42C1B}" destId="{445560BE-1B24-4847-9E89-648975DC4BEA}" srcOrd="3" destOrd="0" parTransId="{F70FC323-AD10-4708-AD40-AC9755617D9A}" sibTransId="{3C886436-9807-476F-8FD2-D4ABCD594FFE}"/>
    <dgm:cxn modelId="{3488A536-0DD4-4973-ACBF-F0617DEBB87B}" srcId="{FA2370E0-D8D9-4C1E-8684-A2EBBA2FDFFF}" destId="{61A8E31B-B5C1-4429-A811-EB19287752C2}" srcOrd="0" destOrd="0" parTransId="{AAABE657-975A-4ACA-9F5E-E9D36F71CAA0}" sibTransId="{AB369489-DECB-4708-8B2D-1C6C7C8A867C}"/>
    <dgm:cxn modelId="{79BB8D3B-1696-404B-98F1-B8217EEEA9DA}" srcId="{C367953A-74F0-46E9-A8A1-71BE06D42C1B}" destId="{0CB78452-5C9C-4B0A-9163-4B86E1A905B5}" srcOrd="2" destOrd="0" parTransId="{46F077F3-6C60-445B-AA25-6491E24993BA}" sibTransId="{A02499E2-000A-4B0E-AD81-E957D4CD2D19}"/>
    <dgm:cxn modelId="{B400BF65-D709-48D0-9059-2D6ECB23FEA2}" type="presOf" srcId="{0CB78452-5C9C-4B0A-9163-4B86E1A905B5}" destId="{0DC85261-D3D5-4BFB-A63D-DA1DD4932AA6}" srcOrd="0" destOrd="0" presId="urn:microsoft.com/office/officeart/2005/8/layout/hList1"/>
    <dgm:cxn modelId="{CCC17668-FFBD-4855-95AB-462CF518762E}" type="presOf" srcId="{FA2370E0-D8D9-4C1E-8684-A2EBBA2FDFFF}" destId="{9991138E-C291-4EE4-ACD2-2E69C163FA4C}" srcOrd="0" destOrd="0" presId="urn:microsoft.com/office/officeart/2005/8/layout/hList1"/>
    <dgm:cxn modelId="{5632706C-809C-4AA5-8926-CC5494D50E3A}" srcId="{0CB78452-5C9C-4B0A-9163-4B86E1A905B5}" destId="{C6D54AE5-2B6B-4195-AD0C-2A140D286208}" srcOrd="0" destOrd="0" parTransId="{E041A2A7-BC8B-44CE-980E-04A3CA2A4AC7}" sibTransId="{695D1735-673C-4B32-BFCF-7D6CD1CA8678}"/>
    <dgm:cxn modelId="{DB4BAF57-68F0-4D99-B7DD-14D39AAECDDD}" type="presOf" srcId="{02A55F30-3B6B-46B3-A5E9-77400CFBD6D6}" destId="{25945D6B-90B5-49BC-BB01-27EF837E4005}" srcOrd="0" destOrd="0" presId="urn:microsoft.com/office/officeart/2005/8/layout/hList1"/>
    <dgm:cxn modelId="{A05E2685-FB22-445E-93D7-F26EF0BE7AA6}" type="presOf" srcId="{29EA87AD-F14D-4171-9449-258E3FB8B165}" destId="{60F17C7C-2E4F-45B2-9E4F-CE91915A037B}" srcOrd="0" destOrd="0" presId="urn:microsoft.com/office/officeart/2005/8/layout/hList1"/>
    <dgm:cxn modelId="{AA19B68D-AA5B-42E9-935E-2AF1DB6C7E33}" srcId="{C367953A-74F0-46E9-A8A1-71BE06D42C1B}" destId="{FA2370E0-D8D9-4C1E-8684-A2EBBA2FDFFF}" srcOrd="1" destOrd="0" parTransId="{916E199F-10E4-41F4-8148-0E80396EB860}" sibTransId="{F63A2D4F-1560-4592-9B60-BC36BAFE8BFB}"/>
    <dgm:cxn modelId="{68002AD8-2EC0-45CA-84AF-AAC0CB12CB6B}" type="presOf" srcId="{61A8E31B-B5C1-4429-A811-EB19287752C2}" destId="{270AE915-C6F1-4F55-BF50-A243EBD89415}" srcOrd="0" destOrd="0" presId="urn:microsoft.com/office/officeart/2005/8/layout/hList1"/>
    <dgm:cxn modelId="{08EBDDE7-3E72-4FD1-AC23-BFE2C0F28792}" type="presOf" srcId="{8C987173-8840-4DEA-999C-26283DA1AD25}" destId="{A1E064F9-87B1-4602-A7C1-FF28BFB7B555}" srcOrd="0" destOrd="0" presId="urn:microsoft.com/office/officeart/2005/8/layout/hList1"/>
    <dgm:cxn modelId="{268A14EA-D83E-4FB7-A37D-4ECFDC62D857}" srcId="{02A55F30-3B6B-46B3-A5E9-77400CFBD6D6}" destId="{8C987173-8840-4DEA-999C-26283DA1AD25}" srcOrd="0" destOrd="0" parTransId="{657CE7B0-6809-4EEA-BAC5-96B833E71EC7}" sibTransId="{F80F18CF-F442-4EE1-840D-06DE6DEFCF35}"/>
    <dgm:cxn modelId="{1868B6F7-756B-4622-9FB1-37D1477E01BB}" srcId="{445560BE-1B24-4847-9E89-648975DC4BEA}" destId="{29EA87AD-F14D-4171-9449-258E3FB8B165}" srcOrd="0" destOrd="0" parTransId="{A0FC17D1-07CD-4A96-B226-22B77531C066}" sibTransId="{26D77CB3-EDA7-4464-A70C-1186AE6A1CEB}"/>
    <dgm:cxn modelId="{B4DAE8FC-0868-4343-B140-3F81893FEE9A}" type="presOf" srcId="{C6D54AE5-2B6B-4195-AD0C-2A140D286208}" destId="{0933B54E-500F-4E26-8FCE-91E85656FAE4}" srcOrd="0" destOrd="0" presId="urn:microsoft.com/office/officeart/2005/8/layout/hList1"/>
    <dgm:cxn modelId="{E29659FF-59D5-48EA-91D0-5D58AC655573}" srcId="{C367953A-74F0-46E9-A8A1-71BE06D42C1B}" destId="{02A55F30-3B6B-46B3-A5E9-77400CFBD6D6}" srcOrd="0" destOrd="0" parTransId="{DB0D94E6-AD27-484A-846E-A1DCE7D09A05}" sibTransId="{AB17245B-10A8-4707-AF1A-2AE582EC05E9}"/>
    <dgm:cxn modelId="{34849BA7-760A-4010-A4F9-420C217E1BB2}" type="presParOf" srcId="{912F4DDB-344C-4B57-A2EF-977CE3E022B4}" destId="{310E49D5-17EF-468E-B4DB-F22FB10953D0}" srcOrd="0" destOrd="0" presId="urn:microsoft.com/office/officeart/2005/8/layout/hList1"/>
    <dgm:cxn modelId="{C7607E0F-A86D-44E2-BD02-F73C109DBED2}" type="presParOf" srcId="{310E49D5-17EF-468E-B4DB-F22FB10953D0}" destId="{25945D6B-90B5-49BC-BB01-27EF837E4005}" srcOrd="0" destOrd="0" presId="urn:microsoft.com/office/officeart/2005/8/layout/hList1"/>
    <dgm:cxn modelId="{15F8B58B-C35B-410F-9845-D4A0605F0106}" type="presParOf" srcId="{310E49D5-17EF-468E-B4DB-F22FB10953D0}" destId="{A1E064F9-87B1-4602-A7C1-FF28BFB7B555}" srcOrd="1" destOrd="0" presId="urn:microsoft.com/office/officeart/2005/8/layout/hList1"/>
    <dgm:cxn modelId="{B76EF852-B626-4D10-BA5A-45898FFAD358}" type="presParOf" srcId="{912F4DDB-344C-4B57-A2EF-977CE3E022B4}" destId="{B6CD6887-3698-4C59-9CE0-67A3332D95E8}" srcOrd="1" destOrd="0" presId="urn:microsoft.com/office/officeart/2005/8/layout/hList1"/>
    <dgm:cxn modelId="{0C797249-56B4-4A63-B805-3C31D1634518}" type="presParOf" srcId="{912F4DDB-344C-4B57-A2EF-977CE3E022B4}" destId="{49582D5E-5526-4BA5-8CD3-5838BEAE77F4}" srcOrd="2" destOrd="0" presId="urn:microsoft.com/office/officeart/2005/8/layout/hList1"/>
    <dgm:cxn modelId="{8A240C74-EB87-479E-AD39-172DEDBE8854}" type="presParOf" srcId="{49582D5E-5526-4BA5-8CD3-5838BEAE77F4}" destId="{9991138E-C291-4EE4-ACD2-2E69C163FA4C}" srcOrd="0" destOrd="0" presId="urn:microsoft.com/office/officeart/2005/8/layout/hList1"/>
    <dgm:cxn modelId="{E37087D4-DD8F-4BDA-A4E1-F5CF0DD76BF1}" type="presParOf" srcId="{49582D5E-5526-4BA5-8CD3-5838BEAE77F4}" destId="{270AE915-C6F1-4F55-BF50-A243EBD89415}" srcOrd="1" destOrd="0" presId="urn:microsoft.com/office/officeart/2005/8/layout/hList1"/>
    <dgm:cxn modelId="{1A51A91C-E8BA-410D-BB49-7E7E39D672B2}" type="presParOf" srcId="{912F4DDB-344C-4B57-A2EF-977CE3E022B4}" destId="{FCEC9492-A085-4E7C-81AA-98606D9676D6}" srcOrd="3" destOrd="0" presId="urn:microsoft.com/office/officeart/2005/8/layout/hList1"/>
    <dgm:cxn modelId="{F65452F4-DB4E-4C6B-8646-26018971C5EF}" type="presParOf" srcId="{912F4DDB-344C-4B57-A2EF-977CE3E022B4}" destId="{C66D8943-DEC1-4782-89CA-6CB3DCA5D4D0}" srcOrd="4" destOrd="0" presId="urn:microsoft.com/office/officeart/2005/8/layout/hList1"/>
    <dgm:cxn modelId="{BD41E7BC-10D0-4698-AE48-1C4F061E4D59}" type="presParOf" srcId="{C66D8943-DEC1-4782-89CA-6CB3DCA5D4D0}" destId="{0DC85261-D3D5-4BFB-A63D-DA1DD4932AA6}" srcOrd="0" destOrd="0" presId="urn:microsoft.com/office/officeart/2005/8/layout/hList1"/>
    <dgm:cxn modelId="{9F4C64D0-744A-437B-85FE-3A943D31C159}" type="presParOf" srcId="{C66D8943-DEC1-4782-89CA-6CB3DCA5D4D0}" destId="{0933B54E-500F-4E26-8FCE-91E85656FAE4}" srcOrd="1" destOrd="0" presId="urn:microsoft.com/office/officeart/2005/8/layout/hList1"/>
    <dgm:cxn modelId="{73BF24AA-DE19-43E1-BE6E-4336C3932D0B}" type="presParOf" srcId="{912F4DDB-344C-4B57-A2EF-977CE3E022B4}" destId="{A2E24861-A371-464A-966A-CDB460C43988}" srcOrd="5" destOrd="0" presId="urn:microsoft.com/office/officeart/2005/8/layout/hList1"/>
    <dgm:cxn modelId="{FDCC3664-AC35-493B-A869-AD6C0DE10B07}" type="presParOf" srcId="{912F4DDB-344C-4B57-A2EF-977CE3E022B4}" destId="{BB58CD4F-B7F5-49BD-997E-4B0BF2787A9C}" srcOrd="6" destOrd="0" presId="urn:microsoft.com/office/officeart/2005/8/layout/hList1"/>
    <dgm:cxn modelId="{420C06A4-B57C-405D-931F-4DB6F4340BEF}" type="presParOf" srcId="{BB58CD4F-B7F5-49BD-997E-4B0BF2787A9C}" destId="{A67F78C5-F25D-4FC8-B8FF-F5DF258410B4}" srcOrd="0" destOrd="0" presId="urn:microsoft.com/office/officeart/2005/8/layout/hList1"/>
    <dgm:cxn modelId="{D8A906B8-4911-4321-AD43-19D8F14851F6}" type="presParOf" srcId="{BB58CD4F-B7F5-49BD-997E-4B0BF2787A9C}" destId="{60F17C7C-2E4F-45B2-9E4F-CE91915A037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CD1A35-C26A-4D89-97C3-977CBCE11D4D}" type="doc">
      <dgm:prSet loTypeId="urn:microsoft.com/office/officeart/2005/8/layout/hList1" loCatId="list" qsTypeId="urn:microsoft.com/office/officeart/2005/8/quickstyle/simple1#21" qsCatId="simple" csTypeId="urn:microsoft.com/office/officeart/2005/8/colors/accent1_2#14" csCatId="accent1" phldr="1"/>
      <dgm:spPr/>
      <dgm:t>
        <a:bodyPr/>
        <a:lstStyle/>
        <a:p>
          <a:endParaRPr lang="zh-CN" altLang="en-US"/>
        </a:p>
      </dgm:t>
    </dgm:pt>
    <dgm:pt modelId="{9052D6FC-76BE-497E-8724-5C822FAE8B54}">
      <dgm:prSet phldrT="[文本]" custT="1"/>
      <dgm:spPr/>
      <dgm:t>
        <a:bodyPr/>
        <a:lstStyle/>
        <a:p>
          <a:pPr>
            <a:spcAft>
              <a:spcPts val="0"/>
            </a:spcAft>
            <a:buFont typeface="Wingdings" panose="05000000000000000000" pitchFamily="2" charset="2"/>
            <a:buChar char="Ø"/>
          </a:pPr>
          <a:r>
            <a:rPr lang="zh-CN" altLang="en-US" sz="1800" b="1" dirty="0">
              <a:solidFill>
                <a:schemeClr val="bg1"/>
              </a:solidFill>
              <a:latin typeface="微软雅黑" panose="020B0503020204020204" pitchFamily="34" charset="-122"/>
              <a:ea typeface="微软雅黑" panose="020B0503020204020204" pitchFamily="34" charset="-122"/>
            </a:rPr>
            <a:t>可解释性与中医药逻辑一致性 </a:t>
          </a:r>
          <a:endParaRPr lang="zh-CN" altLang="en-US" sz="1800" dirty="0">
            <a:solidFill>
              <a:schemeClr val="bg1"/>
            </a:solidFill>
          </a:endParaRPr>
        </a:p>
      </dgm:t>
    </dgm:pt>
    <dgm:pt modelId="{24F81957-41D8-4C68-9557-BE1A46056F8D}" type="parTrans" cxnId="{BE87F0C2-F600-492C-801B-A5E452F1B0D2}">
      <dgm:prSet/>
      <dgm:spPr/>
      <dgm:t>
        <a:bodyPr/>
        <a:lstStyle/>
        <a:p>
          <a:endParaRPr lang="zh-CN" altLang="en-US"/>
        </a:p>
      </dgm:t>
    </dgm:pt>
    <dgm:pt modelId="{0B6E91B7-91F6-413B-A641-936B4CA05CAD}" type="sibTrans" cxnId="{BE87F0C2-F600-492C-801B-A5E452F1B0D2}">
      <dgm:prSet/>
      <dgm:spPr/>
      <dgm:t>
        <a:bodyPr/>
        <a:lstStyle/>
        <a:p>
          <a:endParaRPr lang="zh-CN" altLang="en-US"/>
        </a:p>
      </dgm:t>
    </dgm:pt>
    <dgm:pt modelId="{80858A80-C352-4066-88FF-B7A439BB8F1D}">
      <dgm:prSet phldrT="[文本]" custT="1"/>
      <dgm:spPr/>
      <dgm:t>
        <a:bodyPr/>
        <a:lstStyle/>
        <a:p>
          <a:r>
            <a:rPr lang="zh-CN" altLang="en-US" sz="1600" dirty="0"/>
            <a:t>中医药 </a:t>
          </a:r>
          <a:r>
            <a:rPr lang="en-US" altLang="en-US" sz="1600" dirty="0"/>
            <a:t>AI </a:t>
          </a:r>
          <a:r>
            <a:rPr lang="zh-CN" altLang="en-US" sz="1600" dirty="0"/>
            <a:t>高质量数据集应尽可能保留中医药知识表达和实践过程中的依据链条与逻辑关系，体现中医药理论语义、辨证论治思维和诊疗决策规律。</a:t>
          </a:r>
        </a:p>
      </dgm:t>
    </dgm:pt>
    <dgm:pt modelId="{02ED4833-4FB8-4D02-A7EC-29F065E83D85}" type="parTrans" cxnId="{A81DF0D4-605A-48EF-901A-2FF98F7A4060}">
      <dgm:prSet/>
      <dgm:spPr/>
      <dgm:t>
        <a:bodyPr/>
        <a:lstStyle/>
        <a:p>
          <a:endParaRPr lang="zh-CN" altLang="en-US"/>
        </a:p>
      </dgm:t>
    </dgm:pt>
    <dgm:pt modelId="{2ABC938F-C4C0-4C63-B60A-74DDF1718ACC}" type="sibTrans" cxnId="{A81DF0D4-605A-48EF-901A-2FF98F7A4060}">
      <dgm:prSet/>
      <dgm:spPr/>
      <dgm:t>
        <a:bodyPr/>
        <a:lstStyle/>
        <a:p>
          <a:endParaRPr lang="zh-CN" altLang="en-US"/>
        </a:p>
      </dgm:t>
    </dgm:pt>
    <dgm:pt modelId="{77AEE263-DB36-4D01-8926-4AD40C5E0D01}">
      <dgm:prSet phldrT="[文本]" custT="1"/>
      <dgm:spPr/>
      <dgm:t>
        <a:bodyPr/>
        <a:lstStyle/>
        <a:p>
          <a:r>
            <a:rPr lang="zh-CN" altLang="en-US" sz="2000" b="1" dirty="0">
              <a:solidFill>
                <a:schemeClr val="bg1"/>
              </a:solidFill>
              <a:latin typeface="微软雅黑" panose="020B0503020204020204" pitchFamily="34" charset="-122"/>
              <a:ea typeface="微软雅黑" panose="020B0503020204020204" pitchFamily="34" charset="-122"/>
            </a:rPr>
            <a:t>安全合规性</a:t>
          </a:r>
        </a:p>
      </dgm:t>
    </dgm:pt>
    <dgm:pt modelId="{AC6B45D9-17BA-4801-8AB5-0FF646BB44E2}" type="parTrans" cxnId="{75D86F2F-8631-4C23-8214-D1B8F69CBDA9}">
      <dgm:prSet/>
      <dgm:spPr/>
      <dgm:t>
        <a:bodyPr/>
        <a:lstStyle/>
        <a:p>
          <a:endParaRPr lang="zh-CN" altLang="en-US"/>
        </a:p>
      </dgm:t>
    </dgm:pt>
    <dgm:pt modelId="{72B5D621-7360-43D8-841A-5E82C4527D91}" type="sibTrans" cxnId="{75D86F2F-8631-4C23-8214-D1B8F69CBDA9}">
      <dgm:prSet/>
      <dgm:spPr/>
      <dgm:t>
        <a:bodyPr/>
        <a:lstStyle/>
        <a:p>
          <a:endParaRPr lang="zh-CN" altLang="en-US"/>
        </a:p>
      </dgm:t>
    </dgm:pt>
    <dgm:pt modelId="{FFADD9CA-36B6-4BD2-8A85-2D3E2AC56ACD}">
      <dgm:prSet phldrT="[文本]" custT="1"/>
      <dgm:spPr/>
      <dgm:t>
        <a:bodyPr/>
        <a:lstStyle/>
        <a:p>
          <a:r>
            <a:rPr lang="zh-CN" altLang="en-US" sz="1600" dirty="0"/>
            <a:t>据集建设与应用应严格遵循网络安全、数据安全、个人信息保护、医疗伦理和知识产权等相关法律法规及行业管理要求。应根据数据敏感程度和使用风险实施分类分级管理、脱敏处理、授权使用、访问控制和安全审计，确保数据全生命周期合法合规。 </a:t>
          </a:r>
        </a:p>
      </dgm:t>
    </dgm:pt>
    <dgm:pt modelId="{45669769-8534-4BFA-847B-43D1FD6969F9}" type="parTrans" cxnId="{CD026EAC-FE89-4AA3-B4FF-1192AC48EF83}">
      <dgm:prSet/>
      <dgm:spPr/>
      <dgm:t>
        <a:bodyPr/>
        <a:lstStyle/>
        <a:p>
          <a:endParaRPr lang="zh-CN" altLang="en-US"/>
        </a:p>
      </dgm:t>
    </dgm:pt>
    <dgm:pt modelId="{2AC4BAF3-3E43-4429-9EE4-9C660CE444FF}" type="sibTrans" cxnId="{CD026EAC-FE89-4AA3-B4FF-1192AC48EF83}">
      <dgm:prSet/>
      <dgm:spPr/>
      <dgm:t>
        <a:bodyPr/>
        <a:lstStyle/>
        <a:p>
          <a:endParaRPr lang="zh-CN" altLang="en-US"/>
        </a:p>
      </dgm:t>
    </dgm:pt>
    <dgm:pt modelId="{6C7DEA98-7845-48FE-8069-5736EA850B89}">
      <dgm:prSet phldrT="[文本]" custT="1"/>
      <dgm:spPr/>
      <dgm:t>
        <a:bodyPr/>
        <a:lstStyle/>
        <a:p>
          <a:pPr>
            <a:buFont typeface="Wingdings" panose="05000000000000000000" pitchFamily="2" charset="2"/>
            <a:buChar char="Ø"/>
          </a:pPr>
          <a:r>
            <a:rPr lang="zh-CN" altLang="en-US" sz="2000" b="1" dirty="0">
              <a:solidFill>
                <a:schemeClr val="bg1"/>
              </a:solidFill>
              <a:latin typeface="微软雅黑" panose="020B0503020204020204" pitchFamily="34" charset="-122"/>
              <a:ea typeface="微软雅黑" panose="020B0503020204020204" pitchFamily="34" charset="-122"/>
            </a:rPr>
            <a:t>全生命周期可追溯性</a:t>
          </a:r>
          <a:endParaRPr lang="zh-CN" altLang="en-US" sz="2000" dirty="0">
            <a:solidFill>
              <a:schemeClr val="bg1"/>
            </a:solidFill>
          </a:endParaRPr>
        </a:p>
      </dgm:t>
    </dgm:pt>
    <dgm:pt modelId="{18582931-D77E-42DD-B073-4FF5159C7564}" type="parTrans" cxnId="{B16C544C-1F06-4024-AB8D-50A8F05DC58F}">
      <dgm:prSet/>
      <dgm:spPr/>
      <dgm:t>
        <a:bodyPr/>
        <a:lstStyle/>
        <a:p>
          <a:endParaRPr lang="zh-CN" altLang="en-US"/>
        </a:p>
      </dgm:t>
    </dgm:pt>
    <dgm:pt modelId="{412925E7-966E-4EF5-A225-C1265BA805DE}" type="sibTrans" cxnId="{B16C544C-1F06-4024-AB8D-50A8F05DC58F}">
      <dgm:prSet/>
      <dgm:spPr/>
      <dgm:t>
        <a:bodyPr/>
        <a:lstStyle/>
        <a:p>
          <a:endParaRPr lang="zh-CN" altLang="en-US"/>
        </a:p>
      </dgm:t>
    </dgm:pt>
    <dgm:pt modelId="{52B411A7-5B34-4BC9-A919-8CEDAA785A86}">
      <dgm:prSet phldrT="[文本]" custT="1"/>
      <dgm:spPr/>
      <dgm:t>
        <a:bodyPr/>
        <a:lstStyle/>
        <a:p>
          <a:r>
            <a:rPr lang="zh-CN" altLang="en-US" sz="1600" dirty="0"/>
            <a:t>高质量数据集应完整记录数据来源、采集、处理、标注、质控、版本变更、授权使用等关键过程，具备问题追溯、质量复核和版本回溯能力。</a:t>
          </a:r>
        </a:p>
      </dgm:t>
    </dgm:pt>
    <dgm:pt modelId="{61929ABB-2DF9-4BFF-8D77-1D21A0B82E18}" type="parTrans" cxnId="{563ED27E-874C-47B7-8F9C-81747B03D2BC}">
      <dgm:prSet/>
      <dgm:spPr/>
      <dgm:t>
        <a:bodyPr/>
        <a:lstStyle/>
        <a:p>
          <a:endParaRPr lang="zh-CN" altLang="en-US"/>
        </a:p>
      </dgm:t>
    </dgm:pt>
    <dgm:pt modelId="{94DE236E-1069-4BC9-B9F1-53C69A6B371D}" type="sibTrans" cxnId="{563ED27E-874C-47B7-8F9C-81747B03D2BC}">
      <dgm:prSet/>
      <dgm:spPr/>
      <dgm:t>
        <a:bodyPr/>
        <a:lstStyle/>
        <a:p>
          <a:endParaRPr lang="zh-CN" altLang="en-US"/>
        </a:p>
      </dgm:t>
    </dgm:pt>
    <dgm:pt modelId="{9EF05852-47F8-45A5-8BEF-591876719281}" type="pres">
      <dgm:prSet presAssocID="{8DCD1A35-C26A-4D89-97C3-977CBCE11D4D}" presName="Name0" presStyleCnt="0">
        <dgm:presLayoutVars>
          <dgm:dir/>
          <dgm:animLvl val="lvl"/>
          <dgm:resizeHandles val="exact"/>
        </dgm:presLayoutVars>
      </dgm:prSet>
      <dgm:spPr/>
    </dgm:pt>
    <dgm:pt modelId="{561017FD-7F5C-456B-A144-DB1D1DB1FEF8}" type="pres">
      <dgm:prSet presAssocID="{9052D6FC-76BE-497E-8724-5C822FAE8B54}" presName="composite" presStyleCnt="0"/>
      <dgm:spPr/>
    </dgm:pt>
    <dgm:pt modelId="{580E10BA-DE38-4D04-B954-A786B3677166}" type="pres">
      <dgm:prSet presAssocID="{9052D6FC-76BE-497E-8724-5C822FAE8B54}" presName="parTx" presStyleLbl="alignNode1" presStyleIdx="0" presStyleCnt="3" custScaleX="101369" custScaleY="56448" custLinFactNeighborX="10693" custLinFactNeighborY="29903">
        <dgm:presLayoutVars>
          <dgm:chMax val="0"/>
          <dgm:chPref val="0"/>
          <dgm:bulletEnabled val="1"/>
        </dgm:presLayoutVars>
      </dgm:prSet>
      <dgm:spPr/>
    </dgm:pt>
    <dgm:pt modelId="{7C047334-2B51-433B-A345-752181CDD448}" type="pres">
      <dgm:prSet presAssocID="{9052D6FC-76BE-497E-8724-5C822FAE8B54}" presName="desTx" presStyleLbl="alignAccFollowNode1" presStyleIdx="0" presStyleCnt="3" custScaleX="101660" custScaleY="75132" custLinFactNeighborX="10467" custLinFactNeighborY="9265">
        <dgm:presLayoutVars>
          <dgm:bulletEnabled val="1"/>
        </dgm:presLayoutVars>
      </dgm:prSet>
      <dgm:spPr/>
    </dgm:pt>
    <dgm:pt modelId="{C521FC26-9EC7-4DA9-BAF7-DBF9FD7DC1A7}" type="pres">
      <dgm:prSet presAssocID="{0B6E91B7-91F6-413B-A641-936B4CA05CAD}" presName="space" presStyleCnt="0"/>
      <dgm:spPr/>
    </dgm:pt>
    <dgm:pt modelId="{6B24BAA6-7003-441D-8E69-37618C0CF5CB}" type="pres">
      <dgm:prSet presAssocID="{77AEE263-DB36-4D01-8926-4AD40C5E0D01}" presName="composite" presStyleCnt="0"/>
      <dgm:spPr/>
    </dgm:pt>
    <dgm:pt modelId="{3CA8BD00-E747-40BD-8420-1CF677862111}" type="pres">
      <dgm:prSet presAssocID="{77AEE263-DB36-4D01-8926-4AD40C5E0D01}" presName="parTx" presStyleLbl="alignNode1" presStyleIdx="1" presStyleCnt="3" custScaleX="101369" custScaleY="56448" custLinFactNeighborX="2125" custLinFactNeighborY="29067">
        <dgm:presLayoutVars>
          <dgm:chMax val="0"/>
          <dgm:chPref val="0"/>
          <dgm:bulletEnabled val="1"/>
        </dgm:presLayoutVars>
      </dgm:prSet>
      <dgm:spPr/>
    </dgm:pt>
    <dgm:pt modelId="{462B8045-315F-4545-9541-531F9440A375}" type="pres">
      <dgm:prSet presAssocID="{77AEE263-DB36-4D01-8926-4AD40C5E0D01}" presName="desTx" presStyleLbl="alignAccFollowNode1" presStyleIdx="1" presStyleCnt="3" custScaleX="100814" custScaleY="75132" custLinFactNeighborX="2125" custLinFactNeighborY="9523">
        <dgm:presLayoutVars>
          <dgm:bulletEnabled val="1"/>
        </dgm:presLayoutVars>
      </dgm:prSet>
      <dgm:spPr/>
    </dgm:pt>
    <dgm:pt modelId="{D849CD76-F6F1-45C5-9229-CAACEF0FFC09}" type="pres">
      <dgm:prSet presAssocID="{72B5D621-7360-43D8-841A-5E82C4527D91}" presName="space" presStyleCnt="0"/>
      <dgm:spPr/>
    </dgm:pt>
    <dgm:pt modelId="{C2D52CF7-74AB-43D7-A136-2F6B3838A897}" type="pres">
      <dgm:prSet presAssocID="{6C7DEA98-7845-48FE-8069-5736EA850B89}" presName="composite" presStyleCnt="0"/>
      <dgm:spPr/>
    </dgm:pt>
    <dgm:pt modelId="{7D1AFAEF-5219-4286-B125-BA4267B5407B}" type="pres">
      <dgm:prSet presAssocID="{6C7DEA98-7845-48FE-8069-5736EA850B89}" presName="parTx" presStyleLbl="alignNode1" presStyleIdx="2" presStyleCnt="3" custScaleX="101369" custScaleY="56448" custLinFactNeighborX="-7038" custLinFactNeighborY="29485">
        <dgm:presLayoutVars>
          <dgm:chMax val="0"/>
          <dgm:chPref val="0"/>
          <dgm:bulletEnabled val="1"/>
        </dgm:presLayoutVars>
      </dgm:prSet>
      <dgm:spPr/>
    </dgm:pt>
    <dgm:pt modelId="{05E28982-893B-4C61-823A-58A61D1B4BB9}" type="pres">
      <dgm:prSet presAssocID="{6C7DEA98-7845-48FE-8069-5736EA850B89}" presName="desTx" presStyleLbl="alignAccFollowNode1" presStyleIdx="2" presStyleCnt="3" custScaleX="100814" custScaleY="75132" custLinFactNeighborX="-6950" custLinFactNeighborY="9660">
        <dgm:presLayoutVars>
          <dgm:bulletEnabled val="1"/>
        </dgm:presLayoutVars>
      </dgm:prSet>
      <dgm:spPr/>
    </dgm:pt>
  </dgm:ptLst>
  <dgm:cxnLst>
    <dgm:cxn modelId="{946C5613-029C-4744-8AC1-DA281C253C06}" type="presOf" srcId="{52B411A7-5B34-4BC9-A919-8CEDAA785A86}" destId="{05E28982-893B-4C61-823A-58A61D1B4BB9}" srcOrd="0" destOrd="0" presId="urn:microsoft.com/office/officeart/2005/8/layout/hList1"/>
    <dgm:cxn modelId="{F753F11B-03AC-45DF-81EC-E7ABA81A1F86}" type="presOf" srcId="{6C7DEA98-7845-48FE-8069-5736EA850B89}" destId="{7D1AFAEF-5219-4286-B125-BA4267B5407B}" srcOrd="0" destOrd="0" presId="urn:microsoft.com/office/officeart/2005/8/layout/hList1"/>
    <dgm:cxn modelId="{75D86F2F-8631-4C23-8214-D1B8F69CBDA9}" srcId="{8DCD1A35-C26A-4D89-97C3-977CBCE11D4D}" destId="{77AEE263-DB36-4D01-8926-4AD40C5E0D01}" srcOrd="1" destOrd="0" parTransId="{AC6B45D9-17BA-4801-8AB5-0FF646BB44E2}" sibTransId="{72B5D621-7360-43D8-841A-5E82C4527D91}"/>
    <dgm:cxn modelId="{FD11AF34-9750-416B-984A-88B5EC6B4D2F}" type="presOf" srcId="{80858A80-C352-4066-88FF-B7A439BB8F1D}" destId="{7C047334-2B51-433B-A345-752181CDD448}" srcOrd="0" destOrd="0" presId="urn:microsoft.com/office/officeart/2005/8/layout/hList1"/>
    <dgm:cxn modelId="{9221024C-B9C0-4C63-A573-9202337B5757}" type="presOf" srcId="{77AEE263-DB36-4D01-8926-4AD40C5E0D01}" destId="{3CA8BD00-E747-40BD-8420-1CF677862111}" srcOrd="0" destOrd="0" presId="urn:microsoft.com/office/officeart/2005/8/layout/hList1"/>
    <dgm:cxn modelId="{B16C544C-1F06-4024-AB8D-50A8F05DC58F}" srcId="{8DCD1A35-C26A-4D89-97C3-977CBCE11D4D}" destId="{6C7DEA98-7845-48FE-8069-5736EA850B89}" srcOrd="2" destOrd="0" parTransId="{18582931-D77E-42DD-B073-4FF5159C7564}" sibTransId="{412925E7-966E-4EF5-A225-C1265BA805DE}"/>
    <dgm:cxn modelId="{248F8E4F-7527-4398-8431-AD08C4A844F6}" type="presOf" srcId="{9052D6FC-76BE-497E-8724-5C822FAE8B54}" destId="{580E10BA-DE38-4D04-B954-A786B3677166}" srcOrd="0" destOrd="0" presId="urn:microsoft.com/office/officeart/2005/8/layout/hList1"/>
    <dgm:cxn modelId="{563ED27E-874C-47B7-8F9C-81747B03D2BC}" srcId="{6C7DEA98-7845-48FE-8069-5736EA850B89}" destId="{52B411A7-5B34-4BC9-A919-8CEDAA785A86}" srcOrd="0" destOrd="0" parTransId="{61929ABB-2DF9-4BFF-8D77-1D21A0B82E18}" sibTransId="{94DE236E-1069-4BC9-B9F1-53C69A6B371D}"/>
    <dgm:cxn modelId="{7B9A4089-C03A-4FAC-835D-E00EBE6FD625}" type="presOf" srcId="{8DCD1A35-C26A-4D89-97C3-977CBCE11D4D}" destId="{9EF05852-47F8-45A5-8BEF-591876719281}" srcOrd="0" destOrd="0" presId="urn:microsoft.com/office/officeart/2005/8/layout/hList1"/>
    <dgm:cxn modelId="{CD026EAC-FE89-4AA3-B4FF-1192AC48EF83}" srcId="{77AEE263-DB36-4D01-8926-4AD40C5E0D01}" destId="{FFADD9CA-36B6-4BD2-8A85-2D3E2AC56ACD}" srcOrd="0" destOrd="0" parTransId="{45669769-8534-4BFA-847B-43D1FD6969F9}" sibTransId="{2AC4BAF3-3E43-4429-9EE4-9C660CE444FF}"/>
    <dgm:cxn modelId="{BE87F0C2-F600-492C-801B-A5E452F1B0D2}" srcId="{8DCD1A35-C26A-4D89-97C3-977CBCE11D4D}" destId="{9052D6FC-76BE-497E-8724-5C822FAE8B54}" srcOrd="0" destOrd="0" parTransId="{24F81957-41D8-4C68-9557-BE1A46056F8D}" sibTransId="{0B6E91B7-91F6-413B-A641-936B4CA05CAD}"/>
    <dgm:cxn modelId="{A061BEC7-C14A-461D-9938-F07883D9CF05}" type="presOf" srcId="{FFADD9CA-36B6-4BD2-8A85-2D3E2AC56ACD}" destId="{462B8045-315F-4545-9541-531F9440A375}" srcOrd="0" destOrd="0" presId="urn:microsoft.com/office/officeart/2005/8/layout/hList1"/>
    <dgm:cxn modelId="{A81DF0D4-605A-48EF-901A-2FF98F7A4060}" srcId="{9052D6FC-76BE-497E-8724-5C822FAE8B54}" destId="{80858A80-C352-4066-88FF-B7A439BB8F1D}" srcOrd="0" destOrd="0" parTransId="{02ED4833-4FB8-4D02-A7EC-29F065E83D85}" sibTransId="{2ABC938F-C4C0-4C63-B60A-74DDF1718ACC}"/>
    <dgm:cxn modelId="{D1DD43EC-3325-40F6-AB5A-2BF433F2C2D8}" type="presParOf" srcId="{9EF05852-47F8-45A5-8BEF-591876719281}" destId="{561017FD-7F5C-456B-A144-DB1D1DB1FEF8}" srcOrd="0" destOrd="0" presId="urn:microsoft.com/office/officeart/2005/8/layout/hList1"/>
    <dgm:cxn modelId="{A16C2348-B3BA-4DC1-9BF4-8380C3FA098D}" type="presParOf" srcId="{561017FD-7F5C-456B-A144-DB1D1DB1FEF8}" destId="{580E10BA-DE38-4D04-B954-A786B3677166}" srcOrd="0" destOrd="0" presId="urn:microsoft.com/office/officeart/2005/8/layout/hList1"/>
    <dgm:cxn modelId="{F44077EB-06E3-4B3A-B5B8-335E08C77494}" type="presParOf" srcId="{561017FD-7F5C-456B-A144-DB1D1DB1FEF8}" destId="{7C047334-2B51-433B-A345-752181CDD448}" srcOrd="1" destOrd="0" presId="urn:microsoft.com/office/officeart/2005/8/layout/hList1"/>
    <dgm:cxn modelId="{89C36DC4-C150-4142-9FC1-C089A46C8101}" type="presParOf" srcId="{9EF05852-47F8-45A5-8BEF-591876719281}" destId="{C521FC26-9EC7-4DA9-BAF7-DBF9FD7DC1A7}" srcOrd="1" destOrd="0" presId="urn:microsoft.com/office/officeart/2005/8/layout/hList1"/>
    <dgm:cxn modelId="{78C23172-3C37-4C9B-9B58-74C70CA1EE8E}" type="presParOf" srcId="{9EF05852-47F8-45A5-8BEF-591876719281}" destId="{6B24BAA6-7003-441D-8E69-37618C0CF5CB}" srcOrd="2" destOrd="0" presId="urn:microsoft.com/office/officeart/2005/8/layout/hList1"/>
    <dgm:cxn modelId="{C70AF64D-4FDD-4AF9-BCBC-BA0B4B417C17}" type="presParOf" srcId="{6B24BAA6-7003-441D-8E69-37618C0CF5CB}" destId="{3CA8BD00-E747-40BD-8420-1CF677862111}" srcOrd="0" destOrd="0" presId="urn:microsoft.com/office/officeart/2005/8/layout/hList1"/>
    <dgm:cxn modelId="{3E1C963D-4D76-48D3-BCFA-7D41C8E2BD3E}" type="presParOf" srcId="{6B24BAA6-7003-441D-8E69-37618C0CF5CB}" destId="{462B8045-315F-4545-9541-531F9440A375}" srcOrd="1" destOrd="0" presId="urn:microsoft.com/office/officeart/2005/8/layout/hList1"/>
    <dgm:cxn modelId="{1D45C4FC-BF5E-4CA7-B13D-81EB97615FEA}" type="presParOf" srcId="{9EF05852-47F8-45A5-8BEF-591876719281}" destId="{D849CD76-F6F1-45C5-9229-CAACEF0FFC09}" srcOrd="3" destOrd="0" presId="urn:microsoft.com/office/officeart/2005/8/layout/hList1"/>
    <dgm:cxn modelId="{29A1AA1E-4F5A-4DC5-AE4C-21E5B9AA6A35}" type="presParOf" srcId="{9EF05852-47F8-45A5-8BEF-591876719281}" destId="{C2D52CF7-74AB-43D7-A136-2F6B3838A897}" srcOrd="4" destOrd="0" presId="urn:microsoft.com/office/officeart/2005/8/layout/hList1"/>
    <dgm:cxn modelId="{3B0116B8-6599-4439-8C6B-036C871410EF}" type="presParOf" srcId="{C2D52CF7-74AB-43D7-A136-2F6B3838A897}" destId="{7D1AFAEF-5219-4286-B125-BA4267B5407B}" srcOrd="0" destOrd="0" presId="urn:microsoft.com/office/officeart/2005/8/layout/hList1"/>
    <dgm:cxn modelId="{5907DD66-C3E8-4AEC-BE3E-21FEBDB3DABF}" type="presParOf" srcId="{C2D52CF7-74AB-43D7-A136-2F6B3838A897}" destId="{05E28982-893B-4C61-823A-58A61D1B4BB9}"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2A9C0A1-F958-4FB3-876F-8540B6CAE375}" type="doc">
      <dgm:prSet loTypeId="urn:microsoft.com/office/officeart/2024/layout/VerticalActionList#4" loCatId="list" qsTypeId="urn:microsoft.com/office/officeart/2005/8/quickstyle/simple1#22" qsCatId="simple" csTypeId="urn:microsoft.com/office/officeart/2005/8/colors/colorful2#4" csCatId="colorful" phldr="1"/>
      <dgm:spPr/>
      <dgm:t>
        <a:bodyPr/>
        <a:lstStyle/>
        <a:p>
          <a:endParaRPr lang="zh-CN" altLang="en-US"/>
        </a:p>
      </dgm:t>
    </dgm:pt>
    <dgm:pt modelId="{368BAB48-7FA9-455F-835E-968E0E8E9765}">
      <dgm:prSet phldrT="[文本]" custT="1"/>
      <dgm:spPr/>
      <dgm:t>
        <a:bodyPr/>
        <a:lstStyle/>
        <a:p>
          <a:r>
            <a:rPr lang="zh-CN" altLang="en-US" sz="1600" dirty="0">
              <a:latin typeface="微软雅黑" panose="020B0503020204020204" pitchFamily="34" charset="-122"/>
              <a:ea typeface="微软雅黑" panose="020B0503020204020204" pitchFamily="34" charset="-122"/>
            </a:rPr>
            <a:t>主要评价数据来源、处理流程、标注主体、质控结果、版本变更和使用记录等是否完整，重点关注数据集是否具备问题追溯、质量复核、版本回溯和持续迭代能力。</a:t>
          </a:r>
          <a:endParaRPr lang="zh-CN" altLang="en-US" sz="1600" dirty="0"/>
        </a:p>
      </dgm:t>
    </dgm:pt>
    <dgm:pt modelId="{0841B73E-5A0D-42C7-A33C-CA7F64ADDAE0}">
      <dgm:prSet phldrT="[文本]"/>
      <dgm:spPr/>
      <dgm:t>
        <a:bodyPr/>
        <a:lstStyle/>
        <a:p>
          <a:pPr algn="ctr">
            <a:buFont typeface="Wingdings" panose="05000000000000000000" pitchFamily="2" charset="2"/>
            <a:buChar char="Ø"/>
          </a:pPr>
          <a:r>
            <a:rPr lang="zh-CN" altLang="en-US" b="1" dirty="0">
              <a:solidFill>
                <a:schemeClr val="bg1"/>
              </a:solidFill>
              <a:latin typeface="微软雅黑" panose="020B0503020204020204" pitchFamily="34" charset="-122"/>
              <a:ea typeface="微软雅黑" panose="020B0503020204020204" pitchFamily="34" charset="-122"/>
            </a:rPr>
            <a:t>全生命周期可追溯质量</a:t>
          </a:r>
          <a:endParaRPr lang="zh-CN" altLang="en-US" dirty="0">
            <a:solidFill>
              <a:schemeClr val="bg1"/>
            </a:solidFill>
          </a:endParaRPr>
        </a:p>
      </dgm:t>
    </dgm:pt>
    <dgm:pt modelId="{407EB64C-40FF-4643-807E-746EF2B9EBE1}" type="sibTrans" cxnId="{ACB07BBF-A834-4863-8F3A-C50B2EE407F3}">
      <dgm:prSet/>
      <dgm:spPr/>
      <dgm:t>
        <a:bodyPr/>
        <a:lstStyle/>
        <a:p>
          <a:endParaRPr lang="zh-CN" altLang="en-US"/>
        </a:p>
      </dgm:t>
    </dgm:pt>
    <dgm:pt modelId="{BCECB928-76E1-4A25-BD8F-E43B30F2A5C2}" type="parTrans" cxnId="{ACB07BBF-A834-4863-8F3A-C50B2EE407F3}">
      <dgm:prSet/>
      <dgm:spPr/>
      <dgm:t>
        <a:bodyPr/>
        <a:lstStyle/>
        <a:p>
          <a:endParaRPr lang="zh-CN" altLang="en-US"/>
        </a:p>
      </dgm:t>
    </dgm:pt>
    <dgm:pt modelId="{5989C807-F191-49FA-96C6-922478362F00}" type="sibTrans" cxnId="{EDB700DC-6C44-4434-A63C-E956CEC941ED}">
      <dgm:prSet/>
      <dgm:spPr/>
      <dgm:t>
        <a:bodyPr/>
        <a:lstStyle/>
        <a:p>
          <a:endParaRPr lang="zh-CN" altLang="en-US"/>
        </a:p>
      </dgm:t>
    </dgm:pt>
    <dgm:pt modelId="{5930E890-2337-4017-A1F2-0858D5E5A6F4}" type="parTrans" cxnId="{EDB700DC-6C44-4434-A63C-E956CEC941ED}">
      <dgm:prSet/>
      <dgm:spPr/>
      <dgm:t>
        <a:bodyPr/>
        <a:lstStyle/>
        <a:p>
          <a:endParaRPr lang="zh-CN" altLang="en-US"/>
        </a:p>
      </dgm:t>
    </dgm:pt>
    <dgm:pt modelId="{11EEF0DB-9DA8-4872-B4B1-896ADD1EF634}">
      <dgm:prSet phldrT="[文本]" custT="1"/>
      <dgm:spPr/>
      <dgm:t>
        <a:bodyPr/>
        <a:lstStyle/>
        <a:p>
          <a:r>
            <a:rPr lang="zh-CN" altLang="en-US" sz="1600" dirty="0">
              <a:latin typeface="微软雅黑" panose="020B0503020204020204" pitchFamily="34" charset="-122"/>
              <a:ea typeface="微软雅黑" panose="020B0503020204020204" pitchFamily="34" charset="-122"/>
            </a:rPr>
            <a:t>主要评价数据采集、存储、加工、标注、共享、流通、使用、销毁等过程是否符合网络安全、数据安全、个人信息保护、医疗伦理和知识产权等相关要求，重点关注数据授权、隐私保护、脱敏处理、访问控制和安全审计等。</a:t>
          </a:r>
          <a:endParaRPr lang="zh-CN" altLang="en-US" sz="1600" dirty="0"/>
        </a:p>
      </dgm:t>
    </dgm:pt>
    <dgm:pt modelId="{204AAAC9-33B6-46FE-BE8A-4EB0ABF174CC}">
      <dgm:prSet phldrT="[文本]"/>
      <dgm:spPr/>
      <dgm:t>
        <a:bodyPr/>
        <a:lstStyle/>
        <a:p>
          <a:pPr algn="ctr">
            <a:buFont typeface="Wingdings" panose="05000000000000000000" pitchFamily="2" charset="2"/>
            <a:buChar char="Ø"/>
          </a:pPr>
          <a:r>
            <a:rPr lang="zh-CN" altLang="en-US" b="1" dirty="0">
              <a:solidFill>
                <a:schemeClr val="bg1"/>
              </a:solidFill>
              <a:latin typeface="微软雅黑" panose="020B0503020204020204" pitchFamily="34" charset="-122"/>
              <a:ea typeface="微软雅黑" panose="020B0503020204020204" pitchFamily="34" charset="-122"/>
            </a:rPr>
            <a:t>安全合规质量</a:t>
          </a:r>
          <a:endParaRPr lang="zh-CN" altLang="en-US" dirty="0">
            <a:solidFill>
              <a:schemeClr val="bg1"/>
            </a:solidFill>
          </a:endParaRPr>
        </a:p>
      </dgm:t>
    </dgm:pt>
    <dgm:pt modelId="{DBBC39F2-2779-4A0F-8B9A-690ACFC046A9}" type="sibTrans" cxnId="{D97D3E9C-CAAD-4AD3-93EF-B23EA073226C}">
      <dgm:prSet/>
      <dgm:spPr/>
      <dgm:t>
        <a:bodyPr/>
        <a:lstStyle/>
        <a:p>
          <a:endParaRPr lang="zh-CN" altLang="en-US"/>
        </a:p>
      </dgm:t>
    </dgm:pt>
    <dgm:pt modelId="{93967CB2-7C83-453D-BF33-2770CB99A50C}" type="parTrans" cxnId="{D97D3E9C-CAAD-4AD3-93EF-B23EA073226C}">
      <dgm:prSet/>
      <dgm:spPr/>
      <dgm:t>
        <a:bodyPr/>
        <a:lstStyle/>
        <a:p>
          <a:endParaRPr lang="zh-CN" altLang="en-US"/>
        </a:p>
      </dgm:t>
    </dgm:pt>
    <dgm:pt modelId="{AE45E28A-FDC9-4F99-9D48-EBC56E3ABA5E}" type="sibTrans" cxnId="{1B57DFAE-F671-4F17-AFC4-C69FDEC689D1}">
      <dgm:prSet/>
      <dgm:spPr/>
      <dgm:t>
        <a:bodyPr/>
        <a:lstStyle/>
        <a:p>
          <a:endParaRPr lang="zh-CN" altLang="en-US"/>
        </a:p>
      </dgm:t>
    </dgm:pt>
    <dgm:pt modelId="{59121083-4FCF-4440-8DF8-168EDE4726DF}" type="parTrans" cxnId="{1B57DFAE-F671-4F17-AFC4-C69FDEC689D1}">
      <dgm:prSet/>
      <dgm:spPr/>
      <dgm:t>
        <a:bodyPr/>
        <a:lstStyle/>
        <a:p>
          <a:endParaRPr lang="zh-CN" altLang="en-US"/>
        </a:p>
      </dgm:t>
    </dgm:pt>
    <dgm:pt modelId="{E4B6A0AD-933E-4776-82E7-FDE89CA3ACE4}">
      <dgm:prSet phldrT="[文本]" custT="1"/>
      <dgm:spPr/>
      <dgm:t>
        <a:bodyPr/>
        <a:lstStyle/>
        <a:p>
          <a:r>
            <a:rPr lang="zh-CN" altLang="en-US" sz="1600" dirty="0">
              <a:latin typeface="微软雅黑" panose="020B0503020204020204" pitchFamily="34" charset="-122"/>
              <a:ea typeface="微软雅黑" panose="020B0503020204020204" pitchFamily="34" charset="-122"/>
            </a:rPr>
            <a:t>主要评价数据集是否能够有效支撑模型训练、验证、评测和应用开发，重点关注任务定义、输入输出结构、标签体系、样本分布、数据划分、模型验证和数据泄露防控等。</a:t>
          </a:r>
          <a:endParaRPr lang="zh-CN" altLang="en-US" sz="1600" dirty="0"/>
        </a:p>
      </dgm:t>
    </dgm:pt>
    <dgm:pt modelId="{20DD952A-CC96-4AA3-A66C-7F25265A9E0F}">
      <dgm:prSet phldrT="[文本]"/>
      <dgm:spPr/>
      <dgm:t>
        <a:bodyPr/>
        <a:lstStyle/>
        <a:p>
          <a:pPr algn="ctr">
            <a:buFont typeface="Wingdings" panose="05000000000000000000" pitchFamily="2" charset="2"/>
            <a:buChar char="Ø"/>
          </a:pPr>
          <a:r>
            <a:rPr lang="en-US" altLang="zh-CN" b="1" dirty="0">
              <a:solidFill>
                <a:schemeClr val="bg1"/>
              </a:solidFill>
              <a:latin typeface="微软雅黑" panose="020B0503020204020204" pitchFamily="34" charset="-122"/>
              <a:ea typeface="微软雅黑" panose="020B0503020204020204" pitchFamily="34" charset="-122"/>
            </a:rPr>
            <a:t>AI</a:t>
          </a:r>
          <a:r>
            <a:rPr lang="zh-CN" altLang="en-US" b="1" dirty="0">
              <a:solidFill>
                <a:schemeClr val="bg1"/>
              </a:solidFill>
              <a:latin typeface="微软雅黑" panose="020B0503020204020204" pitchFamily="34" charset="-122"/>
              <a:ea typeface="微软雅黑" panose="020B0503020204020204" pitchFamily="34" charset="-122"/>
            </a:rPr>
            <a:t>适配质量</a:t>
          </a:r>
          <a:endParaRPr lang="zh-CN" altLang="en-US" dirty="0">
            <a:solidFill>
              <a:schemeClr val="bg1"/>
            </a:solidFill>
          </a:endParaRPr>
        </a:p>
      </dgm:t>
    </dgm:pt>
    <dgm:pt modelId="{6F075C83-A4FC-4CD4-9631-6A83429F3222}" type="sibTrans" cxnId="{0639343B-9AFA-40FF-8EDF-B6FEB492D7C2}">
      <dgm:prSet/>
      <dgm:spPr/>
      <dgm:t>
        <a:bodyPr/>
        <a:lstStyle/>
        <a:p>
          <a:endParaRPr lang="zh-CN" altLang="en-US"/>
        </a:p>
      </dgm:t>
    </dgm:pt>
    <dgm:pt modelId="{CD527D59-B3CA-4779-8B0C-904800FB2DCA}" type="parTrans" cxnId="{0639343B-9AFA-40FF-8EDF-B6FEB492D7C2}">
      <dgm:prSet/>
      <dgm:spPr/>
      <dgm:t>
        <a:bodyPr/>
        <a:lstStyle/>
        <a:p>
          <a:endParaRPr lang="zh-CN" altLang="en-US"/>
        </a:p>
      </dgm:t>
    </dgm:pt>
    <dgm:pt modelId="{23A6F00C-333A-4412-A7D1-C5327B921989}" type="sibTrans" cxnId="{D82FC5B7-C8CA-4F62-A74B-A1962488BF02}">
      <dgm:prSet/>
      <dgm:spPr/>
      <dgm:t>
        <a:bodyPr/>
        <a:lstStyle/>
        <a:p>
          <a:endParaRPr lang="zh-CN" altLang="en-US"/>
        </a:p>
      </dgm:t>
    </dgm:pt>
    <dgm:pt modelId="{D49A0338-8BFB-451F-87B0-0955635D887B}" type="parTrans" cxnId="{D82FC5B7-C8CA-4F62-A74B-A1962488BF02}">
      <dgm:prSet/>
      <dgm:spPr/>
      <dgm:t>
        <a:bodyPr/>
        <a:lstStyle/>
        <a:p>
          <a:endParaRPr lang="zh-CN" altLang="en-US"/>
        </a:p>
      </dgm:t>
    </dgm:pt>
    <dgm:pt modelId="{49B7D623-7062-4F38-9D40-4AD3FB9C5DD2}">
      <dgm:prSet phldrT="[文本]" custT="1"/>
      <dgm:spPr/>
      <dgm:t>
        <a:bodyPr/>
        <a:lstStyle/>
        <a:p>
          <a:r>
            <a:rPr lang="zh-CN" altLang="en-US" sz="1600" i="0" dirty="0">
              <a:solidFill>
                <a:srgbClr val="000000"/>
              </a:solidFill>
              <a:effectLst/>
              <a:latin typeface="微软雅黑" panose="020B0503020204020204" pitchFamily="34" charset="-122"/>
              <a:ea typeface="微软雅黑" panose="020B0503020204020204" pitchFamily="34" charset="-122"/>
            </a:rPr>
            <a:t>主要评价数据集是否能够准确表达中医药理论语义、知识关联和实践逻辑，重点关注中医药术语表达、四诊信息、证候病机、治法方药、疗效转归等关键内容的规范性、完整性和逻辑一致性。</a:t>
          </a:r>
          <a:endParaRPr lang="zh-CN" altLang="en-US" sz="1600" dirty="0"/>
        </a:p>
      </dgm:t>
    </dgm:pt>
    <dgm:pt modelId="{0C86D541-89BC-4FF3-B021-A4779A7B8D32}">
      <dgm:prSet phldrT="[文本]"/>
      <dgm:spPr/>
      <dgm:t>
        <a:bodyPr/>
        <a:lstStyle/>
        <a:p>
          <a:pPr algn="ctr">
            <a:buFont typeface="Wingdings" panose="05000000000000000000" pitchFamily="2" charset="2"/>
            <a:buChar char="Ø"/>
          </a:pPr>
          <a:r>
            <a:rPr lang="zh-CN" altLang="en-US" b="1" i="0" dirty="0">
              <a:solidFill>
                <a:schemeClr val="bg1"/>
              </a:solidFill>
              <a:effectLst/>
              <a:latin typeface="微软雅黑" panose="020B0503020204020204" pitchFamily="34" charset="-122"/>
              <a:ea typeface="微软雅黑" panose="020B0503020204020204" pitchFamily="34" charset="-122"/>
            </a:rPr>
            <a:t>中医药特色质量</a:t>
          </a:r>
          <a:endParaRPr lang="zh-CN" altLang="en-US" dirty="0">
            <a:solidFill>
              <a:schemeClr val="bg1"/>
            </a:solidFill>
          </a:endParaRPr>
        </a:p>
      </dgm:t>
    </dgm:pt>
    <dgm:pt modelId="{9946C564-8451-46F6-83E5-02126E5E437B}" type="sibTrans" cxnId="{F1AB7B25-1907-489A-963B-76D50A4CF7CD}">
      <dgm:prSet/>
      <dgm:spPr/>
      <dgm:t>
        <a:bodyPr/>
        <a:lstStyle/>
        <a:p>
          <a:endParaRPr lang="zh-CN" altLang="en-US"/>
        </a:p>
      </dgm:t>
    </dgm:pt>
    <dgm:pt modelId="{51201507-A1C1-461D-ACB3-EFAF2A01C609}" type="parTrans" cxnId="{F1AB7B25-1907-489A-963B-76D50A4CF7CD}">
      <dgm:prSet/>
      <dgm:spPr/>
      <dgm:t>
        <a:bodyPr/>
        <a:lstStyle/>
        <a:p>
          <a:endParaRPr lang="zh-CN" altLang="en-US"/>
        </a:p>
      </dgm:t>
    </dgm:pt>
    <dgm:pt modelId="{0C3FB4F6-7ABF-40E8-8B7F-F2358C8BE76B}" type="sibTrans" cxnId="{2F96E4DC-A523-4BC0-8972-C136B9C9FEA4}">
      <dgm:prSet/>
      <dgm:spPr/>
      <dgm:t>
        <a:bodyPr/>
        <a:lstStyle/>
        <a:p>
          <a:endParaRPr lang="zh-CN" altLang="en-US"/>
        </a:p>
      </dgm:t>
    </dgm:pt>
    <dgm:pt modelId="{2116F214-974B-4FBD-9078-206031127E1C}" type="parTrans" cxnId="{2F96E4DC-A523-4BC0-8972-C136B9C9FEA4}">
      <dgm:prSet/>
      <dgm:spPr/>
      <dgm:t>
        <a:bodyPr/>
        <a:lstStyle/>
        <a:p>
          <a:endParaRPr lang="zh-CN" altLang="en-US"/>
        </a:p>
      </dgm:t>
    </dgm:pt>
    <dgm:pt modelId="{1FDE87FA-259D-4CD4-BD9D-15C91C43D291}">
      <dgm:prSet phldrT="[文本]"/>
      <dgm:spPr/>
      <dgm:t>
        <a:bodyPr/>
        <a:lstStyle/>
        <a:p>
          <a:r>
            <a:rPr lang="zh-CN" altLang="en-US" i="0" dirty="0">
              <a:solidFill>
                <a:srgbClr val="000000"/>
              </a:solidFill>
              <a:effectLst/>
              <a:latin typeface="微软雅黑" panose="020B0503020204020204" pitchFamily="34" charset="-122"/>
              <a:ea typeface="微软雅黑" panose="020B0503020204020204" pitchFamily="34" charset="-122"/>
            </a:rPr>
            <a:t>主要评价数据的完整性、准确性、一致性、规范性、时效性、代表性，重点关注数据内容是否真实可靠、结构是否规范统一、样本是否能够覆盖目标任务与应用场景的核心需求。</a:t>
          </a:r>
          <a:endParaRPr lang="zh-CN" altLang="en-US" dirty="0"/>
        </a:p>
      </dgm:t>
    </dgm:pt>
    <dgm:pt modelId="{68EB4CFB-1DC4-45B1-8962-210E5683AA1F}">
      <dgm:prSet phldrT="[文本]"/>
      <dgm:spPr/>
      <dgm:t>
        <a:bodyPr/>
        <a:lstStyle/>
        <a:p>
          <a:pPr algn="ctr">
            <a:buFont typeface="Wingdings" panose="05000000000000000000" pitchFamily="2" charset="2"/>
            <a:buChar char="Ø"/>
          </a:pPr>
          <a:r>
            <a:rPr lang="zh-CN" altLang="en-US" b="1" i="0" dirty="0">
              <a:solidFill>
                <a:schemeClr val="bg1"/>
              </a:solidFill>
              <a:effectLst/>
              <a:latin typeface="微软雅黑" panose="020B0503020204020204" pitchFamily="34" charset="-122"/>
              <a:ea typeface="微软雅黑" panose="020B0503020204020204" pitchFamily="34" charset="-122"/>
            </a:rPr>
            <a:t>通用数据质量</a:t>
          </a:r>
          <a:endParaRPr lang="zh-CN" altLang="en-US" dirty="0">
            <a:solidFill>
              <a:schemeClr val="bg1"/>
            </a:solidFill>
          </a:endParaRPr>
        </a:p>
      </dgm:t>
    </dgm:pt>
    <dgm:pt modelId="{C2FAB4F3-16F0-4B4F-940E-64317BFB4610}" type="sibTrans" cxnId="{316CF7A1-D60F-40B0-AB3F-1BEC8C7A5D99}">
      <dgm:prSet/>
      <dgm:spPr/>
      <dgm:t>
        <a:bodyPr/>
        <a:lstStyle/>
        <a:p>
          <a:endParaRPr lang="zh-CN" altLang="en-US"/>
        </a:p>
      </dgm:t>
    </dgm:pt>
    <dgm:pt modelId="{B45BAA14-08FC-40B3-80D7-1A6D6A82883F}" type="parTrans" cxnId="{316CF7A1-D60F-40B0-AB3F-1BEC8C7A5D99}">
      <dgm:prSet/>
      <dgm:spPr/>
      <dgm:t>
        <a:bodyPr/>
        <a:lstStyle/>
        <a:p>
          <a:endParaRPr lang="zh-CN" altLang="en-US"/>
        </a:p>
      </dgm:t>
    </dgm:pt>
    <dgm:pt modelId="{61BAC955-68D5-4D3D-9F43-91DE57184FC8}" type="sibTrans" cxnId="{C5FE9915-2CD0-4F64-A210-3C86FCF87863}">
      <dgm:prSet/>
      <dgm:spPr/>
      <dgm:t>
        <a:bodyPr/>
        <a:lstStyle/>
        <a:p>
          <a:endParaRPr lang="zh-CN" altLang="en-US"/>
        </a:p>
      </dgm:t>
    </dgm:pt>
    <dgm:pt modelId="{09C4F818-424E-49F4-9025-7E1B4A0A79D6}" type="parTrans" cxnId="{C5FE9915-2CD0-4F64-A210-3C86FCF87863}">
      <dgm:prSet/>
      <dgm:spPr/>
      <dgm:t>
        <a:bodyPr/>
        <a:lstStyle/>
        <a:p>
          <a:endParaRPr lang="zh-CN" altLang="en-US"/>
        </a:p>
      </dgm:t>
    </dgm:pt>
    <dgm:pt modelId="{1A86B4E9-60CA-4363-AE63-5AFF38EFE7E9}" type="pres">
      <dgm:prSet presAssocID="{62A9C0A1-F958-4FB3-876F-8540B6CAE375}" presName="Name0" presStyleCnt="0">
        <dgm:presLayoutVars>
          <dgm:dir/>
          <dgm:animLvl val="lvl"/>
          <dgm:resizeHandles val="exact"/>
        </dgm:presLayoutVars>
      </dgm:prSet>
      <dgm:spPr/>
    </dgm:pt>
    <dgm:pt modelId="{B85C4901-B390-40D4-8C8A-EA17A076D2AA}" type="pres">
      <dgm:prSet presAssocID="{68EB4CFB-1DC4-45B1-8962-210E5683AA1F}" presName="linNode" presStyleCnt="0"/>
      <dgm:spPr/>
    </dgm:pt>
    <dgm:pt modelId="{AB1615CE-91B5-4E2B-A3FF-D298F9AE4D4E}" type="pres">
      <dgm:prSet presAssocID="{68EB4CFB-1DC4-45B1-8962-210E5683AA1F}" presName="bgOutline" presStyleLbl="fgAcc1" presStyleIdx="0" presStyleCnt="5"/>
      <dgm:spPr/>
    </dgm:pt>
    <dgm:pt modelId="{685667C4-1611-4B5E-B101-3C275BDB9181}" type="pres">
      <dgm:prSet presAssocID="{68EB4CFB-1DC4-45B1-8962-210E5683AA1F}" presName="parentText" presStyleLbl="alignNode1" presStyleIdx="0" presStyleCnt="5">
        <dgm:presLayoutVars>
          <dgm:chMax val="1"/>
          <dgm:bulletEnabled/>
        </dgm:presLayoutVars>
      </dgm:prSet>
      <dgm:spPr/>
    </dgm:pt>
    <dgm:pt modelId="{B507F783-0231-48F1-BA84-4EE418EBB801}" type="pres">
      <dgm:prSet presAssocID="{68EB4CFB-1DC4-45B1-8962-210E5683AA1F}" presName="descendantText" presStyleLbl="revTx" presStyleIdx="0" presStyleCnt="0">
        <dgm:presLayoutVars>
          <dgm:bulletEnabled/>
        </dgm:presLayoutVars>
      </dgm:prSet>
      <dgm:spPr/>
    </dgm:pt>
    <dgm:pt modelId="{23FA3520-5543-4145-AA5A-FB637C6B083A}" type="pres">
      <dgm:prSet presAssocID="{C2FAB4F3-16F0-4B4F-940E-64317BFB4610}" presName="sp" presStyleCnt="0"/>
      <dgm:spPr/>
    </dgm:pt>
    <dgm:pt modelId="{1B2B0BBC-7625-41CE-8FBC-6AEFC683BFBD}" type="pres">
      <dgm:prSet presAssocID="{0C86D541-89BC-4FF3-B021-A4779A7B8D32}" presName="linNode" presStyleCnt="0"/>
      <dgm:spPr/>
    </dgm:pt>
    <dgm:pt modelId="{D61E1D77-D1E9-40D0-B06D-862D65E49D5D}" type="pres">
      <dgm:prSet presAssocID="{0C86D541-89BC-4FF3-B021-A4779A7B8D32}" presName="bgOutline" presStyleLbl="fgAcc1" presStyleIdx="1" presStyleCnt="5"/>
      <dgm:spPr/>
    </dgm:pt>
    <dgm:pt modelId="{47480B46-D973-4E3C-B7F1-22DA201B9204}" type="pres">
      <dgm:prSet presAssocID="{0C86D541-89BC-4FF3-B021-A4779A7B8D32}" presName="parentText" presStyleLbl="alignNode1" presStyleIdx="1" presStyleCnt="5">
        <dgm:presLayoutVars>
          <dgm:chMax val="1"/>
          <dgm:bulletEnabled/>
        </dgm:presLayoutVars>
      </dgm:prSet>
      <dgm:spPr/>
    </dgm:pt>
    <dgm:pt modelId="{AF0A1550-D846-4CE5-9603-F9AB9624FE55}" type="pres">
      <dgm:prSet presAssocID="{0C86D541-89BC-4FF3-B021-A4779A7B8D32}" presName="descendantText" presStyleLbl="revTx" presStyleIdx="0" presStyleCnt="0">
        <dgm:presLayoutVars>
          <dgm:bulletEnabled/>
        </dgm:presLayoutVars>
      </dgm:prSet>
      <dgm:spPr/>
    </dgm:pt>
    <dgm:pt modelId="{8B584DD9-00D3-47A6-AFCA-7453065E20F0}" type="pres">
      <dgm:prSet presAssocID="{9946C564-8451-46F6-83E5-02126E5E437B}" presName="sp" presStyleCnt="0"/>
      <dgm:spPr/>
    </dgm:pt>
    <dgm:pt modelId="{0AEACE7D-36F7-4009-96D9-E736DA9B5064}" type="pres">
      <dgm:prSet presAssocID="{20DD952A-CC96-4AA3-A66C-7F25265A9E0F}" presName="linNode" presStyleCnt="0"/>
      <dgm:spPr/>
    </dgm:pt>
    <dgm:pt modelId="{54FD755C-8E2F-4853-B173-E17E1B71F59C}" type="pres">
      <dgm:prSet presAssocID="{20DD952A-CC96-4AA3-A66C-7F25265A9E0F}" presName="bgOutline" presStyleLbl="fgAcc1" presStyleIdx="2" presStyleCnt="5"/>
      <dgm:spPr/>
    </dgm:pt>
    <dgm:pt modelId="{103873EF-3783-4A3B-AEA5-35DFADBC2AB7}" type="pres">
      <dgm:prSet presAssocID="{20DD952A-CC96-4AA3-A66C-7F25265A9E0F}" presName="parentText" presStyleLbl="alignNode1" presStyleIdx="2" presStyleCnt="5">
        <dgm:presLayoutVars>
          <dgm:chMax val="1"/>
          <dgm:bulletEnabled/>
        </dgm:presLayoutVars>
      </dgm:prSet>
      <dgm:spPr/>
    </dgm:pt>
    <dgm:pt modelId="{BDE760F3-EF22-404E-95E0-FEDC08E0CC4F}" type="pres">
      <dgm:prSet presAssocID="{20DD952A-CC96-4AA3-A66C-7F25265A9E0F}" presName="descendantText" presStyleLbl="revTx" presStyleIdx="0" presStyleCnt="0">
        <dgm:presLayoutVars>
          <dgm:bulletEnabled/>
        </dgm:presLayoutVars>
      </dgm:prSet>
      <dgm:spPr/>
    </dgm:pt>
    <dgm:pt modelId="{5640D92C-5A3C-448A-A1A2-A1D117B1BEF8}" type="pres">
      <dgm:prSet presAssocID="{6F075C83-A4FC-4CD4-9631-6A83429F3222}" presName="sp" presStyleCnt="0"/>
      <dgm:spPr/>
    </dgm:pt>
    <dgm:pt modelId="{C62C65C8-45CB-44E0-93ED-0F2C1A135492}" type="pres">
      <dgm:prSet presAssocID="{204AAAC9-33B6-46FE-BE8A-4EB0ABF174CC}" presName="linNode" presStyleCnt="0"/>
      <dgm:spPr/>
    </dgm:pt>
    <dgm:pt modelId="{4777B093-8FA8-46C0-B2DC-0C21CE04E2D1}" type="pres">
      <dgm:prSet presAssocID="{204AAAC9-33B6-46FE-BE8A-4EB0ABF174CC}" presName="bgOutline" presStyleLbl="fgAcc1" presStyleIdx="3" presStyleCnt="5"/>
      <dgm:spPr/>
    </dgm:pt>
    <dgm:pt modelId="{03184A24-E4FC-4C1E-9A54-FDBA181F7425}" type="pres">
      <dgm:prSet presAssocID="{204AAAC9-33B6-46FE-BE8A-4EB0ABF174CC}" presName="parentText" presStyleLbl="alignNode1" presStyleIdx="3" presStyleCnt="5">
        <dgm:presLayoutVars>
          <dgm:chMax val="1"/>
          <dgm:bulletEnabled/>
        </dgm:presLayoutVars>
      </dgm:prSet>
      <dgm:spPr/>
    </dgm:pt>
    <dgm:pt modelId="{3AE748B8-C218-40EA-A515-946CC6C4F8CF}" type="pres">
      <dgm:prSet presAssocID="{204AAAC9-33B6-46FE-BE8A-4EB0ABF174CC}" presName="descendantText" presStyleLbl="revTx" presStyleIdx="0" presStyleCnt="0">
        <dgm:presLayoutVars>
          <dgm:bulletEnabled/>
        </dgm:presLayoutVars>
      </dgm:prSet>
      <dgm:spPr/>
    </dgm:pt>
    <dgm:pt modelId="{FC6F45EB-9844-47B2-AB6B-E8E6B7A4659D}" type="pres">
      <dgm:prSet presAssocID="{DBBC39F2-2779-4A0F-8B9A-690ACFC046A9}" presName="sp" presStyleCnt="0"/>
      <dgm:spPr/>
    </dgm:pt>
    <dgm:pt modelId="{DA7AA13B-4D71-4730-A801-9A8BEAC69348}" type="pres">
      <dgm:prSet presAssocID="{0841B73E-5A0D-42C7-A33C-CA7F64ADDAE0}" presName="linNode" presStyleCnt="0"/>
      <dgm:spPr/>
    </dgm:pt>
    <dgm:pt modelId="{68CC06D1-9C7E-4ADC-88D5-8F542553C6EB}" type="pres">
      <dgm:prSet presAssocID="{0841B73E-5A0D-42C7-A33C-CA7F64ADDAE0}" presName="bgOutline" presStyleLbl="fgAcc1" presStyleIdx="4" presStyleCnt="5"/>
      <dgm:spPr/>
    </dgm:pt>
    <dgm:pt modelId="{4E8C9246-D96F-4667-9877-1DE5FDA9D93B}" type="pres">
      <dgm:prSet presAssocID="{0841B73E-5A0D-42C7-A33C-CA7F64ADDAE0}" presName="parentText" presStyleLbl="alignNode1" presStyleIdx="4" presStyleCnt="5">
        <dgm:presLayoutVars>
          <dgm:chMax val="1"/>
          <dgm:bulletEnabled/>
        </dgm:presLayoutVars>
      </dgm:prSet>
      <dgm:spPr/>
    </dgm:pt>
    <dgm:pt modelId="{82A0AFA2-74B3-425B-B56C-D64AF062C627}" type="pres">
      <dgm:prSet presAssocID="{0841B73E-5A0D-42C7-A33C-CA7F64ADDAE0}" presName="descendantText" presStyleLbl="revTx" presStyleIdx="0" presStyleCnt="0">
        <dgm:presLayoutVars>
          <dgm:bulletEnabled/>
        </dgm:presLayoutVars>
      </dgm:prSet>
      <dgm:spPr/>
    </dgm:pt>
  </dgm:ptLst>
  <dgm:cxnLst>
    <dgm:cxn modelId="{C5FE9915-2CD0-4F64-A210-3C86FCF87863}" srcId="{68EB4CFB-1DC4-45B1-8962-210E5683AA1F}" destId="{1FDE87FA-259D-4CD4-BD9D-15C91C43D291}" srcOrd="0" destOrd="0" parTransId="{09C4F818-424E-49F4-9025-7E1B4A0A79D6}" sibTransId="{61BAC955-68D5-4D3D-9F43-91DE57184FC8}"/>
    <dgm:cxn modelId="{F272BC1B-2D2E-49D0-BD6E-2F1E49160019}" type="presOf" srcId="{0C86D541-89BC-4FF3-B021-A4779A7B8D32}" destId="{D61E1D77-D1E9-40D0-B06D-862D65E49D5D}" srcOrd="0" destOrd="0" presId="urn:microsoft.com/office/officeart/2024/layout/VerticalActionList#4"/>
    <dgm:cxn modelId="{58DEF41D-9F6E-439E-8ADD-70D1E5F439F1}" type="presOf" srcId="{E4B6A0AD-933E-4776-82E7-FDE89CA3ACE4}" destId="{BDE760F3-EF22-404E-95E0-FEDC08E0CC4F}" srcOrd="0" destOrd="0" presId="urn:microsoft.com/office/officeart/2024/layout/VerticalActionList#4"/>
    <dgm:cxn modelId="{9CC29624-ACBA-41EA-A049-AEEB9D5891C4}" type="presOf" srcId="{204AAAC9-33B6-46FE-BE8A-4EB0ABF174CC}" destId="{03184A24-E4FC-4C1E-9A54-FDBA181F7425}" srcOrd="1" destOrd="0" presId="urn:microsoft.com/office/officeart/2024/layout/VerticalActionList#4"/>
    <dgm:cxn modelId="{F1AB7B25-1907-489A-963B-76D50A4CF7CD}" srcId="{62A9C0A1-F958-4FB3-876F-8540B6CAE375}" destId="{0C86D541-89BC-4FF3-B021-A4779A7B8D32}" srcOrd="1" destOrd="0" parTransId="{51201507-A1C1-461D-ACB3-EFAF2A01C609}" sibTransId="{9946C564-8451-46F6-83E5-02126E5E437B}"/>
    <dgm:cxn modelId="{1B9FB42A-DBD2-4346-8C2A-FD72CCA8C029}" type="presOf" srcId="{62A9C0A1-F958-4FB3-876F-8540B6CAE375}" destId="{1A86B4E9-60CA-4363-AE63-5AFF38EFE7E9}" srcOrd="0" destOrd="0" presId="urn:microsoft.com/office/officeart/2024/layout/VerticalActionList#4"/>
    <dgm:cxn modelId="{0639343B-9AFA-40FF-8EDF-B6FEB492D7C2}" srcId="{62A9C0A1-F958-4FB3-876F-8540B6CAE375}" destId="{20DD952A-CC96-4AA3-A66C-7F25265A9E0F}" srcOrd="2" destOrd="0" parTransId="{CD527D59-B3CA-4779-8B0C-904800FB2DCA}" sibTransId="{6F075C83-A4FC-4CD4-9631-6A83429F3222}"/>
    <dgm:cxn modelId="{C51BB94A-93DF-4AEB-8330-2B5F77884A6D}" type="presOf" srcId="{49B7D623-7062-4F38-9D40-4AD3FB9C5DD2}" destId="{AF0A1550-D846-4CE5-9603-F9AB9624FE55}" srcOrd="0" destOrd="0" presId="urn:microsoft.com/office/officeart/2024/layout/VerticalActionList#4"/>
    <dgm:cxn modelId="{1B409177-DEBB-4256-B2E9-723FC9F58580}" type="presOf" srcId="{204AAAC9-33B6-46FE-BE8A-4EB0ABF174CC}" destId="{4777B093-8FA8-46C0-B2DC-0C21CE04E2D1}" srcOrd="0" destOrd="0" presId="urn:microsoft.com/office/officeart/2024/layout/VerticalActionList#4"/>
    <dgm:cxn modelId="{42FF8678-2E5C-4DAD-8513-4DB735EF80AC}" type="presOf" srcId="{68EB4CFB-1DC4-45B1-8962-210E5683AA1F}" destId="{685667C4-1611-4B5E-B101-3C275BDB9181}" srcOrd="1" destOrd="0" presId="urn:microsoft.com/office/officeart/2024/layout/VerticalActionList#4"/>
    <dgm:cxn modelId="{2DFB6D7A-FBAF-4021-BC8B-968FEBCE7FD4}" type="presOf" srcId="{20DD952A-CC96-4AA3-A66C-7F25265A9E0F}" destId="{54FD755C-8E2F-4853-B173-E17E1B71F59C}" srcOrd="0" destOrd="0" presId="urn:microsoft.com/office/officeart/2024/layout/VerticalActionList#4"/>
    <dgm:cxn modelId="{713C0A7C-EC52-4F2E-9468-D3A1AB0144EE}" type="presOf" srcId="{11EEF0DB-9DA8-4872-B4B1-896ADD1EF634}" destId="{3AE748B8-C218-40EA-A515-946CC6C4F8CF}" srcOrd="0" destOrd="0" presId="urn:microsoft.com/office/officeart/2024/layout/VerticalActionList#4"/>
    <dgm:cxn modelId="{D97D3E9C-CAAD-4AD3-93EF-B23EA073226C}" srcId="{62A9C0A1-F958-4FB3-876F-8540B6CAE375}" destId="{204AAAC9-33B6-46FE-BE8A-4EB0ABF174CC}" srcOrd="3" destOrd="0" parTransId="{93967CB2-7C83-453D-BF33-2770CB99A50C}" sibTransId="{DBBC39F2-2779-4A0F-8B9A-690ACFC046A9}"/>
    <dgm:cxn modelId="{316CF7A1-D60F-40B0-AB3F-1BEC8C7A5D99}" srcId="{62A9C0A1-F958-4FB3-876F-8540B6CAE375}" destId="{68EB4CFB-1DC4-45B1-8962-210E5683AA1F}" srcOrd="0" destOrd="0" parTransId="{B45BAA14-08FC-40B3-80D7-1A6D6A82883F}" sibTransId="{C2FAB4F3-16F0-4B4F-940E-64317BFB4610}"/>
    <dgm:cxn modelId="{DA89C1A3-C879-4400-A127-FDDC21DB2941}" type="presOf" srcId="{0C86D541-89BC-4FF3-B021-A4779A7B8D32}" destId="{47480B46-D973-4E3C-B7F1-22DA201B9204}" srcOrd="1" destOrd="0" presId="urn:microsoft.com/office/officeart/2024/layout/VerticalActionList#4"/>
    <dgm:cxn modelId="{6994E3A6-C03D-4CDE-A68D-4307482A115B}" type="presOf" srcId="{0841B73E-5A0D-42C7-A33C-CA7F64ADDAE0}" destId="{68CC06D1-9C7E-4ADC-88D5-8F542553C6EB}" srcOrd="0" destOrd="0" presId="urn:microsoft.com/office/officeart/2024/layout/VerticalActionList#4"/>
    <dgm:cxn modelId="{1B57DFAE-F671-4F17-AFC4-C69FDEC689D1}" srcId="{204AAAC9-33B6-46FE-BE8A-4EB0ABF174CC}" destId="{11EEF0DB-9DA8-4872-B4B1-896ADD1EF634}" srcOrd="0" destOrd="0" parTransId="{59121083-4FCF-4440-8DF8-168EDE4726DF}" sibTransId="{AE45E28A-FDC9-4F99-9D48-EBC56E3ABA5E}"/>
    <dgm:cxn modelId="{881B2FB2-D37C-4371-BE5A-3E12E4497007}" type="presOf" srcId="{20DD952A-CC96-4AA3-A66C-7F25265A9E0F}" destId="{103873EF-3783-4A3B-AEA5-35DFADBC2AB7}" srcOrd="1" destOrd="0" presId="urn:microsoft.com/office/officeart/2024/layout/VerticalActionList#4"/>
    <dgm:cxn modelId="{D82FC5B7-C8CA-4F62-A74B-A1962488BF02}" srcId="{20DD952A-CC96-4AA3-A66C-7F25265A9E0F}" destId="{E4B6A0AD-933E-4776-82E7-FDE89CA3ACE4}" srcOrd="0" destOrd="0" parTransId="{D49A0338-8BFB-451F-87B0-0955635D887B}" sibTransId="{23A6F00C-333A-4412-A7D1-C5327B921989}"/>
    <dgm:cxn modelId="{ACB07BBF-A834-4863-8F3A-C50B2EE407F3}" srcId="{62A9C0A1-F958-4FB3-876F-8540B6CAE375}" destId="{0841B73E-5A0D-42C7-A33C-CA7F64ADDAE0}" srcOrd="4" destOrd="0" parTransId="{BCECB928-76E1-4A25-BD8F-E43B30F2A5C2}" sibTransId="{407EB64C-40FF-4643-807E-746EF2B9EBE1}"/>
    <dgm:cxn modelId="{83E01DC7-55FA-474E-9641-18D828F78D77}" type="presOf" srcId="{68EB4CFB-1DC4-45B1-8962-210E5683AA1F}" destId="{AB1615CE-91B5-4E2B-A3FF-D298F9AE4D4E}" srcOrd="0" destOrd="0" presId="urn:microsoft.com/office/officeart/2024/layout/VerticalActionList#4"/>
    <dgm:cxn modelId="{82BF05CA-16DB-400D-BCDA-588E306A144A}" type="presOf" srcId="{1FDE87FA-259D-4CD4-BD9D-15C91C43D291}" destId="{B507F783-0231-48F1-BA84-4EE418EBB801}" srcOrd="0" destOrd="0" presId="urn:microsoft.com/office/officeart/2024/layout/VerticalActionList#4"/>
    <dgm:cxn modelId="{C37EA5CC-4E63-432E-8526-83944A49DDE2}" type="presOf" srcId="{0841B73E-5A0D-42C7-A33C-CA7F64ADDAE0}" destId="{4E8C9246-D96F-4667-9877-1DE5FDA9D93B}" srcOrd="1" destOrd="0" presId="urn:microsoft.com/office/officeart/2024/layout/VerticalActionList#4"/>
    <dgm:cxn modelId="{A08377DA-AB17-4483-B1CD-A2AF83C2DAFA}" type="presOf" srcId="{368BAB48-7FA9-455F-835E-968E0E8E9765}" destId="{82A0AFA2-74B3-425B-B56C-D64AF062C627}" srcOrd="0" destOrd="0" presId="urn:microsoft.com/office/officeart/2024/layout/VerticalActionList#4"/>
    <dgm:cxn modelId="{EDB700DC-6C44-4434-A63C-E956CEC941ED}" srcId="{0841B73E-5A0D-42C7-A33C-CA7F64ADDAE0}" destId="{368BAB48-7FA9-455F-835E-968E0E8E9765}" srcOrd="0" destOrd="0" parTransId="{5930E890-2337-4017-A1F2-0858D5E5A6F4}" sibTransId="{5989C807-F191-49FA-96C6-922478362F00}"/>
    <dgm:cxn modelId="{2F96E4DC-A523-4BC0-8972-C136B9C9FEA4}" srcId="{0C86D541-89BC-4FF3-B021-A4779A7B8D32}" destId="{49B7D623-7062-4F38-9D40-4AD3FB9C5DD2}" srcOrd="0" destOrd="0" parTransId="{2116F214-974B-4FBD-9078-206031127E1C}" sibTransId="{0C3FB4F6-7ABF-40E8-8B7F-F2358C8BE76B}"/>
    <dgm:cxn modelId="{4EE49B89-47E0-484D-9EDE-F731A17AE1EA}" type="presParOf" srcId="{1A86B4E9-60CA-4363-AE63-5AFF38EFE7E9}" destId="{B85C4901-B390-40D4-8C8A-EA17A076D2AA}" srcOrd="0" destOrd="0" presId="urn:microsoft.com/office/officeart/2024/layout/VerticalActionList#4"/>
    <dgm:cxn modelId="{591D6277-1903-47B9-B7E8-A0A740EC30E6}" type="presParOf" srcId="{B85C4901-B390-40D4-8C8A-EA17A076D2AA}" destId="{AB1615CE-91B5-4E2B-A3FF-D298F9AE4D4E}" srcOrd="0" destOrd="0" presId="urn:microsoft.com/office/officeart/2024/layout/VerticalActionList#4"/>
    <dgm:cxn modelId="{43FF1BEA-E1C5-4239-BE53-5941FF70778B}" type="presParOf" srcId="{B85C4901-B390-40D4-8C8A-EA17A076D2AA}" destId="{685667C4-1611-4B5E-B101-3C275BDB9181}" srcOrd="1" destOrd="0" presId="urn:microsoft.com/office/officeart/2024/layout/VerticalActionList#4"/>
    <dgm:cxn modelId="{4BC45246-FD3F-4100-A848-C1662243EC80}" type="presParOf" srcId="{B85C4901-B390-40D4-8C8A-EA17A076D2AA}" destId="{B507F783-0231-48F1-BA84-4EE418EBB801}" srcOrd="2" destOrd="0" presId="urn:microsoft.com/office/officeart/2024/layout/VerticalActionList#4"/>
    <dgm:cxn modelId="{87D77BD1-4F8A-48DA-AE42-1F9177843EA1}" type="presParOf" srcId="{1A86B4E9-60CA-4363-AE63-5AFF38EFE7E9}" destId="{23FA3520-5543-4145-AA5A-FB637C6B083A}" srcOrd="1" destOrd="0" presId="urn:microsoft.com/office/officeart/2024/layout/VerticalActionList#4"/>
    <dgm:cxn modelId="{30712C50-BA7D-4D34-ACE1-0719A6C374DE}" type="presParOf" srcId="{1A86B4E9-60CA-4363-AE63-5AFF38EFE7E9}" destId="{1B2B0BBC-7625-41CE-8FBC-6AEFC683BFBD}" srcOrd="2" destOrd="0" presId="urn:microsoft.com/office/officeart/2024/layout/VerticalActionList#4"/>
    <dgm:cxn modelId="{C66AE605-AD42-4395-9484-138FB9A96E24}" type="presParOf" srcId="{1B2B0BBC-7625-41CE-8FBC-6AEFC683BFBD}" destId="{D61E1D77-D1E9-40D0-B06D-862D65E49D5D}" srcOrd="0" destOrd="0" presId="urn:microsoft.com/office/officeart/2024/layout/VerticalActionList#4"/>
    <dgm:cxn modelId="{3DA5F378-5E1F-4139-AEBA-1D82A8469AAE}" type="presParOf" srcId="{1B2B0BBC-7625-41CE-8FBC-6AEFC683BFBD}" destId="{47480B46-D973-4E3C-B7F1-22DA201B9204}" srcOrd="1" destOrd="0" presId="urn:microsoft.com/office/officeart/2024/layout/VerticalActionList#4"/>
    <dgm:cxn modelId="{EB57524A-8040-4AA2-B9EE-6F8B7B2EE5D3}" type="presParOf" srcId="{1B2B0BBC-7625-41CE-8FBC-6AEFC683BFBD}" destId="{AF0A1550-D846-4CE5-9603-F9AB9624FE55}" srcOrd="2" destOrd="0" presId="urn:microsoft.com/office/officeart/2024/layout/VerticalActionList#4"/>
    <dgm:cxn modelId="{44AD1A08-3FEB-4EC9-9A7F-A6A7AA9ABDD1}" type="presParOf" srcId="{1A86B4E9-60CA-4363-AE63-5AFF38EFE7E9}" destId="{8B584DD9-00D3-47A6-AFCA-7453065E20F0}" srcOrd="3" destOrd="0" presId="urn:microsoft.com/office/officeart/2024/layout/VerticalActionList#4"/>
    <dgm:cxn modelId="{F8E94EC8-4509-499A-A7D1-DDB5897F1062}" type="presParOf" srcId="{1A86B4E9-60CA-4363-AE63-5AFF38EFE7E9}" destId="{0AEACE7D-36F7-4009-96D9-E736DA9B5064}" srcOrd="4" destOrd="0" presId="urn:microsoft.com/office/officeart/2024/layout/VerticalActionList#4"/>
    <dgm:cxn modelId="{9015BDC1-560B-4ACF-9D06-C249F915BD2A}" type="presParOf" srcId="{0AEACE7D-36F7-4009-96D9-E736DA9B5064}" destId="{54FD755C-8E2F-4853-B173-E17E1B71F59C}" srcOrd="0" destOrd="0" presId="urn:microsoft.com/office/officeart/2024/layout/VerticalActionList#4"/>
    <dgm:cxn modelId="{4F886F27-E8A7-4E73-8B60-F665D9995322}" type="presParOf" srcId="{0AEACE7D-36F7-4009-96D9-E736DA9B5064}" destId="{103873EF-3783-4A3B-AEA5-35DFADBC2AB7}" srcOrd="1" destOrd="0" presId="urn:microsoft.com/office/officeart/2024/layout/VerticalActionList#4"/>
    <dgm:cxn modelId="{BA5288C4-04C7-4C6E-BE47-D071DCFB2357}" type="presParOf" srcId="{0AEACE7D-36F7-4009-96D9-E736DA9B5064}" destId="{BDE760F3-EF22-404E-95E0-FEDC08E0CC4F}" srcOrd="2" destOrd="0" presId="urn:microsoft.com/office/officeart/2024/layout/VerticalActionList#4"/>
    <dgm:cxn modelId="{0AD2A3ED-2D29-4687-B228-971878191B8D}" type="presParOf" srcId="{1A86B4E9-60CA-4363-AE63-5AFF38EFE7E9}" destId="{5640D92C-5A3C-448A-A1A2-A1D117B1BEF8}" srcOrd="5" destOrd="0" presId="urn:microsoft.com/office/officeart/2024/layout/VerticalActionList#4"/>
    <dgm:cxn modelId="{5B7FD79E-984E-4705-B477-2C2B6EB0CE50}" type="presParOf" srcId="{1A86B4E9-60CA-4363-AE63-5AFF38EFE7E9}" destId="{C62C65C8-45CB-44E0-93ED-0F2C1A135492}" srcOrd="6" destOrd="0" presId="urn:microsoft.com/office/officeart/2024/layout/VerticalActionList#4"/>
    <dgm:cxn modelId="{D9B9E595-519E-49ED-8F87-41D143C680E6}" type="presParOf" srcId="{C62C65C8-45CB-44E0-93ED-0F2C1A135492}" destId="{4777B093-8FA8-46C0-B2DC-0C21CE04E2D1}" srcOrd="0" destOrd="0" presId="urn:microsoft.com/office/officeart/2024/layout/VerticalActionList#4"/>
    <dgm:cxn modelId="{0C8DEC9D-E060-4CB8-BAB6-C0EB330DE426}" type="presParOf" srcId="{C62C65C8-45CB-44E0-93ED-0F2C1A135492}" destId="{03184A24-E4FC-4C1E-9A54-FDBA181F7425}" srcOrd="1" destOrd="0" presId="urn:microsoft.com/office/officeart/2024/layout/VerticalActionList#4"/>
    <dgm:cxn modelId="{DE29A974-FC55-46CA-A30C-322241A6C777}" type="presParOf" srcId="{C62C65C8-45CB-44E0-93ED-0F2C1A135492}" destId="{3AE748B8-C218-40EA-A515-946CC6C4F8CF}" srcOrd="2" destOrd="0" presId="urn:microsoft.com/office/officeart/2024/layout/VerticalActionList#4"/>
    <dgm:cxn modelId="{A972988F-8CE9-4AD4-AD25-3A10C07D375E}" type="presParOf" srcId="{1A86B4E9-60CA-4363-AE63-5AFF38EFE7E9}" destId="{FC6F45EB-9844-47B2-AB6B-E8E6B7A4659D}" srcOrd="7" destOrd="0" presId="urn:microsoft.com/office/officeart/2024/layout/VerticalActionList#4"/>
    <dgm:cxn modelId="{FBCA246E-858D-49AE-9939-EBD4AEDC816B}" type="presParOf" srcId="{1A86B4E9-60CA-4363-AE63-5AFF38EFE7E9}" destId="{DA7AA13B-4D71-4730-A801-9A8BEAC69348}" srcOrd="8" destOrd="0" presId="urn:microsoft.com/office/officeart/2024/layout/VerticalActionList#4"/>
    <dgm:cxn modelId="{1CACBD0C-5370-4541-804B-D9EDB4ECBA7D}" type="presParOf" srcId="{DA7AA13B-4D71-4730-A801-9A8BEAC69348}" destId="{68CC06D1-9C7E-4ADC-88D5-8F542553C6EB}" srcOrd="0" destOrd="0" presId="urn:microsoft.com/office/officeart/2024/layout/VerticalActionList#4"/>
    <dgm:cxn modelId="{27B26EAC-9415-40EE-80C8-6B775C6634B7}" type="presParOf" srcId="{DA7AA13B-4D71-4730-A801-9A8BEAC69348}" destId="{4E8C9246-D96F-4667-9877-1DE5FDA9D93B}" srcOrd="1" destOrd="0" presId="urn:microsoft.com/office/officeart/2024/layout/VerticalActionList#4"/>
    <dgm:cxn modelId="{9F0A0722-7C09-4FDD-B711-C90BABF9F7C0}" type="presParOf" srcId="{DA7AA13B-4D71-4730-A801-9A8BEAC69348}" destId="{82A0AFA2-74B3-425B-B56C-D64AF062C627}" srcOrd="2" destOrd="0" presId="urn:microsoft.com/office/officeart/2024/layout/VerticalAction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A9C0A1-F958-4FB3-876F-8540B6CAE375}" type="doc">
      <dgm:prSet loTypeId="urn:microsoft.com/office/officeart/2024/layout/VerticalActionList#5" loCatId="list" qsTypeId="urn:microsoft.com/office/officeart/2005/8/quickstyle/simple1#23" qsCatId="simple" csTypeId="urn:microsoft.com/office/officeart/2005/8/colors/accent1_2#15" csCatId="accent1" phldr="1"/>
      <dgm:spPr/>
      <dgm:t>
        <a:bodyPr/>
        <a:lstStyle/>
        <a:p>
          <a:endParaRPr lang="zh-CN" altLang="en-US"/>
        </a:p>
      </dgm:t>
    </dgm:pt>
    <dgm:pt modelId="{368BAB48-7FA9-455F-835E-968E0E8E9765}">
      <dgm:prSet phldrT="[文本]" custT="1"/>
      <dgm:spPr/>
      <dgm:t>
        <a:bodyPr/>
        <a:lstStyle/>
        <a:p>
          <a:r>
            <a:rPr lang="zh-CN" altLang="en-US" sz="1400" dirty="0">
              <a:latin typeface="微软雅黑" panose="020B0503020204020204" pitchFamily="34" charset="-122"/>
              <a:ea typeface="微软雅黑" panose="020B0503020204020204" pitchFamily="34" charset="-122"/>
            </a:rPr>
            <a:t>用于模型性能验证、安全评估与基准测试的独立数据集，可客观衡量模型准确性、鲁棒性与临床适用性。样本需具备代表性、梯度难度与场景真实性，覆盖常规案例、边界案例与高风险案例，并配套量化评价指标。评测集须与训练集严格独立，避免数据泄露与过拟合，保障评估结果真实可信。</a:t>
          </a:r>
          <a:endParaRPr lang="zh-CN" altLang="en-US" sz="1400" dirty="0"/>
        </a:p>
      </dgm:t>
    </dgm:pt>
    <dgm:pt modelId="{0841B73E-5A0D-42C7-A33C-CA7F64ADDAE0}">
      <dgm:prSet phldrT="[文本]"/>
      <dgm:spPr/>
      <dgm:t>
        <a:bodyPr/>
        <a:lstStyle/>
        <a:p>
          <a:pPr algn="ctr">
            <a:buFont typeface="Wingdings" panose="05000000000000000000" pitchFamily="2" charset="2"/>
            <a:buChar char="Ø"/>
          </a:pPr>
          <a:r>
            <a:rPr lang="zh-CN" altLang="en-US" b="1">
              <a:latin typeface="微软雅黑" panose="020B0503020204020204" pitchFamily="34" charset="-122"/>
              <a:ea typeface="微软雅黑" panose="020B0503020204020204" pitchFamily="34" charset="-122"/>
            </a:rPr>
            <a:t>评测数据集</a:t>
          </a:r>
          <a:endParaRPr lang="zh-CN" altLang="en-US" dirty="0"/>
        </a:p>
      </dgm:t>
    </dgm:pt>
    <dgm:pt modelId="{407EB64C-40FF-4643-807E-746EF2B9EBE1}" type="sibTrans" cxnId="{ACB07BBF-A834-4863-8F3A-C50B2EE407F3}">
      <dgm:prSet/>
      <dgm:spPr/>
      <dgm:t>
        <a:bodyPr/>
        <a:lstStyle/>
        <a:p>
          <a:endParaRPr lang="zh-CN" altLang="en-US"/>
        </a:p>
      </dgm:t>
    </dgm:pt>
    <dgm:pt modelId="{BCECB928-76E1-4A25-BD8F-E43B30F2A5C2}" type="parTrans" cxnId="{ACB07BBF-A834-4863-8F3A-C50B2EE407F3}">
      <dgm:prSet/>
      <dgm:spPr/>
      <dgm:t>
        <a:bodyPr/>
        <a:lstStyle/>
        <a:p>
          <a:endParaRPr lang="zh-CN" altLang="en-US"/>
        </a:p>
      </dgm:t>
    </dgm:pt>
    <dgm:pt modelId="{5989C807-F191-49FA-96C6-922478362F00}" type="sibTrans" cxnId="{EDB700DC-6C44-4434-A63C-E956CEC941ED}">
      <dgm:prSet/>
      <dgm:spPr/>
      <dgm:t>
        <a:bodyPr/>
        <a:lstStyle/>
        <a:p>
          <a:endParaRPr lang="zh-CN" altLang="en-US"/>
        </a:p>
      </dgm:t>
    </dgm:pt>
    <dgm:pt modelId="{5930E890-2337-4017-A1F2-0858D5E5A6F4}" type="parTrans" cxnId="{EDB700DC-6C44-4434-A63C-E956CEC941ED}">
      <dgm:prSet/>
      <dgm:spPr/>
      <dgm:t>
        <a:bodyPr/>
        <a:lstStyle/>
        <a:p>
          <a:endParaRPr lang="zh-CN" altLang="en-US"/>
        </a:p>
      </dgm:t>
    </dgm:pt>
    <dgm:pt modelId="{11EEF0DB-9DA8-4872-B4B1-896ADD1EF634}">
      <dgm:prSet phldrT="[文本]" custT="1"/>
      <dgm:spPr/>
      <dgm:t>
        <a:bodyPr/>
        <a:lstStyle/>
        <a:p>
          <a:r>
            <a:rPr lang="zh-CN" altLang="en-US" sz="1400" dirty="0">
              <a:latin typeface="微软雅黑" panose="020B0503020204020204" pitchFamily="34" charset="-122"/>
              <a:ea typeface="微软雅黑" panose="020B0503020204020204" pitchFamily="34" charset="-122"/>
            </a:rPr>
            <a:t>向中医药大模型价值对齐、安全约束和输出偏好优化的数据集，通常由专家反馈、答案比较、质量评分和风险判定等内容构成。该类数据集强调中医药专业价值导向、临床安全边界和专家反馈质量，可用于提升模型在专业表达、辨证推理、风险识别和安全回答等方面的能力。</a:t>
          </a:r>
          <a:endParaRPr lang="zh-CN" altLang="en-US" sz="1400" dirty="0"/>
        </a:p>
      </dgm:t>
    </dgm:pt>
    <dgm:pt modelId="{204AAAC9-33B6-46FE-BE8A-4EB0ABF174CC}">
      <dgm:prSet phldrT="[文本]"/>
      <dgm:spPr/>
      <dgm:t>
        <a:bodyPr/>
        <a:lstStyle/>
        <a:p>
          <a:pPr algn="ctr">
            <a:buFont typeface="Wingdings" panose="05000000000000000000" pitchFamily="2" charset="2"/>
            <a:buChar char="Ø"/>
          </a:pPr>
          <a:r>
            <a:rPr lang="zh-CN" altLang="en-US" b="1">
              <a:latin typeface="微软雅黑" panose="020B0503020204020204" pitchFamily="34" charset="-122"/>
              <a:ea typeface="微软雅黑" panose="020B0503020204020204" pitchFamily="34" charset="-122"/>
            </a:rPr>
            <a:t>安全合规质量</a:t>
          </a:r>
          <a:endParaRPr lang="zh-CN" altLang="en-US" dirty="0"/>
        </a:p>
      </dgm:t>
    </dgm:pt>
    <dgm:pt modelId="{DBBC39F2-2779-4A0F-8B9A-690ACFC046A9}" type="sibTrans" cxnId="{D97D3E9C-CAAD-4AD3-93EF-B23EA073226C}">
      <dgm:prSet/>
      <dgm:spPr/>
      <dgm:t>
        <a:bodyPr/>
        <a:lstStyle/>
        <a:p>
          <a:endParaRPr lang="zh-CN" altLang="en-US"/>
        </a:p>
      </dgm:t>
    </dgm:pt>
    <dgm:pt modelId="{93967CB2-7C83-453D-BF33-2770CB99A50C}" type="parTrans" cxnId="{D97D3E9C-CAAD-4AD3-93EF-B23EA073226C}">
      <dgm:prSet/>
      <dgm:spPr/>
      <dgm:t>
        <a:bodyPr/>
        <a:lstStyle/>
        <a:p>
          <a:endParaRPr lang="zh-CN" altLang="en-US"/>
        </a:p>
      </dgm:t>
    </dgm:pt>
    <dgm:pt modelId="{AE45E28A-FDC9-4F99-9D48-EBC56E3ABA5E}" type="sibTrans" cxnId="{1B57DFAE-F671-4F17-AFC4-C69FDEC689D1}">
      <dgm:prSet/>
      <dgm:spPr/>
      <dgm:t>
        <a:bodyPr/>
        <a:lstStyle/>
        <a:p>
          <a:endParaRPr lang="zh-CN" altLang="en-US"/>
        </a:p>
      </dgm:t>
    </dgm:pt>
    <dgm:pt modelId="{59121083-4FCF-4440-8DF8-168EDE4726DF}" type="parTrans" cxnId="{1B57DFAE-F671-4F17-AFC4-C69FDEC689D1}">
      <dgm:prSet/>
      <dgm:spPr/>
      <dgm:t>
        <a:bodyPr/>
        <a:lstStyle/>
        <a:p>
          <a:endParaRPr lang="zh-CN" altLang="en-US"/>
        </a:p>
      </dgm:t>
    </dgm:pt>
    <dgm:pt modelId="{E4B6A0AD-933E-4776-82E7-FDE89CA3ACE4}">
      <dgm:prSet phldrT="[文本]" custT="1"/>
      <dgm:spPr/>
      <dgm:t>
        <a:bodyPr/>
        <a:lstStyle/>
        <a:p>
          <a:r>
            <a:rPr lang="zh-CN" altLang="en-US" sz="1400" dirty="0">
              <a:latin typeface="微软雅黑" panose="020B0503020204020204" pitchFamily="34" charset="-122"/>
              <a:ea typeface="微软雅黑" panose="020B0503020204020204" pitchFamily="34" charset="-122"/>
            </a:rPr>
            <a:t>要评价数据集是否能够有效支撑模型训练、验证、评测和应用开发，重点关注任务定义、输入输出结构、标签体系、样本分布、数据划分、模型验证和数据泄露防控等。</a:t>
          </a:r>
          <a:endParaRPr lang="zh-CN" altLang="en-US" sz="1400" dirty="0"/>
        </a:p>
      </dgm:t>
    </dgm:pt>
    <dgm:pt modelId="{20DD952A-CC96-4AA3-A66C-7F25265A9E0F}">
      <dgm:prSet phldrT="[文本]"/>
      <dgm:spPr/>
      <dgm:t>
        <a:bodyPr/>
        <a:lstStyle/>
        <a:p>
          <a:pPr algn="ctr">
            <a:buFont typeface="Wingdings" panose="05000000000000000000" pitchFamily="2" charset="2"/>
            <a:buChar char="Ø"/>
          </a:pPr>
          <a:r>
            <a:rPr lang="zh-CN" altLang="en-US" b="1">
              <a:latin typeface="微软雅黑" panose="020B0503020204020204" pitchFamily="34" charset="-122"/>
              <a:ea typeface="微软雅黑" panose="020B0503020204020204" pitchFamily="34" charset="-122"/>
            </a:rPr>
            <a:t>偏好对齐数据集</a:t>
          </a:r>
          <a:endParaRPr lang="zh-CN" altLang="en-US" dirty="0"/>
        </a:p>
      </dgm:t>
    </dgm:pt>
    <dgm:pt modelId="{6F075C83-A4FC-4CD4-9631-6A83429F3222}" type="sibTrans" cxnId="{0639343B-9AFA-40FF-8EDF-B6FEB492D7C2}">
      <dgm:prSet/>
      <dgm:spPr/>
      <dgm:t>
        <a:bodyPr/>
        <a:lstStyle/>
        <a:p>
          <a:endParaRPr lang="zh-CN" altLang="en-US"/>
        </a:p>
      </dgm:t>
    </dgm:pt>
    <dgm:pt modelId="{CD527D59-B3CA-4779-8B0C-904800FB2DCA}" type="parTrans" cxnId="{0639343B-9AFA-40FF-8EDF-B6FEB492D7C2}">
      <dgm:prSet/>
      <dgm:spPr/>
      <dgm:t>
        <a:bodyPr/>
        <a:lstStyle/>
        <a:p>
          <a:endParaRPr lang="zh-CN" altLang="en-US"/>
        </a:p>
      </dgm:t>
    </dgm:pt>
    <dgm:pt modelId="{23A6F00C-333A-4412-A7D1-C5327B921989}" type="sibTrans" cxnId="{D82FC5B7-C8CA-4F62-A74B-A1962488BF02}">
      <dgm:prSet/>
      <dgm:spPr/>
      <dgm:t>
        <a:bodyPr/>
        <a:lstStyle/>
        <a:p>
          <a:endParaRPr lang="zh-CN" altLang="en-US"/>
        </a:p>
      </dgm:t>
    </dgm:pt>
    <dgm:pt modelId="{D49A0338-8BFB-451F-87B0-0955635D887B}" type="parTrans" cxnId="{D82FC5B7-C8CA-4F62-A74B-A1962488BF02}">
      <dgm:prSet/>
      <dgm:spPr/>
      <dgm:t>
        <a:bodyPr/>
        <a:lstStyle/>
        <a:p>
          <a:endParaRPr lang="zh-CN" altLang="en-US"/>
        </a:p>
      </dgm:t>
    </dgm:pt>
    <dgm:pt modelId="{49B7D623-7062-4F38-9D40-4AD3FB9C5DD2}">
      <dgm:prSet phldrT="[文本]" custT="1"/>
      <dgm:spPr/>
      <dgm:t>
        <a:bodyPr/>
        <a:lstStyle/>
        <a:p>
          <a:r>
            <a:rPr lang="zh-CN" altLang="en-US" sz="1400" i="0">
              <a:effectLst/>
              <a:latin typeface="微软雅黑" panose="020B0503020204020204" pitchFamily="34" charset="-122"/>
              <a:ea typeface="微软雅黑" panose="020B0503020204020204" pitchFamily="34" charset="-122"/>
            </a:rPr>
            <a:t>向特定专业任务的精准化监督学习数据集，旨在将大模型的基础能力转化为中医药场景下的深度应用与复杂推理能力。随着大模型后训练技术演进，仅依赖常规“指令</a:t>
          </a:r>
          <a:r>
            <a:rPr lang="en-US" altLang="en-US" sz="1400" i="0">
              <a:effectLst/>
              <a:latin typeface="微软雅黑" panose="020B0503020204020204" pitchFamily="34" charset="-122"/>
              <a:ea typeface="微软雅黑" panose="020B0503020204020204" pitchFamily="34" charset="-122"/>
            </a:rPr>
            <a:t>-</a:t>
          </a:r>
          <a:r>
            <a:rPr lang="zh-CN" altLang="en-US" sz="1400" i="0">
              <a:effectLst/>
              <a:latin typeface="微软雅黑" panose="020B0503020204020204" pitchFamily="34" charset="-122"/>
              <a:ea typeface="微软雅黑" panose="020B0503020204020204" pitchFamily="34" charset="-122"/>
            </a:rPr>
            <a:t>响应”样本难以适配中医药领域高阶推理需求，须向新型样本范式升级。</a:t>
          </a:r>
          <a:endParaRPr lang="zh-CN" altLang="en-US" sz="1400" dirty="0"/>
        </a:p>
      </dgm:t>
    </dgm:pt>
    <dgm:pt modelId="{0C86D541-89BC-4FF3-B021-A4779A7B8D32}">
      <dgm:prSet phldrT="[文本]"/>
      <dgm:spPr/>
      <dgm:t>
        <a:bodyPr/>
        <a:lstStyle/>
        <a:p>
          <a:pPr algn="ctr">
            <a:buFont typeface="Wingdings" panose="05000000000000000000" pitchFamily="2" charset="2"/>
            <a:buChar char="Ø"/>
          </a:pPr>
          <a:r>
            <a:rPr lang="zh-CN" altLang="en-US" b="1" i="0">
              <a:effectLst/>
              <a:latin typeface="微软雅黑" panose="020B0503020204020204" pitchFamily="34" charset="-122"/>
              <a:ea typeface="微软雅黑" panose="020B0503020204020204" pitchFamily="34" charset="-122"/>
            </a:rPr>
            <a:t>指令微调数据集</a:t>
          </a:r>
          <a:endParaRPr lang="zh-CN" altLang="en-US" dirty="0"/>
        </a:p>
      </dgm:t>
    </dgm:pt>
    <dgm:pt modelId="{9946C564-8451-46F6-83E5-02126E5E437B}" type="sibTrans" cxnId="{F1AB7B25-1907-489A-963B-76D50A4CF7CD}">
      <dgm:prSet/>
      <dgm:spPr/>
      <dgm:t>
        <a:bodyPr/>
        <a:lstStyle/>
        <a:p>
          <a:endParaRPr lang="zh-CN" altLang="en-US"/>
        </a:p>
      </dgm:t>
    </dgm:pt>
    <dgm:pt modelId="{51201507-A1C1-461D-ACB3-EFAF2A01C609}" type="parTrans" cxnId="{F1AB7B25-1907-489A-963B-76D50A4CF7CD}">
      <dgm:prSet/>
      <dgm:spPr/>
      <dgm:t>
        <a:bodyPr/>
        <a:lstStyle/>
        <a:p>
          <a:endParaRPr lang="zh-CN" altLang="en-US"/>
        </a:p>
      </dgm:t>
    </dgm:pt>
    <dgm:pt modelId="{0C3FB4F6-7ABF-40E8-8B7F-F2358C8BE76B}" type="sibTrans" cxnId="{2F96E4DC-A523-4BC0-8972-C136B9C9FEA4}">
      <dgm:prSet/>
      <dgm:spPr/>
      <dgm:t>
        <a:bodyPr/>
        <a:lstStyle/>
        <a:p>
          <a:endParaRPr lang="zh-CN" altLang="en-US"/>
        </a:p>
      </dgm:t>
    </dgm:pt>
    <dgm:pt modelId="{2116F214-974B-4FBD-9078-206031127E1C}" type="parTrans" cxnId="{2F96E4DC-A523-4BC0-8972-C136B9C9FEA4}">
      <dgm:prSet/>
      <dgm:spPr/>
      <dgm:t>
        <a:bodyPr/>
        <a:lstStyle/>
        <a:p>
          <a:endParaRPr lang="zh-CN" altLang="en-US"/>
        </a:p>
      </dgm:t>
    </dgm:pt>
    <dgm:pt modelId="{1FDE87FA-259D-4CD4-BD9D-15C91C43D291}">
      <dgm:prSet phldrT="[文本]" custT="1"/>
      <dgm:spPr/>
      <dgm:t>
        <a:bodyPr/>
        <a:lstStyle/>
        <a:p>
          <a:r>
            <a:rPr lang="zh-CN" altLang="en-US" sz="1400" i="0">
              <a:effectLst/>
              <a:latin typeface="微软雅黑" panose="020B0503020204020204" pitchFamily="34" charset="-122"/>
              <a:ea typeface="微软雅黑" panose="020B0503020204020204" pitchFamily="34" charset="-122"/>
            </a:rPr>
            <a:t>面向中医药大模型基础能力构建的大规模通用数据集，通过整合跨领域、跨体裁权威数据，使模型在无监督</a:t>
          </a:r>
          <a:r>
            <a:rPr lang="en-US" altLang="en-US" sz="1400" i="0">
              <a:effectLst/>
              <a:latin typeface="微软雅黑" panose="020B0503020204020204" pitchFamily="34" charset="-122"/>
              <a:ea typeface="微软雅黑" panose="020B0503020204020204" pitchFamily="34" charset="-122"/>
            </a:rPr>
            <a:t>/</a:t>
          </a:r>
          <a:r>
            <a:rPr lang="zh-CN" altLang="en-US" sz="1400" i="0">
              <a:effectLst/>
              <a:latin typeface="微软雅黑" panose="020B0503020204020204" pitchFamily="34" charset="-122"/>
              <a:ea typeface="微软雅黑" panose="020B0503020204020204" pitchFamily="34" charset="-122"/>
            </a:rPr>
            <a:t>自监督学习中习得中医药语言特征、知识体系与概念关联，形成领域整体认知。其特点是强调规模性、多样性、覆盖广度与来源权威性，精细标注要求较低，但需保证内容规范、质量可控。</a:t>
          </a:r>
          <a:endParaRPr lang="zh-CN" altLang="en-US" sz="1400" dirty="0"/>
        </a:p>
      </dgm:t>
    </dgm:pt>
    <dgm:pt modelId="{68EB4CFB-1DC4-45B1-8962-210E5683AA1F}">
      <dgm:prSet phldrT="[文本]" custT="1"/>
      <dgm:spPr/>
      <dgm:t>
        <a:bodyPr/>
        <a:lstStyle/>
        <a:p>
          <a:pPr algn="ctr">
            <a:buFont typeface="Wingdings" panose="05000000000000000000" pitchFamily="2" charset="2"/>
            <a:buChar char="Ø"/>
          </a:pPr>
          <a:r>
            <a:rPr lang="zh-CN" altLang="en-US" sz="2100" b="1" i="0">
              <a:effectLst/>
              <a:latin typeface="微软雅黑" panose="020B0503020204020204" pitchFamily="34" charset="-122"/>
              <a:ea typeface="微软雅黑" panose="020B0503020204020204" pitchFamily="34" charset="-122"/>
            </a:rPr>
            <a:t>预训练数据集</a:t>
          </a:r>
          <a:endParaRPr lang="zh-CN" altLang="en-US" sz="2100" dirty="0"/>
        </a:p>
      </dgm:t>
    </dgm:pt>
    <dgm:pt modelId="{C2FAB4F3-16F0-4B4F-940E-64317BFB4610}" type="sibTrans" cxnId="{316CF7A1-D60F-40B0-AB3F-1BEC8C7A5D99}">
      <dgm:prSet/>
      <dgm:spPr/>
      <dgm:t>
        <a:bodyPr/>
        <a:lstStyle/>
        <a:p>
          <a:endParaRPr lang="zh-CN" altLang="en-US"/>
        </a:p>
      </dgm:t>
    </dgm:pt>
    <dgm:pt modelId="{B45BAA14-08FC-40B3-80D7-1A6D6A82883F}" type="parTrans" cxnId="{316CF7A1-D60F-40B0-AB3F-1BEC8C7A5D99}">
      <dgm:prSet/>
      <dgm:spPr/>
      <dgm:t>
        <a:bodyPr/>
        <a:lstStyle/>
        <a:p>
          <a:endParaRPr lang="zh-CN" altLang="en-US"/>
        </a:p>
      </dgm:t>
    </dgm:pt>
    <dgm:pt modelId="{61BAC955-68D5-4D3D-9F43-91DE57184FC8}" type="sibTrans" cxnId="{C5FE9915-2CD0-4F64-A210-3C86FCF87863}">
      <dgm:prSet/>
      <dgm:spPr/>
      <dgm:t>
        <a:bodyPr/>
        <a:lstStyle/>
        <a:p>
          <a:endParaRPr lang="zh-CN" altLang="en-US"/>
        </a:p>
      </dgm:t>
    </dgm:pt>
    <dgm:pt modelId="{09C4F818-424E-49F4-9025-7E1B4A0A79D6}" type="parTrans" cxnId="{C5FE9915-2CD0-4F64-A210-3C86FCF87863}">
      <dgm:prSet/>
      <dgm:spPr/>
      <dgm:t>
        <a:bodyPr/>
        <a:lstStyle/>
        <a:p>
          <a:endParaRPr lang="zh-CN" altLang="en-US"/>
        </a:p>
      </dgm:t>
    </dgm:pt>
    <dgm:pt modelId="{8829F31F-3367-46B6-8BDE-D79DAF9F0A95}">
      <dgm:prSet phldrT="[文本]" custT="1"/>
      <dgm:spPr/>
      <dgm:t>
        <a:bodyPr/>
        <a:lstStyle/>
        <a:p>
          <a:endParaRPr lang="zh-CN" altLang="en-US" sz="1400" dirty="0"/>
        </a:p>
      </dgm:t>
    </dgm:pt>
    <dgm:pt modelId="{5E9B317E-152F-4F97-86A6-133E53C2B0FC}" type="parTrans" cxnId="{7831A6AB-8AAC-4EA5-80AA-0C188D1859B5}">
      <dgm:prSet/>
      <dgm:spPr/>
      <dgm:t>
        <a:bodyPr/>
        <a:lstStyle/>
        <a:p>
          <a:endParaRPr lang="zh-CN" altLang="en-US"/>
        </a:p>
      </dgm:t>
    </dgm:pt>
    <dgm:pt modelId="{0FDE3060-997C-45BA-90C6-B0F721CF1F93}" type="sibTrans" cxnId="{7831A6AB-8AAC-4EA5-80AA-0C188D1859B5}">
      <dgm:prSet/>
      <dgm:spPr/>
      <dgm:t>
        <a:bodyPr/>
        <a:lstStyle/>
        <a:p>
          <a:endParaRPr lang="zh-CN" altLang="en-US"/>
        </a:p>
      </dgm:t>
    </dgm:pt>
    <dgm:pt modelId="{60A82100-9E66-4393-966A-AB27F4463871}">
      <dgm:prSet phldrT="[文本]" custT="1"/>
      <dgm:spPr/>
      <dgm:t>
        <a:bodyPr/>
        <a:lstStyle/>
        <a:p>
          <a:endParaRPr lang="zh-CN" altLang="en-US" sz="1400" dirty="0"/>
        </a:p>
      </dgm:t>
    </dgm:pt>
    <dgm:pt modelId="{3CB32E7C-CCD7-45DA-97FD-A64E512161D5}" type="parTrans" cxnId="{3BB19BC6-D4FA-495C-9BBA-735C985B2804}">
      <dgm:prSet/>
      <dgm:spPr/>
      <dgm:t>
        <a:bodyPr/>
        <a:lstStyle/>
        <a:p>
          <a:endParaRPr lang="zh-CN" altLang="en-US"/>
        </a:p>
      </dgm:t>
    </dgm:pt>
    <dgm:pt modelId="{7A2A9573-2343-48A5-A5B6-DE936E4DBD55}" type="sibTrans" cxnId="{3BB19BC6-D4FA-495C-9BBA-735C985B2804}">
      <dgm:prSet/>
      <dgm:spPr/>
      <dgm:t>
        <a:bodyPr/>
        <a:lstStyle/>
        <a:p>
          <a:endParaRPr lang="zh-CN" altLang="en-US"/>
        </a:p>
      </dgm:t>
    </dgm:pt>
    <dgm:pt modelId="{750C1610-FAC6-4172-A7D1-93C0889A6B2A}">
      <dgm:prSet phldrT="[文本]" custT="1"/>
      <dgm:spPr/>
      <dgm:t>
        <a:bodyPr/>
        <a:lstStyle/>
        <a:p>
          <a:endParaRPr lang="zh-CN" altLang="en-US" sz="1400" dirty="0"/>
        </a:p>
      </dgm:t>
    </dgm:pt>
    <dgm:pt modelId="{89D7490F-7FBF-45B0-947A-177B5EE149BC}" type="parTrans" cxnId="{F22E0B48-CD6E-4B1A-9B98-E0545EEB3FFA}">
      <dgm:prSet/>
      <dgm:spPr/>
      <dgm:t>
        <a:bodyPr/>
        <a:lstStyle/>
        <a:p>
          <a:endParaRPr lang="zh-CN" altLang="en-US"/>
        </a:p>
      </dgm:t>
    </dgm:pt>
    <dgm:pt modelId="{A00D4377-4C35-4898-B2A0-651DED3D3992}" type="sibTrans" cxnId="{F22E0B48-CD6E-4B1A-9B98-E0545EEB3FFA}">
      <dgm:prSet/>
      <dgm:spPr/>
      <dgm:t>
        <a:bodyPr/>
        <a:lstStyle/>
        <a:p>
          <a:endParaRPr lang="zh-CN" altLang="en-US"/>
        </a:p>
      </dgm:t>
    </dgm:pt>
    <dgm:pt modelId="{1A86B4E9-60CA-4363-AE63-5AFF38EFE7E9}" type="pres">
      <dgm:prSet presAssocID="{62A9C0A1-F958-4FB3-876F-8540B6CAE375}" presName="Name0" presStyleCnt="0">
        <dgm:presLayoutVars>
          <dgm:dir/>
          <dgm:animLvl val="lvl"/>
          <dgm:resizeHandles val="exact"/>
        </dgm:presLayoutVars>
      </dgm:prSet>
      <dgm:spPr/>
    </dgm:pt>
    <dgm:pt modelId="{B85C4901-B390-40D4-8C8A-EA17A076D2AA}" type="pres">
      <dgm:prSet presAssocID="{68EB4CFB-1DC4-45B1-8962-210E5683AA1F}" presName="linNode" presStyleCnt="0"/>
      <dgm:spPr/>
    </dgm:pt>
    <dgm:pt modelId="{AB1615CE-91B5-4E2B-A3FF-D298F9AE4D4E}" type="pres">
      <dgm:prSet presAssocID="{68EB4CFB-1DC4-45B1-8962-210E5683AA1F}" presName="bgOutline" presStyleLbl="fgAcc1" presStyleIdx="0" presStyleCnt="5"/>
      <dgm:spPr/>
    </dgm:pt>
    <dgm:pt modelId="{685667C4-1611-4B5E-B101-3C275BDB9181}" type="pres">
      <dgm:prSet presAssocID="{68EB4CFB-1DC4-45B1-8962-210E5683AA1F}" presName="parentText" presStyleLbl="alignNode1" presStyleIdx="0" presStyleCnt="5">
        <dgm:presLayoutVars>
          <dgm:chMax val="1"/>
          <dgm:bulletEnabled/>
        </dgm:presLayoutVars>
      </dgm:prSet>
      <dgm:spPr/>
    </dgm:pt>
    <dgm:pt modelId="{B507F783-0231-48F1-BA84-4EE418EBB801}" type="pres">
      <dgm:prSet presAssocID="{68EB4CFB-1DC4-45B1-8962-210E5683AA1F}" presName="descendantText" presStyleLbl="revTx" presStyleIdx="0" presStyleCnt="0">
        <dgm:presLayoutVars>
          <dgm:bulletEnabled/>
        </dgm:presLayoutVars>
      </dgm:prSet>
      <dgm:spPr/>
    </dgm:pt>
    <dgm:pt modelId="{23FA3520-5543-4145-AA5A-FB637C6B083A}" type="pres">
      <dgm:prSet presAssocID="{C2FAB4F3-16F0-4B4F-940E-64317BFB4610}" presName="sp" presStyleCnt="0"/>
      <dgm:spPr/>
    </dgm:pt>
    <dgm:pt modelId="{1B2B0BBC-7625-41CE-8FBC-6AEFC683BFBD}" type="pres">
      <dgm:prSet presAssocID="{0C86D541-89BC-4FF3-B021-A4779A7B8D32}" presName="linNode" presStyleCnt="0"/>
      <dgm:spPr/>
    </dgm:pt>
    <dgm:pt modelId="{D61E1D77-D1E9-40D0-B06D-862D65E49D5D}" type="pres">
      <dgm:prSet presAssocID="{0C86D541-89BC-4FF3-B021-A4779A7B8D32}" presName="bgOutline" presStyleLbl="fgAcc1" presStyleIdx="1" presStyleCnt="5"/>
      <dgm:spPr/>
    </dgm:pt>
    <dgm:pt modelId="{47480B46-D973-4E3C-B7F1-22DA201B9204}" type="pres">
      <dgm:prSet presAssocID="{0C86D541-89BC-4FF3-B021-A4779A7B8D32}" presName="parentText" presStyleLbl="alignNode1" presStyleIdx="1" presStyleCnt="5">
        <dgm:presLayoutVars>
          <dgm:chMax val="1"/>
          <dgm:bulletEnabled/>
        </dgm:presLayoutVars>
      </dgm:prSet>
      <dgm:spPr/>
    </dgm:pt>
    <dgm:pt modelId="{AF0A1550-D846-4CE5-9603-F9AB9624FE55}" type="pres">
      <dgm:prSet presAssocID="{0C86D541-89BC-4FF3-B021-A4779A7B8D32}" presName="descendantText" presStyleLbl="revTx" presStyleIdx="0" presStyleCnt="0" custLinFactNeighborX="-720" custLinFactNeighborY="14811">
        <dgm:presLayoutVars>
          <dgm:bulletEnabled/>
        </dgm:presLayoutVars>
      </dgm:prSet>
      <dgm:spPr/>
    </dgm:pt>
    <dgm:pt modelId="{8B584DD9-00D3-47A6-AFCA-7453065E20F0}" type="pres">
      <dgm:prSet presAssocID="{9946C564-8451-46F6-83E5-02126E5E437B}" presName="sp" presStyleCnt="0"/>
      <dgm:spPr/>
    </dgm:pt>
    <dgm:pt modelId="{0AEACE7D-36F7-4009-96D9-E736DA9B5064}" type="pres">
      <dgm:prSet presAssocID="{20DD952A-CC96-4AA3-A66C-7F25265A9E0F}" presName="linNode" presStyleCnt="0"/>
      <dgm:spPr/>
    </dgm:pt>
    <dgm:pt modelId="{54FD755C-8E2F-4853-B173-E17E1B71F59C}" type="pres">
      <dgm:prSet presAssocID="{20DD952A-CC96-4AA3-A66C-7F25265A9E0F}" presName="bgOutline" presStyleLbl="fgAcc1" presStyleIdx="2" presStyleCnt="5"/>
      <dgm:spPr/>
    </dgm:pt>
    <dgm:pt modelId="{103873EF-3783-4A3B-AEA5-35DFADBC2AB7}" type="pres">
      <dgm:prSet presAssocID="{20DD952A-CC96-4AA3-A66C-7F25265A9E0F}" presName="parentText" presStyleLbl="alignNode1" presStyleIdx="2" presStyleCnt="5" custLinFactNeighborX="-2881" custLinFactNeighborY="0">
        <dgm:presLayoutVars>
          <dgm:chMax val="1"/>
          <dgm:bulletEnabled/>
        </dgm:presLayoutVars>
      </dgm:prSet>
      <dgm:spPr/>
    </dgm:pt>
    <dgm:pt modelId="{BDE760F3-EF22-404E-95E0-FEDC08E0CC4F}" type="pres">
      <dgm:prSet presAssocID="{20DD952A-CC96-4AA3-A66C-7F25265A9E0F}" presName="descendantText" presStyleLbl="revTx" presStyleIdx="0" presStyleCnt="0" custLinFactNeighborY="15029">
        <dgm:presLayoutVars>
          <dgm:bulletEnabled/>
        </dgm:presLayoutVars>
      </dgm:prSet>
      <dgm:spPr/>
    </dgm:pt>
    <dgm:pt modelId="{5640D92C-5A3C-448A-A1A2-A1D117B1BEF8}" type="pres">
      <dgm:prSet presAssocID="{6F075C83-A4FC-4CD4-9631-6A83429F3222}" presName="sp" presStyleCnt="0"/>
      <dgm:spPr/>
    </dgm:pt>
    <dgm:pt modelId="{C62C65C8-45CB-44E0-93ED-0F2C1A135492}" type="pres">
      <dgm:prSet presAssocID="{204AAAC9-33B6-46FE-BE8A-4EB0ABF174CC}" presName="linNode" presStyleCnt="0"/>
      <dgm:spPr/>
    </dgm:pt>
    <dgm:pt modelId="{4777B093-8FA8-46C0-B2DC-0C21CE04E2D1}" type="pres">
      <dgm:prSet presAssocID="{204AAAC9-33B6-46FE-BE8A-4EB0ABF174CC}" presName="bgOutline" presStyleLbl="fgAcc1" presStyleIdx="3" presStyleCnt="5"/>
      <dgm:spPr/>
    </dgm:pt>
    <dgm:pt modelId="{03184A24-E4FC-4C1E-9A54-FDBA181F7425}" type="pres">
      <dgm:prSet presAssocID="{204AAAC9-33B6-46FE-BE8A-4EB0ABF174CC}" presName="parentText" presStyleLbl="alignNode1" presStyleIdx="3" presStyleCnt="5">
        <dgm:presLayoutVars>
          <dgm:chMax val="1"/>
          <dgm:bulletEnabled/>
        </dgm:presLayoutVars>
      </dgm:prSet>
      <dgm:spPr/>
    </dgm:pt>
    <dgm:pt modelId="{3AE748B8-C218-40EA-A515-946CC6C4F8CF}" type="pres">
      <dgm:prSet presAssocID="{204AAAC9-33B6-46FE-BE8A-4EB0ABF174CC}" presName="descendantText" presStyleLbl="revTx" presStyleIdx="0" presStyleCnt="0" custLinFactNeighborY="13915">
        <dgm:presLayoutVars>
          <dgm:bulletEnabled/>
        </dgm:presLayoutVars>
      </dgm:prSet>
      <dgm:spPr/>
    </dgm:pt>
    <dgm:pt modelId="{FC6F45EB-9844-47B2-AB6B-E8E6B7A4659D}" type="pres">
      <dgm:prSet presAssocID="{DBBC39F2-2779-4A0F-8B9A-690ACFC046A9}" presName="sp" presStyleCnt="0"/>
      <dgm:spPr/>
    </dgm:pt>
    <dgm:pt modelId="{DA7AA13B-4D71-4730-A801-9A8BEAC69348}" type="pres">
      <dgm:prSet presAssocID="{0841B73E-5A0D-42C7-A33C-CA7F64ADDAE0}" presName="linNode" presStyleCnt="0"/>
      <dgm:spPr/>
    </dgm:pt>
    <dgm:pt modelId="{68CC06D1-9C7E-4ADC-88D5-8F542553C6EB}" type="pres">
      <dgm:prSet presAssocID="{0841B73E-5A0D-42C7-A33C-CA7F64ADDAE0}" presName="bgOutline" presStyleLbl="fgAcc1" presStyleIdx="4" presStyleCnt="5"/>
      <dgm:spPr/>
    </dgm:pt>
    <dgm:pt modelId="{4E8C9246-D96F-4667-9877-1DE5FDA9D93B}" type="pres">
      <dgm:prSet presAssocID="{0841B73E-5A0D-42C7-A33C-CA7F64ADDAE0}" presName="parentText" presStyleLbl="alignNode1" presStyleIdx="4" presStyleCnt="5">
        <dgm:presLayoutVars>
          <dgm:chMax val="1"/>
          <dgm:bulletEnabled/>
        </dgm:presLayoutVars>
      </dgm:prSet>
      <dgm:spPr/>
    </dgm:pt>
    <dgm:pt modelId="{82A0AFA2-74B3-425B-B56C-D64AF062C627}" type="pres">
      <dgm:prSet presAssocID="{0841B73E-5A0D-42C7-A33C-CA7F64ADDAE0}" presName="descendantText" presStyleLbl="revTx" presStyleIdx="0" presStyleCnt="0">
        <dgm:presLayoutVars>
          <dgm:bulletEnabled/>
        </dgm:presLayoutVars>
      </dgm:prSet>
      <dgm:spPr/>
    </dgm:pt>
  </dgm:ptLst>
  <dgm:cxnLst>
    <dgm:cxn modelId="{C5FE9915-2CD0-4F64-A210-3C86FCF87863}" srcId="{68EB4CFB-1DC4-45B1-8962-210E5683AA1F}" destId="{1FDE87FA-259D-4CD4-BD9D-15C91C43D291}" srcOrd="0" destOrd="0" parTransId="{09C4F818-424E-49F4-9025-7E1B4A0A79D6}" sibTransId="{61BAC955-68D5-4D3D-9F43-91DE57184FC8}"/>
    <dgm:cxn modelId="{F272BC1B-2D2E-49D0-BD6E-2F1E49160019}" type="presOf" srcId="{0C86D541-89BC-4FF3-B021-A4779A7B8D32}" destId="{D61E1D77-D1E9-40D0-B06D-862D65E49D5D}" srcOrd="0" destOrd="0" presId="urn:microsoft.com/office/officeart/2024/layout/VerticalActionList#5"/>
    <dgm:cxn modelId="{58DEF41D-9F6E-439E-8ADD-70D1E5F439F1}" type="presOf" srcId="{E4B6A0AD-933E-4776-82E7-FDE89CA3ACE4}" destId="{BDE760F3-EF22-404E-95E0-FEDC08E0CC4F}" srcOrd="0" destOrd="0" presId="urn:microsoft.com/office/officeart/2024/layout/VerticalActionList#5"/>
    <dgm:cxn modelId="{9CC29624-ACBA-41EA-A049-AEEB9D5891C4}" type="presOf" srcId="{204AAAC9-33B6-46FE-BE8A-4EB0ABF174CC}" destId="{03184A24-E4FC-4C1E-9A54-FDBA181F7425}" srcOrd="1" destOrd="0" presId="urn:microsoft.com/office/officeart/2024/layout/VerticalActionList#5"/>
    <dgm:cxn modelId="{F1AB7B25-1907-489A-963B-76D50A4CF7CD}" srcId="{62A9C0A1-F958-4FB3-876F-8540B6CAE375}" destId="{0C86D541-89BC-4FF3-B021-A4779A7B8D32}" srcOrd="1" destOrd="0" parTransId="{51201507-A1C1-461D-ACB3-EFAF2A01C609}" sibTransId="{9946C564-8451-46F6-83E5-02126E5E437B}"/>
    <dgm:cxn modelId="{1B9FB42A-DBD2-4346-8C2A-FD72CCA8C029}" type="presOf" srcId="{62A9C0A1-F958-4FB3-876F-8540B6CAE375}" destId="{1A86B4E9-60CA-4363-AE63-5AFF38EFE7E9}" srcOrd="0" destOrd="0" presId="urn:microsoft.com/office/officeart/2024/layout/VerticalActionList#5"/>
    <dgm:cxn modelId="{0639343B-9AFA-40FF-8EDF-B6FEB492D7C2}" srcId="{62A9C0A1-F958-4FB3-876F-8540B6CAE375}" destId="{20DD952A-CC96-4AA3-A66C-7F25265A9E0F}" srcOrd="2" destOrd="0" parTransId="{CD527D59-B3CA-4779-8B0C-904800FB2DCA}" sibTransId="{6F075C83-A4FC-4CD4-9631-6A83429F3222}"/>
    <dgm:cxn modelId="{4D5BC961-351E-4C26-9F28-2786959E2026}" type="presOf" srcId="{60A82100-9E66-4393-966A-AB27F4463871}" destId="{BDE760F3-EF22-404E-95E0-FEDC08E0CC4F}" srcOrd="0" destOrd="1" presId="urn:microsoft.com/office/officeart/2024/layout/VerticalActionList#5"/>
    <dgm:cxn modelId="{F22E0B48-CD6E-4B1A-9B98-E0545EEB3FFA}" srcId="{204AAAC9-33B6-46FE-BE8A-4EB0ABF174CC}" destId="{750C1610-FAC6-4172-A7D1-93C0889A6B2A}" srcOrd="1" destOrd="0" parTransId="{89D7490F-7FBF-45B0-947A-177B5EE149BC}" sibTransId="{A00D4377-4C35-4898-B2A0-651DED3D3992}"/>
    <dgm:cxn modelId="{C51BB94A-93DF-4AEB-8330-2B5F77884A6D}" type="presOf" srcId="{49B7D623-7062-4F38-9D40-4AD3FB9C5DD2}" destId="{AF0A1550-D846-4CE5-9603-F9AB9624FE55}" srcOrd="0" destOrd="0" presId="urn:microsoft.com/office/officeart/2024/layout/VerticalActionList#5"/>
    <dgm:cxn modelId="{DEF18D56-BD68-4B3D-9A02-3B9387EB0E9A}" type="presOf" srcId="{750C1610-FAC6-4172-A7D1-93C0889A6B2A}" destId="{3AE748B8-C218-40EA-A515-946CC6C4F8CF}" srcOrd="0" destOrd="1" presId="urn:microsoft.com/office/officeart/2024/layout/VerticalActionList#5"/>
    <dgm:cxn modelId="{1B409177-DEBB-4256-B2E9-723FC9F58580}" type="presOf" srcId="{204AAAC9-33B6-46FE-BE8A-4EB0ABF174CC}" destId="{4777B093-8FA8-46C0-B2DC-0C21CE04E2D1}" srcOrd="0" destOrd="0" presId="urn:microsoft.com/office/officeart/2024/layout/VerticalActionList#5"/>
    <dgm:cxn modelId="{42FF8678-2E5C-4DAD-8513-4DB735EF80AC}" type="presOf" srcId="{68EB4CFB-1DC4-45B1-8962-210E5683AA1F}" destId="{685667C4-1611-4B5E-B101-3C275BDB9181}" srcOrd="1" destOrd="0" presId="urn:microsoft.com/office/officeart/2024/layout/VerticalActionList#5"/>
    <dgm:cxn modelId="{2DFB6D7A-FBAF-4021-BC8B-968FEBCE7FD4}" type="presOf" srcId="{20DD952A-CC96-4AA3-A66C-7F25265A9E0F}" destId="{54FD755C-8E2F-4853-B173-E17E1B71F59C}" srcOrd="0" destOrd="0" presId="urn:microsoft.com/office/officeart/2024/layout/VerticalActionList#5"/>
    <dgm:cxn modelId="{713C0A7C-EC52-4F2E-9468-D3A1AB0144EE}" type="presOf" srcId="{11EEF0DB-9DA8-4872-B4B1-896ADD1EF634}" destId="{3AE748B8-C218-40EA-A515-946CC6C4F8CF}" srcOrd="0" destOrd="0" presId="urn:microsoft.com/office/officeart/2024/layout/VerticalActionList#5"/>
    <dgm:cxn modelId="{D97D3E9C-CAAD-4AD3-93EF-B23EA073226C}" srcId="{62A9C0A1-F958-4FB3-876F-8540B6CAE375}" destId="{204AAAC9-33B6-46FE-BE8A-4EB0ABF174CC}" srcOrd="3" destOrd="0" parTransId="{93967CB2-7C83-453D-BF33-2770CB99A50C}" sibTransId="{DBBC39F2-2779-4A0F-8B9A-690ACFC046A9}"/>
    <dgm:cxn modelId="{316CF7A1-D60F-40B0-AB3F-1BEC8C7A5D99}" srcId="{62A9C0A1-F958-4FB3-876F-8540B6CAE375}" destId="{68EB4CFB-1DC4-45B1-8962-210E5683AA1F}" srcOrd="0" destOrd="0" parTransId="{B45BAA14-08FC-40B3-80D7-1A6D6A82883F}" sibTransId="{C2FAB4F3-16F0-4B4F-940E-64317BFB4610}"/>
    <dgm:cxn modelId="{DA89C1A3-C879-4400-A127-FDDC21DB2941}" type="presOf" srcId="{0C86D541-89BC-4FF3-B021-A4779A7B8D32}" destId="{47480B46-D973-4E3C-B7F1-22DA201B9204}" srcOrd="1" destOrd="0" presId="urn:microsoft.com/office/officeart/2024/layout/VerticalActionList#5"/>
    <dgm:cxn modelId="{6994E3A6-C03D-4CDE-A68D-4307482A115B}" type="presOf" srcId="{0841B73E-5A0D-42C7-A33C-CA7F64ADDAE0}" destId="{68CC06D1-9C7E-4ADC-88D5-8F542553C6EB}" srcOrd="0" destOrd="0" presId="urn:microsoft.com/office/officeart/2024/layout/VerticalActionList#5"/>
    <dgm:cxn modelId="{7831A6AB-8AAC-4EA5-80AA-0C188D1859B5}" srcId="{0C86D541-89BC-4FF3-B021-A4779A7B8D32}" destId="{8829F31F-3367-46B6-8BDE-D79DAF9F0A95}" srcOrd="1" destOrd="0" parTransId="{5E9B317E-152F-4F97-86A6-133E53C2B0FC}" sibTransId="{0FDE3060-997C-45BA-90C6-B0F721CF1F93}"/>
    <dgm:cxn modelId="{1B57DFAE-F671-4F17-AFC4-C69FDEC689D1}" srcId="{204AAAC9-33B6-46FE-BE8A-4EB0ABF174CC}" destId="{11EEF0DB-9DA8-4872-B4B1-896ADD1EF634}" srcOrd="0" destOrd="0" parTransId="{59121083-4FCF-4440-8DF8-168EDE4726DF}" sibTransId="{AE45E28A-FDC9-4F99-9D48-EBC56E3ABA5E}"/>
    <dgm:cxn modelId="{881B2FB2-D37C-4371-BE5A-3E12E4497007}" type="presOf" srcId="{20DD952A-CC96-4AA3-A66C-7F25265A9E0F}" destId="{103873EF-3783-4A3B-AEA5-35DFADBC2AB7}" srcOrd="1" destOrd="0" presId="urn:microsoft.com/office/officeart/2024/layout/VerticalActionList#5"/>
    <dgm:cxn modelId="{D82FC5B7-C8CA-4F62-A74B-A1962488BF02}" srcId="{20DD952A-CC96-4AA3-A66C-7F25265A9E0F}" destId="{E4B6A0AD-933E-4776-82E7-FDE89CA3ACE4}" srcOrd="0" destOrd="0" parTransId="{D49A0338-8BFB-451F-87B0-0955635D887B}" sibTransId="{23A6F00C-333A-4412-A7D1-C5327B921989}"/>
    <dgm:cxn modelId="{ACB07BBF-A834-4863-8F3A-C50B2EE407F3}" srcId="{62A9C0A1-F958-4FB3-876F-8540B6CAE375}" destId="{0841B73E-5A0D-42C7-A33C-CA7F64ADDAE0}" srcOrd="4" destOrd="0" parTransId="{BCECB928-76E1-4A25-BD8F-E43B30F2A5C2}" sibTransId="{407EB64C-40FF-4643-807E-746EF2B9EBE1}"/>
    <dgm:cxn modelId="{3BB19BC6-D4FA-495C-9BBA-735C985B2804}" srcId="{20DD952A-CC96-4AA3-A66C-7F25265A9E0F}" destId="{60A82100-9E66-4393-966A-AB27F4463871}" srcOrd="1" destOrd="0" parTransId="{3CB32E7C-CCD7-45DA-97FD-A64E512161D5}" sibTransId="{7A2A9573-2343-48A5-A5B6-DE936E4DBD55}"/>
    <dgm:cxn modelId="{83E01DC7-55FA-474E-9641-18D828F78D77}" type="presOf" srcId="{68EB4CFB-1DC4-45B1-8962-210E5683AA1F}" destId="{AB1615CE-91B5-4E2B-A3FF-D298F9AE4D4E}" srcOrd="0" destOrd="0" presId="urn:microsoft.com/office/officeart/2024/layout/VerticalActionList#5"/>
    <dgm:cxn modelId="{82BF05CA-16DB-400D-BCDA-588E306A144A}" type="presOf" srcId="{1FDE87FA-259D-4CD4-BD9D-15C91C43D291}" destId="{B507F783-0231-48F1-BA84-4EE418EBB801}" srcOrd="0" destOrd="0" presId="urn:microsoft.com/office/officeart/2024/layout/VerticalActionList#5"/>
    <dgm:cxn modelId="{C37EA5CC-4E63-432E-8526-83944A49DDE2}" type="presOf" srcId="{0841B73E-5A0D-42C7-A33C-CA7F64ADDAE0}" destId="{4E8C9246-D96F-4667-9877-1DE5FDA9D93B}" srcOrd="1" destOrd="0" presId="urn:microsoft.com/office/officeart/2024/layout/VerticalActionList#5"/>
    <dgm:cxn modelId="{1B47E0D8-46CF-440C-88E8-B361C21404D3}" type="presOf" srcId="{8829F31F-3367-46B6-8BDE-D79DAF9F0A95}" destId="{AF0A1550-D846-4CE5-9603-F9AB9624FE55}" srcOrd="0" destOrd="1" presId="urn:microsoft.com/office/officeart/2024/layout/VerticalActionList#5"/>
    <dgm:cxn modelId="{A08377DA-AB17-4483-B1CD-A2AF83C2DAFA}" type="presOf" srcId="{368BAB48-7FA9-455F-835E-968E0E8E9765}" destId="{82A0AFA2-74B3-425B-B56C-D64AF062C627}" srcOrd="0" destOrd="0" presId="urn:microsoft.com/office/officeart/2024/layout/VerticalActionList#5"/>
    <dgm:cxn modelId="{EDB700DC-6C44-4434-A63C-E956CEC941ED}" srcId="{0841B73E-5A0D-42C7-A33C-CA7F64ADDAE0}" destId="{368BAB48-7FA9-455F-835E-968E0E8E9765}" srcOrd="0" destOrd="0" parTransId="{5930E890-2337-4017-A1F2-0858D5E5A6F4}" sibTransId="{5989C807-F191-49FA-96C6-922478362F00}"/>
    <dgm:cxn modelId="{2F96E4DC-A523-4BC0-8972-C136B9C9FEA4}" srcId="{0C86D541-89BC-4FF3-B021-A4779A7B8D32}" destId="{49B7D623-7062-4F38-9D40-4AD3FB9C5DD2}" srcOrd="0" destOrd="0" parTransId="{2116F214-974B-4FBD-9078-206031127E1C}" sibTransId="{0C3FB4F6-7ABF-40E8-8B7F-F2358C8BE76B}"/>
    <dgm:cxn modelId="{4EE49B89-47E0-484D-9EDE-F731A17AE1EA}" type="presParOf" srcId="{1A86B4E9-60CA-4363-AE63-5AFF38EFE7E9}" destId="{B85C4901-B390-40D4-8C8A-EA17A076D2AA}" srcOrd="0" destOrd="0" presId="urn:microsoft.com/office/officeart/2024/layout/VerticalActionList#5"/>
    <dgm:cxn modelId="{591D6277-1903-47B9-B7E8-A0A740EC30E6}" type="presParOf" srcId="{B85C4901-B390-40D4-8C8A-EA17A076D2AA}" destId="{AB1615CE-91B5-4E2B-A3FF-D298F9AE4D4E}" srcOrd="0" destOrd="0" presId="urn:microsoft.com/office/officeart/2024/layout/VerticalActionList#5"/>
    <dgm:cxn modelId="{43FF1BEA-E1C5-4239-BE53-5941FF70778B}" type="presParOf" srcId="{B85C4901-B390-40D4-8C8A-EA17A076D2AA}" destId="{685667C4-1611-4B5E-B101-3C275BDB9181}" srcOrd="1" destOrd="0" presId="urn:microsoft.com/office/officeart/2024/layout/VerticalActionList#5"/>
    <dgm:cxn modelId="{4BC45246-FD3F-4100-A848-C1662243EC80}" type="presParOf" srcId="{B85C4901-B390-40D4-8C8A-EA17A076D2AA}" destId="{B507F783-0231-48F1-BA84-4EE418EBB801}" srcOrd="2" destOrd="0" presId="urn:microsoft.com/office/officeart/2024/layout/VerticalActionList#5"/>
    <dgm:cxn modelId="{87D77BD1-4F8A-48DA-AE42-1F9177843EA1}" type="presParOf" srcId="{1A86B4E9-60CA-4363-AE63-5AFF38EFE7E9}" destId="{23FA3520-5543-4145-AA5A-FB637C6B083A}" srcOrd="1" destOrd="0" presId="urn:microsoft.com/office/officeart/2024/layout/VerticalActionList#5"/>
    <dgm:cxn modelId="{30712C50-BA7D-4D34-ACE1-0719A6C374DE}" type="presParOf" srcId="{1A86B4E9-60CA-4363-AE63-5AFF38EFE7E9}" destId="{1B2B0BBC-7625-41CE-8FBC-6AEFC683BFBD}" srcOrd="2" destOrd="0" presId="urn:microsoft.com/office/officeart/2024/layout/VerticalActionList#5"/>
    <dgm:cxn modelId="{C66AE605-AD42-4395-9484-138FB9A96E24}" type="presParOf" srcId="{1B2B0BBC-7625-41CE-8FBC-6AEFC683BFBD}" destId="{D61E1D77-D1E9-40D0-B06D-862D65E49D5D}" srcOrd="0" destOrd="0" presId="urn:microsoft.com/office/officeart/2024/layout/VerticalActionList#5"/>
    <dgm:cxn modelId="{3DA5F378-5E1F-4139-AEBA-1D82A8469AAE}" type="presParOf" srcId="{1B2B0BBC-7625-41CE-8FBC-6AEFC683BFBD}" destId="{47480B46-D973-4E3C-B7F1-22DA201B9204}" srcOrd="1" destOrd="0" presId="urn:microsoft.com/office/officeart/2024/layout/VerticalActionList#5"/>
    <dgm:cxn modelId="{EB57524A-8040-4AA2-B9EE-6F8B7B2EE5D3}" type="presParOf" srcId="{1B2B0BBC-7625-41CE-8FBC-6AEFC683BFBD}" destId="{AF0A1550-D846-4CE5-9603-F9AB9624FE55}" srcOrd="2" destOrd="0" presId="urn:microsoft.com/office/officeart/2024/layout/VerticalActionList#5"/>
    <dgm:cxn modelId="{44AD1A08-3FEB-4EC9-9A7F-A6A7AA9ABDD1}" type="presParOf" srcId="{1A86B4E9-60CA-4363-AE63-5AFF38EFE7E9}" destId="{8B584DD9-00D3-47A6-AFCA-7453065E20F0}" srcOrd="3" destOrd="0" presId="urn:microsoft.com/office/officeart/2024/layout/VerticalActionList#5"/>
    <dgm:cxn modelId="{F8E94EC8-4509-499A-A7D1-DDB5897F1062}" type="presParOf" srcId="{1A86B4E9-60CA-4363-AE63-5AFF38EFE7E9}" destId="{0AEACE7D-36F7-4009-96D9-E736DA9B5064}" srcOrd="4" destOrd="0" presId="urn:microsoft.com/office/officeart/2024/layout/VerticalActionList#5"/>
    <dgm:cxn modelId="{9015BDC1-560B-4ACF-9D06-C249F915BD2A}" type="presParOf" srcId="{0AEACE7D-36F7-4009-96D9-E736DA9B5064}" destId="{54FD755C-8E2F-4853-B173-E17E1B71F59C}" srcOrd="0" destOrd="0" presId="urn:microsoft.com/office/officeart/2024/layout/VerticalActionList#5"/>
    <dgm:cxn modelId="{4F886F27-E8A7-4E73-8B60-F665D9995322}" type="presParOf" srcId="{0AEACE7D-36F7-4009-96D9-E736DA9B5064}" destId="{103873EF-3783-4A3B-AEA5-35DFADBC2AB7}" srcOrd="1" destOrd="0" presId="urn:microsoft.com/office/officeart/2024/layout/VerticalActionList#5"/>
    <dgm:cxn modelId="{BA5288C4-04C7-4C6E-BE47-D071DCFB2357}" type="presParOf" srcId="{0AEACE7D-36F7-4009-96D9-E736DA9B5064}" destId="{BDE760F3-EF22-404E-95E0-FEDC08E0CC4F}" srcOrd="2" destOrd="0" presId="urn:microsoft.com/office/officeart/2024/layout/VerticalActionList#5"/>
    <dgm:cxn modelId="{0AD2A3ED-2D29-4687-B228-971878191B8D}" type="presParOf" srcId="{1A86B4E9-60CA-4363-AE63-5AFF38EFE7E9}" destId="{5640D92C-5A3C-448A-A1A2-A1D117B1BEF8}" srcOrd="5" destOrd="0" presId="urn:microsoft.com/office/officeart/2024/layout/VerticalActionList#5"/>
    <dgm:cxn modelId="{5B7FD79E-984E-4705-B477-2C2B6EB0CE50}" type="presParOf" srcId="{1A86B4E9-60CA-4363-AE63-5AFF38EFE7E9}" destId="{C62C65C8-45CB-44E0-93ED-0F2C1A135492}" srcOrd="6" destOrd="0" presId="urn:microsoft.com/office/officeart/2024/layout/VerticalActionList#5"/>
    <dgm:cxn modelId="{D9B9E595-519E-49ED-8F87-41D143C680E6}" type="presParOf" srcId="{C62C65C8-45CB-44E0-93ED-0F2C1A135492}" destId="{4777B093-8FA8-46C0-B2DC-0C21CE04E2D1}" srcOrd="0" destOrd="0" presId="urn:microsoft.com/office/officeart/2024/layout/VerticalActionList#5"/>
    <dgm:cxn modelId="{0C8DEC9D-E060-4CB8-BAB6-C0EB330DE426}" type="presParOf" srcId="{C62C65C8-45CB-44E0-93ED-0F2C1A135492}" destId="{03184A24-E4FC-4C1E-9A54-FDBA181F7425}" srcOrd="1" destOrd="0" presId="urn:microsoft.com/office/officeart/2024/layout/VerticalActionList#5"/>
    <dgm:cxn modelId="{DE29A974-FC55-46CA-A30C-322241A6C777}" type="presParOf" srcId="{C62C65C8-45CB-44E0-93ED-0F2C1A135492}" destId="{3AE748B8-C218-40EA-A515-946CC6C4F8CF}" srcOrd="2" destOrd="0" presId="urn:microsoft.com/office/officeart/2024/layout/VerticalActionList#5"/>
    <dgm:cxn modelId="{A972988F-8CE9-4AD4-AD25-3A10C07D375E}" type="presParOf" srcId="{1A86B4E9-60CA-4363-AE63-5AFF38EFE7E9}" destId="{FC6F45EB-9844-47B2-AB6B-E8E6B7A4659D}" srcOrd="7" destOrd="0" presId="urn:microsoft.com/office/officeart/2024/layout/VerticalActionList#5"/>
    <dgm:cxn modelId="{FBCA246E-858D-49AE-9939-EBD4AEDC816B}" type="presParOf" srcId="{1A86B4E9-60CA-4363-AE63-5AFF38EFE7E9}" destId="{DA7AA13B-4D71-4730-A801-9A8BEAC69348}" srcOrd="8" destOrd="0" presId="urn:microsoft.com/office/officeart/2024/layout/VerticalActionList#5"/>
    <dgm:cxn modelId="{1CACBD0C-5370-4541-804B-D9EDB4ECBA7D}" type="presParOf" srcId="{DA7AA13B-4D71-4730-A801-9A8BEAC69348}" destId="{68CC06D1-9C7E-4ADC-88D5-8F542553C6EB}" srcOrd="0" destOrd="0" presId="urn:microsoft.com/office/officeart/2024/layout/VerticalActionList#5"/>
    <dgm:cxn modelId="{27B26EAC-9415-40EE-80C8-6B775C6634B7}" type="presParOf" srcId="{DA7AA13B-4D71-4730-A801-9A8BEAC69348}" destId="{4E8C9246-D96F-4667-9877-1DE5FDA9D93B}" srcOrd="1" destOrd="0" presId="urn:microsoft.com/office/officeart/2024/layout/VerticalActionList#5"/>
    <dgm:cxn modelId="{9F0A0722-7C09-4FDD-B711-C90BABF9F7C0}" type="presParOf" srcId="{DA7AA13B-4D71-4730-A801-9A8BEAC69348}" destId="{82A0AFA2-74B3-425B-B56C-D64AF062C627}" srcOrd="2" destOrd="0" presId="urn:microsoft.com/office/officeart/2024/layout/VerticalAction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2A9C0A1-F958-4FB3-876F-8540B6CAE375}" type="doc">
      <dgm:prSet loTypeId="urn:microsoft.com/office/officeart/2024/layout/VerticalActionList#6" loCatId="list" qsTypeId="urn:microsoft.com/office/officeart/2005/8/quickstyle/simple1#24" qsCatId="simple" csTypeId="urn:microsoft.com/office/officeart/2005/8/colors/accent1_2#16" csCatId="accent1" phldr="1"/>
      <dgm:spPr/>
      <dgm:t>
        <a:bodyPr/>
        <a:lstStyle/>
        <a:p>
          <a:endParaRPr lang="zh-CN" altLang="en-US"/>
        </a:p>
      </dgm:t>
    </dgm:pt>
    <dgm:pt modelId="{368BAB48-7FA9-455F-835E-968E0E8E9765}">
      <dgm:prSet phldrT="[文本]" custT="1"/>
      <dgm:spPr/>
      <dgm:t>
        <a:bodyPr/>
        <a:lstStyle/>
        <a:p>
          <a:r>
            <a:rPr lang="zh-CN" altLang="en-US" sz="1600" dirty="0">
              <a:latin typeface="微软雅黑" panose="020B0503020204020204" pitchFamily="34" charset="-122"/>
              <a:ea typeface="微软雅黑" panose="020B0503020204020204" pitchFamily="34" charset="-122"/>
            </a:rPr>
            <a:t>全方位、全流程的数据安全防护体系，为数据集技术创新与应用提供坚实安全保障，兼顾数据开发利用与隐私安全保护。</a:t>
          </a:r>
          <a:endParaRPr lang="zh-CN" altLang="en-US" sz="1600" dirty="0"/>
        </a:p>
      </dgm:t>
    </dgm:pt>
    <dgm:pt modelId="{0841B73E-5A0D-42C7-A33C-CA7F64ADDAE0}">
      <dgm:prSet phldrT="[文本]" custT="1"/>
      <dgm:spPr/>
      <dgm:t>
        <a:bodyPr/>
        <a:lstStyle/>
        <a:p>
          <a:pPr algn="ctr">
            <a:buFont typeface="Wingdings" panose="05000000000000000000" pitchFamily="2" charset="2"/>
            <a:buChar char="Ø"/>
          </a:pPr>
          <a:r>
            <a:rPr lang="zh-CN" altLang="en-US" sz="1800" b="1" dirty="0">
              <a:solidFill>
                <a:schemeClr val="bg1"/>
              </a:solidFill>
              <a:latin typeface="微软雅黑" panose="020B0503020204020204" pitchFamily="34" charset="-122"/>
              <a:ea typeface="微软雅黑" panose="020B0503020204020204" pitchFamily="34" charset="-122"/>
            </a:rPr>
            <a:t>安全可信技术创新</a:t>
          </a:r>
          <a:endParaRPr lang="zh-CN" altLang="en-US" sz="1800" dirty="0">
            <a:solidFill>
              <a:schemeClr val="bg1"/>
            </a:solidFill>
          </a:endParaRPr>
        </a:p>
      </dgm:t>
    </dgm:pt>
    <dgm:pt modelId="{407EB64C-40FF-4643-807E-746EF2B9EBE1}" type="sibTrans" cxnId="{ACB07BBF-A834-4863-8F3A-C50B2EE407F3}">
      <dgm:prSet/>
      <dgm:spPr/>
      <dgm:t>
        <a:bodyPr/>
        <a:lstStyle/>
        <a:p>
          <a:endParaRPr lang="zh-CN" altLang="en-US"/>
        </a:p>
      </dgm:t>
    </dgm:pt>
    <dgm:pt modelId="{BCECB928-76E1-4A25-BD8F-E43B30F2A5C2}" type="parTrans" cxnId="{ACB07BBF-A834-4863-8F3A-C50B2EE407F3}">
      <dgm:prSet/>
      <dgm:spPr/>
      <dgm:t>
        <a:bodyPr/>
        <a:lstStyle/>
        <a:p>
          <a:endParaRPr lang="zh-CN" altLang="en-US"/>
        </a:p>
      </dgm:t>
    </dgm:pt>
    <dgm:pt modelId="{5989C807-F191-49FA-96C6-922478362F00}" type="sibTrans" cxnId="{EDB700DC-6C44-4434-A63C-E956CEC941ED}">
      <dgm:prSet/>
      <dgm:spPr/>
      <dgm:t>
        <a:bodyPr/>
        <a:lstStyle/>
        <a:p>
          <a:endParaRPr lang="zh-CN" altLang="en-US"/>
        </a:p>
      </dgm:t>
    </dgm:pt>
    <dgm:pt modelId="{5930E890-2337-4017-A1F2-0858D5E5A6F4}" type="parTrans" cxnId="{EDB700DC-6C44-4434-A63C-E956CEC941ED}">
      <dgm:prSet/>
      <dgm:spPr/>
      <dgm:t>
        <a:bodyPr/>
        <a:lstStyle/>
        <a:p>
          <a:endParaRPr lang="zh-CN" altLang="en-US"/>
        </a:p>
      </dgm:t>
    </dgm:pt>
    <dgm:pt modelId="{11EEF0DB-9DA8-4872-B4B1-896ADD1EF634}">
      <dgm:prSet phldrT="[文本]" custT="1"/>
      <dgm:spPr/>
      <dgm:t>
        <a:bodyPr/>
        <a:lstStyle/>
        <a:p>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现数据集与不同中医药 </a:t>
          </a:r>
          <a:r>
            <a:rPr lang="en-US" altLang="en-US" sz="1600" dirty="0">
              <a:latin typeface="微软雅黑" panose="020B0503020204020204" pitchFamily="34" charset="-122"/>
              <a:ea typeface="微软雅黑" panose="020B0503020204020204" pitchFamily="34" charset="-122"/>
            </a:rPr>
            <a:t>AI </a:t>
          </a:r>
          <a:r>
            <a:rPr lang="zh-CN" altLang="en-US" sz="1600" dirty="0">
              <a:latin typeface="微软雅黑" panose="020B0503020204020204" pitchFamily="34" charset="-122"/>
              <a:ea typeface="微软雅黑" panose="020B0503020204020204" pitchFamily="34" charset="-122"/>
            </a:rPr>
            <a:t>应用场景的精准匹配，提升数据价值转化率，推动高质量数据集真正赋能 </a:t>
          </a:r>
          <a:r>
            <a:rPr lang="en-US" altLang="en-US" sz="1600" dirty="0">
              <a:latin typeface="微软雅黑" panose="020B0503020204020204" pitchFamily="34" charset="-122"/>
              <a:ea typeface="微软雅黑" panose="020B0503020204020204" pitchFamily="34" charset="-122"/>
            </a:rPr>
            <a:t>AI </a:t>
          </a:r>
          <a:r>
            <a:rPr lang="zh-CN" altLang="en-US" sz="1600" dirty="0">
              <a:latin typeface="微软雅黑" panose="020B0503020204020204" pitchFamily="34" charset="-122"/>
              <a:ea typeface="微软雅黑" panose="020B0503020204020204" pitchFamily="34" charset="-122"/>
            </a:rPr>
            <a:t>应用落地。</a:t>
          </a:r>
          <a:endParaRPr lang="zh-CN" altLang="en-US" sz="1600" dirty="0"/>
        </a:p>
      </dgm:t>
    </dgm:pt>
    <dgm:pt modelId="{204AAAC9-33B6-46FE-BE8A-4EB0ABF174CC}">
      <dgm:prSet phldrT="[文本]" custT="1"/>
      <dgm:spPr/>
      <dgm:t>
        <a:bodyPr/>
        <a:lstStyle/>
        <a:p>
          <a:pPr algn="ctr">
            <a:buFont typeface="Wingdings" panose="05000000000000000000" pitchFamily="2" charset="2"/>
            <a:buChar char="Ø"/>
          </a:pPr>
          <a:r>
            <a:rPr lang="en-US" altLang="zh-CN" sz="1800" b="1" dirty="0">
              <a:solidFill>
                <a:schemeClr val="bg1"/>
              </a:solidFill>
              <a:latin typeface="微软雅黑" panose="020B0503020204020204" pitchFamily="34" charset="-122"/>
              <a:ea typeface="微软雅黑" panose="020B0503020204020204" pitchFamily="34" charset="-122"/>
            </a:rPr>
            <a:t>AI </a:t>
          </a:r>
          <a:r>
            <a:rPr lang="zh-CN" altLang="en-US" sz="1800" b="1" dirty="0">
              <a:solidFill>
                <a:schemeClr val="bg1"/>
              </a:solidFill>
              <a:latin typeface="微软雅黑" panose="020B0503020204020204" pitchFamily="34" charset="-122"/>
              <a:ea typeface="微软雅黑" panose="020B0503020204020204" pitchFamily="34" charset="-122"/>
            </a:rPr>
            <a:t>场景适配技术创新</a:t>
          </a:r>
          <a:endParaRPr lang="zh-CN" altLang="en-US" sz="1800" dirty="0">
            <a:solidFill>
              <a:schemeClr val="bg1"/>
            </a:solidFill>
          </a:endParaRPr>
        </a:p>
      </dgm:t>
    </dgm:pt>
    <dgm:pt modelId="{DBBC39F2-2779-4A0F-8B9A-690ACFC046A9}" type="sibTrans" cxnId="{D97D3E9C-CAAD-4AD3-93EF-B23EA073226C}">
      <dgm:prSet/>
      <dgm:spPr/>
      <dgm:t>
        <a:bodyPr/>
        <a:lstStyle/>
        <a:p>
          <a:endParaRPr lang="zh-CN" altLang="en-US"/>
        </a:p>
      </dgm:t>
    </dgm:pt>
    <dgm:pt modelId="{93967CB2-7C83-453D-BF33-2770CB99A50C}" type="parTrans" cxnId="{D97D3E9C-CAAD-4AD3-93EF-B23EA073226C}">
      <dgm:prSet/>
      <dgm:spPr/>
      <dgm:t>
        <a:bodyPr/>
        <a:lstStyle/>
        <a:p>
          <a:endParaRPr lang="zh-CN" altLang="en-US"/>
        </a:p>
      </dgm:t>
    </dgm:pt>
    <dgm:pt modelId="{AE45E28A-FDC9-4F99-9D48-EBC56E3ABA5E}" type="sibTrans" cxnId="{1B57DFAE-F671-4F17-AFC4-C69FDEC689D1}">
      <dgm:prSet/>
      <dgm:spPr/>
      <dgm:t>
        <a:bodyPr/>
        <a:lstStyle/>
        <a:p>
          <a:endParaRPr lang="zh-CN" altLang="en-US"/>
        </a:p>
      </dgm:t>
    </dgm:pt>
    <dgm:pt modelId="{59121083-4FCF-4440-8DF8-168EDE4726DF}" type="parTrans" cxnId="{1B57DFAE-F671-4F17-AFC4-C69FDEC689D1}">
      <dgm:prSet/>
      <dgm:spPr/>
      <dgm:t>
        <a:bodyPr/>
        <a:lstStyle/>
        <a:p>
          <a:endParaRPr lang="zh-CN" altLang="en-US"/>
        </a:p>
      </dgm:t>
    </dgm:pt>
    <dgm:pt modelId="{E4B6A0AD-933E-4776-82E7-FDE89CA3ACE4}">
      <dgm:prSet phldrT="[文本]" custT="1"/>
      <dgm:spPr/>
      <dgm:t>
        <a:bodyPr/>
        <a:lstStyle/>
        <a:p>
          <a:r>
            <a:rPr lang="zh-CN" altLang="en-US" sz="1600" dirty="0">
              <a:latin typeface="微软雅黑" panose="020B0503020204020204" pitchFamily="34" charset="-122"/>
              <a:ea typeface="微软雅黑" panose="020B0503020204020204" pitchFamily="34" charset="-122"/>
            </a:rPr>
            <a:t>标注质量控制体系，提升标注效率与准确性，探索人机协同标注模式，确保标注结果符合中医药理论与临床规范，为模型训练提供高质量标注数据。</a:t>
          </a:r>
          <a:endParaRPr lang="zh-CN" altLang="en-US" sz="1600" dirty="0"/>
        </a:p>
      </dgm:t>
    </dgm:pt>
    <dgm:pt modelId="{20DD952A-CC96-4AA3-A66C-7F25265A9E0F}">
      <dgm:prSet phldrT="[文本]" custT="1"/>
      <dgm:spPr/>
      <dgm:t>
        <a:bodyPr/>
        <a:lstStyle/>
        <a:p>
          <a:pPr algn="ctr">
            <a:buFont typeface="Wingdings" panose="05000000000000000000" pitchFamily="2" charset="2"/>
            <a:buChar char="Ø"/>
          </a:pPr>
          <a:r>
            <a:rPr lang="zh-CN" altLang="en-US" sz="1800" b="1" i="0" dirty="0">
              <a:solidFill>
                <a:schemeClr val="bg1"/>
              </a:solidFill>
              <a:effectLst/>
              <a:latin typeface="微软雅黑" panose="020B0503020204020204" pitchFamily="34" charset="-122"/>
              <a:ea typeface="微软雅黑" panose="020B0503020204020204" pitchFamily="34" charset="-122"/>
            </a:rPr>
            <a:t>数据标注技术创新</a:t>
          </a:r>
          <a:endParaRPr lang="zh-CN" altLang="en-US" sz="1800" dirty="0">
            <a:solidFill>
              <a:schemeClr val="bg1"/>
            </a:solidFill>
          </a:endParaRPr>
        </a:p>
      </dgm:t>
    </dgm:pt>
    <dgm:pt modelId="{6F075C83-A4FC-4CD4-9631-6A83429F3222}" type="sibTrans" cxnId="{0639343B-9AFA-40FF-8EDF-B6FEB492D7C2}">
      <dgm:prSet/>
      <dgm:spPr/>
      <dgm:t>
        <a:bodyPr/>
        <a:lstStyle/>
        <a:p>
          <a:endParaRPr lang="zh-CN" altLang="en-US"/>
        </a:p>
      </dgm:t>
    </dgm:pt>
    <dgm:pt modelId="{CD527D59-B3CA-4779-8B0C-904800FB2DCA}" type="parTrans" cxnId="{0639343B-9AFA-40FF-8EDF-B6FEB492D7C2}">
      <dgm:prSet/>
      <dgm:spPr/>
      <dgm:t>
        <a:bodyPr/>
        <a:lstStyle/>
        <a:p>
          <a:endParaRPr lang="zh-CN" altLang="en-US"/>
        </a:p>
      </dgm:t>
    </dgm:pt>
    <dgm:pt modelId="{23A6F00C-333A-4412-A7D1-C5327B921989}" type="sibTrans" cxnId="{D82FC5B7-C8CA-4F62-A74B-A1962488BF02}">
      <dgm:prSet/>
      <dgm:spPr/>
      <dgm:t>
        <a:bodyPr/>
        <a:lstStyle/>
        <a:p>
          <a:endParaRPr lang="zh-CN" altLang="en-US"/>
        </a:p>
      </dgm:t>
    </dgm:pt>
    <dgm:pt modelId="{D49A0338-8BFB-451F-87B0-0955635D887B}" type="parTrans" cxnId="{D82FC5B7-C8CA-4F62-A74B-A1962488BF02}">
      <dgm:prSet/>
      <dgm:spPr/>
      <dgm:t>
        <a:bodyPr/>
        <a:lstStyle/>
        <a:p>
          <a:endParaRPr lang="zh-CN" altLang="en-US"/>
        </a:p>
      </dgm:t>
    </dgm:pt>
    <dgm:pt modelId="{49B7D623-7062-4F38-9D40-4AD3FB9C5DD2}">
      <dgm:prSet phldrT="[文本]" custT="1"/>
      <dgm:spPr/>
      <dgm:t>
        <a:bodyPr/>
        <a:lstStyle/>
        <a:p>
          <a:r>
            <a:rPr lang="zh-CN" altLang="en-US" sz="1600" i="0" dirty="0">
              <a:effectLst/>
              <a:latin typeface="微软雅黑" panose="020B0503020204020204" pitchFamily="34" charset="-122"/>
              <a:ea typeface="微软雅黑" panose="020B0503020204020204" pitchFamily="34" charset="-122"/>
            </a:rPr>
            <a:t>建覆盖元数据管理、质量规则制定、血缘溯源与版本管理的智能治理体系，有效解决中医药数据异构性强、语义模糊、质量参差不齐等突出问题，显著提升数据可用性与 </a:t>
          </a:r>
          <a:r>
            <a:rPr lang="en-US" altLang="en-US" sz="1600" i="0" dirty="0">
              <a:effectLst/>
              <a:latin typeface="微软雅黑" panose="020B0503020204020204" pitchFamily="34" charset="-122"/>
              <a:ea typeface="微软雅黑" panose="020B0503020204020204" pitchFamily="34" charset="-122"/>
            </a:rPr>
            <a:t>AI </a:t>
          </a:r>
          <a:r>
            <a:rPr lang="zh-CN" altLang="en-US" sz="1600" i="0" dirty="0">
              <a:effectLst/>
              <a:latin typeface="微软雅黑" panose="020B0503020204020204" pitchFamily="34" charset="-122"/>
              <a:ea typeface="微软雅黑" panose="020B0503020204020204" pitchFamily="34" charset="-122"/>
            </a:rPr>
            <a:t>适配性。</a:t>
          </a:r>
          <a:endParaRPr lang="zh-CN" altLang="en-US" sz="1600" dirty="0"/>
        </a:p>
      </dgm:t>
    </dgm:pt>
    <dgm:pt modelId="{0C86D541-89BC-4FF3-B021-A4779A7B8D32}">
      <dgm:prSet phldrT="[文本]" custT="1"/>
      <dgm:spPr/>
      <dgm:t>
        <a:bodyPr/>
        <a:lstStyle/>
        <a:p>
          <a:pPr algn="ctr">
            <a:buFont typeface="Wingdings" panose="05000000000000000000" pitchFamily="2" charset="2"/>
            <a:buChar char="Ø"/>
          </a:pPr>
          <a:r>
            <a:rPr lang="zh-CN" altLang="en-US" sz="1800" b="1" i="0" dirty="0">
              <a:solidFill>
                <a:schemeClr val="bg1"/>
              </a:solidFill>
              <a:effectLst/>
              <a:latin typeface="微软雅黑" panose="020B0503020204020204" pitchFamily="34" charset="-122"/>
              <a:ea typeface="微软雅黑" panose="020B0503020204020204" pitchFamily="34" charset="-122"/>
            </a:rPr>
            <a:t>数据治理技术创新</a:t>
          </a:r>
          <a:endParaRPr lang="zh-CN" altLang="en-US" sz="1800" dirty="0">
            <a:solidFill>
              <a:schemeClr val="bg1"/>
            </a:solidFill>
          </a:endParaRPr>
        </a:p>
      </dgm:t>
    </dgm:pt>
    <dgm:pt modelId="{9946C564-8451-46F6-83E5-02126E5E437B}" type="sibTrans" cxnId="{F1AB7B25-1907-489A-963B-76D50A4CF7CD}">
      <dgm:prSet/>
      <dgm:spPr/>
      <dgm:t>
        <a:bodyPr/>
        <a:lstStyle/>
        <a:p>
          <a:endParaRPr lang="zh-CN" altLang="en-US"/>
        </a:p>
      </dgm:t>
    </dgm:pt>
    <dgm:pt modelId="{51201507-A1C1-461D-ACB3-EFAF2A01C609}" type="parTrans" cxnId="{F1AB7B25-1907-489A-963B-76D50A4CF7CD}">
      <dgm:prSet/>
      <dgm:spPr/>
      <dgm:t>
        <a:bodyPr/>
        <a:lstStyle/>
        <a:p>
          <a:endParaRPr lang="zh-CN" altLang="en-US"/>
        </a:p>
      </dgm:t>
    </dgm:pt>
    <dgm:pt modelId="{0C3FB4F6-7ABF-40E8-8B7F-F2358C8BE76B}" type="sibTrans" cxnId="{2F96E4DC-A523-4BC0-8972-C136B9C9FEA4}">
      <dgm:prSet/>
      <dgm:spPr/>
      <dgm:t>
        <a:bodyPr/>
        <a:lstStyle/>
        <a:p>
          <a:endParaRPr lang="zh-CN" altLang="en-US"/>
        </a:p>
      </dgm:t>
    </dgm:pt>
    <dgm:pt modelId="{2116F214-974B-4FBD-9078-206031127E1C}" type="parTrans" cxnId="{2F96E4DC-A523-4BC0-8972-C136B9C9FEA4}">
      <dgm:prSet/>
      <dgm:spPr/>
      <dgm:t>
        <a:bodyPr/>
        <a:lstStyle/>
        <a:p>
          <a:endParaRPr lang="zh-CN" altLang="en-US"/>
        </a:p>
      </dgm:t>
    </dgm:pt>
    <dgm:pt modelId="{1FDE87FA-259D-4CD4-BD9D-15C91C43D291}">
      <dgm:prSet phldrT="[文本]" custT="1"/>
      <dgm:spPr/>
      <dgm:t>
        <a:bodyPr/>
        <a:lstStyle/>
        <a:p>
          <a:r>
            <a:rPr lang="zh-CN" altLang="en-US" sz="1600" i="0" dirty="0">
              <a:effectLst/>
              <a:latin typeface="微软雅黑" panose="020B0503020204020204" pitchFamily="34" charset="-122"/>
              <a:ea typeface="微软雅黑" panose="020B0503020204020204" pitchFamily="34" charset="-122"/>
            </a:rPr>
            <a:t>现多类型数据同步采集与实时传输，提升数据采集效率与完整性，增强数据与应用场景的持续适配能力，破解特色数据采集难、结构化程度低的瓶颈。</a:t>
          </a:r>
          <a:endParaRPr lang="zh-CN" altLang="en-US" sz="1600" dirty="0"/>
        </a:p>
      </dgm:t>
    </dgm:pt>
    <dgm:pt modelId="{68EB4CFB-1DC4-45B1-8962-210E5683AA1F}">
      <dgm:prSet phldrT="[文本]" custT="1"/>
      <dgm:spPr/>
      <dgm:t>
        <a:bodyPr/>
        <a:lstStyle/>
        <a:p>
          <a:pPr algn="ctr">
            <a:buFont typeface="Wingdings" panose="05000000000000000000" pitchFamily="2" charset="2"/>
            <a:buChar char="Ø"/>
          </a:pPr>
          <a:r>
            <a:rPr lang="zh-CN" altLang="en-US" sz="1800" b="1" i="0" dirty="0">
              <a:solidFill>
                <a:schemeClr val="bg1"/>
              </a:solidFill>
              <a:effectLst/>
              <a:latin typeface="微软雅黑" panose="020B0503020204020204" pitchFamily="34" charset="-122"/>
              <a:ea typeface="微软雅黑" panose="020B0503020204020204" pitchFamily="34" charset="-122"/>
            </a:rPr>
            <a:t>数据采集技术创新</a:t>
          </a:r>
          <a:endParaRPr lang="zh-CN" altLang="en-US" sz="1800" dirty="0">
            <a:solidFill>
              <a:schemeClr val="bg1"/>
            </a:solidFill>
          </a:endParaRPr>
        </a:p>
      </dgm:t>
    </dgm:pt>
    <dgm:pt modelId="{C2FAB4F3-16F0-4B4F-940E-64317BFB4610}" type="sibTrans" cxnId="{316CF7A1-D60F-40B0-AB3F-1BEC8C7A5D99}">
      <dgm:prSet/>
      <dgm:spPr/>
      <dgm:t>
        <a:bodyPr/>
        <a:lstStyle/>
        <a:p>
          <a:endParaRPr lang="zh-CN" altLang="en-US"/>
        </a:p>
      </dgm:t>
    </dgm:pt>
    <dgm:pt modelId="{B45BAA14-08FC-40B3-80D7-1A6D6A82883F}" type="parTrans" cxnId="{316CF7A1-D60F-40B0-AB3F-1BEC8C7A5D99}">
      <dgm:prSet/>
      <dgm:spPr/>
      <dgm:t>
        <a:bodyPr/>
        <a:lstStyle/>
        <a:p>
          <a:endParaRPr lang="zh-CN" altLang="en-US"/>
        </a:p>
      </dgm:t>
    </dgm:pt>
    <dgm:pt modelId="{61BAC955-68D5-4D3D-9F43-91DE57184FC8}" type="sibTrans" cxnId="{C5FE9915-2CD0-4F64-A210-3C86FCF87863}">
      <dgm:prSet/>
      <dgm:spPr/>
      <dgm:t>
        <a:bodyPr/>
        <a:lstStyle/>
        <a:p>
          <a:endParaRPr lang="zh-CN" altLang="en-US"/>
        </a:p>
      </dgm:t>
    </dgm:pt>
    <dgm:pt modelId="{09C4F818-424E-49F4-9025-7E1B4A0A79D6}" type="parTrans" cxnId="{C5FE9915-2CD0-4F64-A210-3C86FCF87863}">
      <dgm:prSet/>
      <dgm:spPr/>
      <dgm:t>
        <a:bodyPr/>
        <a:lstStyle/>
        <a:p>
          <a:endParaRPr lang="zh-CN" altLang="en-US"/>
        </a:p>
      </dgm:t>
    </dgm:pt>
    <dgm:pt modelId="{8829F31F-3367-46B6-8BDE-D79DAF9F0A95}">
      <dgm:prSet phldrT="[文本]" custT="1"/>
      <dgm:spPr/>
      <dgm:t>
        <a:bodyPr/>
        <a:lstStyle/>
        <a:p>
          <a:endParaRPr lang="zh-CN" altLang="en-US" sz="1600" dirty="0"/>
        </a:p>
      </dgm:t>
    </dgm:pt>
    <dgm:pt modelId="{5E9B317E-152F-4F97-86A6-133E53C2B0FC}" type="parTrans" cxnId="{7831A6AB-8AAC-4EA5-80AA-0C188D1859B5}">
      <dgm:prSet/>
      <dgm:spPr/>
      <dgm:t>
        <a:bodyPr/>
        <a:lstStyle/>
        <a:p>
          <a:endParaRPr lang="zh-CN" altLang="en-US"/>
        </a:p>
      </dgm:t>
    </dgm:pt>
    <dgm:pt modelId="{0FDE3060-997C-45BA-90C6-B0F721CF1F93}" type="sibTrans" cxnId="{7831A6AB-8AAC-4EA5-80AA-0C188D1859B5}">
      <dgm:prSet/>
      <dgm:spPr/>
      <dgm:t>
        <a:bodyPr/>
        <a:lstStyle/>
        <a:p>
          <a:endParaRPr lang="zh-CN" altLang="en-US"/>
        </a:p>
      </dgm:t>
    </dgm:pt>
    <dgm:pt modelId="{60A82100-9E66-4393-966A-AB27F4463871}">
      <dgm:prSet phldrT="[文本]" custT="1"/>
      <dgm:spPr/>
      <dgm:t>
        <a:bodyPr/>
        <a:lstStyle/>
        <a:p>
          <a:endParaRPr lang="zh-CN" altLang="en-US" sz="1600" dirty="0"/>
        </a:p>
      </dgm:t>
    </dgm:pt>
    <dgm:pt modelId="{3CB32E7C-CCD7-45DA-97FD-A64E512161D5}" type="parTrans" cxnId="{3BB19BC6-D4FA-495C-9BBA-735C985B2804}">
      <dgm:prSet/>
      <dgm:spPr/>
      <dgm:t>
        <a:bodyPr/>
        <a:lstStyle/>
        <a:p>
          <a:endParaRPr lang="zh-CN" altLang="en-US"/>
        </a:p>
      </dgm:t>
    </dgm:pt>
    <dgm:pt modelId="{7A2A9573-2343-48A5-A5B6-DE936E4DBD55}" type="sibTrans" cxnId="{3BB19BC6-D4FA-495C-9BBA-735C985B2804}">
      <dgm:prSet/>
      <dgm:spPr/>
      <dgm:t>
        <a:bodyPr/>
        <a:lstStyle/>
        <a:p>
          <a:endParaRPr lang="zh-CN" altLang="en-US"/>
        </a:p>
      </dgm:t>
    </dgm:pt>
    <dgm:pt modelId="{750C1610-FAC6-4172-A7D1-93C0889A6B2A}">
      <dgm:prSet phldrT="[文本]" custT="1"/>
      <dgm:spPr/>
      <dgm:t>
        <a:bodyPr/>
        <a:lstStyle/>
        <a:p>
          <a:endParaRPr lang="zh-CN" altLang="en-US" sz="1600" dirty="0"/>
        </a:p>
      </dgm:t>
    </dgm:pt>
    <dgm:pt modelId="{89D7490F-7FBF-45B0-947A-177B5EE149BC}" type="parTrans" cxnId="{F22E0B48-CD6E-4B1A-9B98-E0545EEB3FFA}">
      <dgm:prSet/>
      <dgm:spPr/>
      <dgm:t>
        <a:bodyPr/>
        <a:lstStyle/>
        <a:p>
          <a:endParaRPr lang="zh-CN" altLang="en-US"/>
        </a:p>
      </dgm:t>
    </dgm:pt>
    <dgm:pt modelId="{A00D4377-4C35-4898-B2A0-651DED3D3992}" type="sibTrans" cxnId="{F22E0B48-CD6E-4B1A-9B98-E0545EEB3FFA}">
      <dgm:prSet/>
      <dgm:spPr/>
      <dgm:t>
        <a:bodyPr/>
        <a:lstStyle/>
        <a:p>
          <a:endParaRPr lang="zh-CN" altLang="en-US"/>
        </a:p>
      </dgm:t>
    </dgm:pt>
    <dgm:pt modelId="{7D7E912C-4500-49E6-BD51-9B6AA0FED53B}">
      <dgm:prSet phldrT="[文本]" custT="1"/>
      <dgm:spPr/>
      <dgm:t>
        <a:bodyPr/>
        <a:lstStyle/>
        <a:p>
          <a:pPr>
            <a:buFont typeface="Wingdings" panose="05000000000000000000" pitchFamily="2" charset="2"/>
            <a:buChar char="Ø"/>
          </a:pPr>
          <a:r>
            <a:rPr lang="zh-CN" altLang="en-US" sz="1800" b="1" dirty="0">
              <a:solidFill>
                <a:schemeClr val="bg1"/>
              </a:solidFill>
              <a:latin typeface="微软雅黑" panose="020B0503020204020204" pitchFamily="34" charset="-122"/>
              <a:ea typeface="微软雅黑" panose="020B0503020204020204" pitchFamily="34" charset="-122"/>
            </a:rPr>
            <a:t>共享协同技术创新</a:t>
          </a:r>
          <a:endParaRPr lang="zh-CN" altLang="en-US" sz="1800" dirty="0">
            <a:solidFill>
              <a:schemeClr val="bg1"/>
            </a:solidFill>
          </a:endParaRPr>
        </a:p>
      </dgm:t>
    </dgm:pt>
    <dgm:pt modelId="{BFC64C39-9601-484A-8B06-0636485C4D46}" type="parTrans" cxnId="{3D62B6FE-A942-467C-A561-D8F8847FCFD1}">
      <dgm:prSet/>
      <dgm:spPr/>
      <dgm:t>
        <a:bodyPr/>
        <a:lstStyle/>
        <a:p>
          <a:endParaRPr lang="zh-CN" altLang="en-US"/>
        </a:p>
      </dgm:t>
    </dgm:pt>
    <dgm:pt modelId="{704DBFAF-52F6-4C92-8A5E-69B6C8CF34C1}" type="sibTrans" cxnId="{3D62B6FE-A942-467C-A561-D8F8847FCFD1}">
      <dgm:prSet/>
      <dgm:spPr/>
      <dgm:t>
        <a:bodyPr/>
        <a:lstStyle/>
        <a:p>
          <a:endParaRPr lang="zh-CN" altLang="en-US"/>
        </a:p>
      </dgm:t>
    </dgm:pt>
    <dgm:pt modelId="{CCB78C77-3895-46DD-9EBB-0F79EA271BA5}">
      <dgm:prSet phldrT="[文本]" custT="1"/>
      <dgm:spPr/>
      <dgm:t>
        <a:bodyPr/>
        <a:lstStyle/>
        <a:p>
          <a:endParaRPr lang="zh-CN" altLang="en-US" sz="1600" dirty="0"/>
        </a:p>
      </dgm:t>
    </dgm:pt>
    <dgm:pt modelId="{8801A812-8AD2-4D23-BB03-C6714F7C2AEF}" type="parTrans" cxnId="{19F2BFE8-D997-477D-A2E1-FF4B21318B0B}">
      <dgm:prSet/>
      <dgm:spPr/>
      <dgm:t>
        <a:bodyPr/>
        <a:lstStyle/>
        <a:p>
          <a:endParaRPr lang="zh-CN" altLang="en-US"/>
        </a:p>
      </dgm:t>
    </dgm:pt>
    <dgm:pt modelId="{9A70B501-1043-46F3-8362-512A6B9110A2}" type="sibTrans" cxnId="{19F2BFE8-D997-477D-A2E1-FF4B21318B0B}">
      <dgm:prSet/>
      <dgm:spPr/>
      <dgm:t>
        <a:bodyPr/>
        <a:lstStyle/>
        <a:p>
          <a:endParaRPr lang="zh-CN" altLang="en-US"/>
        </a:p>
      </dgm:t>
    </dgm:pt>
    <dgm:pt modelId="{42E706CF-FB61-4BB9-90D7-909B4DDCB845}">
      <dgm:prSet phldrT="[文本]" custT="1"/>
      <dgm:spPr/>
      <dgm:t>
        <a:bodyPr/>
        <a:lstStyle/>
        <a:p>
          <a:endParaRPr lang="zh-CN" altLang="en-US" sz="1600" dirty="0"/>
        </a:p>
      </dgm:t>
    </dgm:pt>
    <dgm:pt modelId="{39FB74CF-3303-4C81-8711-DD1F90349A92}" type="parTrans" cxnId="{5F534CD0-6655-4B89-9F3F-B0430D0BA97E}">
      <dgm:prSet/>
      <dgm:spPr/>
      <dgm:t>
        <a:bodyPr/>
        <a:lstStyle/>
        <a:p>
          <a:endParaRPr lang="zh-CN" altLang="en-US"/>
        </a:p>
      </dgm:t>
    </dgm:pt>
    <dgm:pt modelId="{9E50066B-ADCE-4D47-A9EE-A95C230B173A}" type="sibTrans" cxnId="{5F534CD0-6655-4B89-9F3F-B0430D0BA97E}">
      <dgm:prSet/>
      <dgm:spPr/>
      <dgm:t>
        <a:bodyPr/>
        <a:lstStyle/>
        <a:p>
          <a:endParaRPr lang="zh-CN" altLang="en-US"/>
        </a:p>
      </dgm:t>
    </dgm:pt>
    <dgm:pt modelId="{4DC15E0C-0C49-4A00-9212-17C4F183DD28}">
      <dgm:prSet phldrT="[文本]" custT="1"/>
      <dgm:spPr/>
      <dgm:t>
        <a:bodyPr/>
        <a:lstStyle/>
        <a:p>
          <a:endParaRPr lang="zh-CN" altLang="en-US" sz="1600" dirty="0"/>
        </a:p>
      </dgm:t>
    </dgm:pt>
    <dgm:pt modelId="{4D2C8CD3-21D2-4A5F-ABDB-80BC06329B06}" type="parTrans" cxnId="{B5D20D8A-3BB6-4FFD-A6EA-91B21E51C726}">
      <dgm:prSet/>
      <dgm:spPr/>
      <dgm:t>
        <a:bodyPr/>
        <a:lstStyle/>
        <a:p>
          <a:endParaRPr lang="zh-CN" altLang="en-US"/>
        </a:p>
      </dgm:t>
    </dgm:pt>
    <dgm:pt modelId="{AF0742E2-6789-459D-9029-5EE437CB55E8}" type="sibTrans" cxnId="{B5D20D8A-3BB6-4FFD-A6EA-91B21E51C726}">
      <dgm:prSet/>
      <dgm:spPr/>
      <dgm:t>
        <a:bodyPr/>
        <a:lstStyle/>
        <a:p>
          <a:endParaRPr lang="zh-CN" altLang="en-US"/>
        </a:p>
      </dgm:t>
    </dgm:pt>
    <dgm:pt modelId="{ED48D92D-EF57-4B2F-86F3-57B2B8F92238}">
      <dgm:prSet phldrT="[文本]" custT="1"/>
      <dgm:spPr/>
      <dgm:t>
        <a:bodyPr/>
        <a:lstStyle/>
        <a:p>
          <a:endParaRPr lang="en-US" altLang="zh-CN" sz="1600" dirty="0">
            <a:latin typeface="微软雅黑" panose="020B0503020204020204" pitchFamily="34" charset="-122"/>
            <a:ea typeface="微软雅黑" panose="020B0503020204020204" pitchFamily="34" charset="-122"/>
          </a:endParaRPr>
        </a:p>
        <a:p>
          <a:r>
            <a:rPr lang="zh-CN" altLang="en-US" sz="1600" dirty="0">
              <a:latin typeface="微软雅黑" panose="020B0503020204020204" pitchFamily="34" charset="-122"/>
              <a:ea typeface="微软雅黑" panose="020B0503020204020204" pitchFamily="34" charset="-122"/>
            </a:rPr>
            <a:t>立安全、高效、合规的数据共享机制，打破“数据孤岛”，实现多机构、跨区域数据协同创新，提升数据资源利用效率。</a:t>
          </a:r>
          <a:endParaRPr lang="zh-CN" altLang="en-US" sz="1600" dirty="0">
            <a:solidFill>
              <a:schemeClr val="bg1"/>
            </a:solidFill>
          </a:endParaRPr>
        </a:p>
      </dgm:t>
    </dgm:pt>
    <dgm:pt modelId="{AD147F13-5BE7-475D-BFC3-27DA1AE40AEE}" type="parTrans" cxnId="{E49039F3-ED27-4BA9-BD80-BEC0FA0A6681}">
      <dgm:prSet/>
      <dgm:spPr/>
      <dgm:t>
        <a:bodyPr/>
        <a:lstStyle/>
        <a:p>
          <a:endParaRPr lang="zh-CN" altLang="en-US"/>
        </a:p>
      </dgm:t>
    </dgm:pt>
    <dgm:pt modelId="{C51402CA-38A5-40AE-811F-06B5A206B023}" type="sibTrans" cxnId="{E49039F3-ED27-4BA9-BD80-BEC0FA0A6681}">
      <dgm:prSet/>
      <dgm:spPr/>
      <dgm:t>
        <a:bodyPr/>
        <a:lstStyle/>
        <a:p>
          <a:endParaRPr lang="zh-CN" altLang="en-US"/>
        </a:p>
      </dgm:t>
    </dgm:pt>
    <dgm:pt modelId="{BCE797FE-399A-403D-A49B-0E638B15B794}">
      <dgm:prSet phldrT="[文本]" custT="1"/>
      <dgm:spPr/>
      <dgm:t>
        <a:bodyPr/>
        <a:lstStyle/>
        <a:p>
          <a:endParaRPr lang="zh-CN" altLang="en-US" sz="1600" dirty="0">
            <a:solidFill>
              <a:schemeClr val="bg1"/>
            </a:solidFill>
          </a:endParaRPr>
        </a:p>
      </dgm:t>
    </dgm:pt>
    <dgm:pt modelId="{F013F38D-E068-465D-A416-9EF4DA605FBF}" type="parTrans" cxnId="{893EB201-4DA3-4C20-9F45-1D8CE57C21E1}">
      <dgm:prSet/>
      <dgm:spPr/>
      <dgm:t>
        <a:bodyPr/>
        <a:lstStyle/>
        <a:p>
          <a:endParaRPr lang="zh-CN" altLang="en-US"/>
        </a:p>
      </dgm:t>
    </dgm:pt>
    <dgm:pt modelId="{19A1D02B-6258-41C1-AD6E-5E4C34744C77}" type="sibTrans" cxnId="{893EB201-4DA3-4C20-9F45-1D8CE57C21E1}">
      <dgm:prSet/>
      <dgm:spPr/>
      <dgm:t>
        <a:bodyPr/>
        <a:lstStyle/>
        <a:p>
          <a:endParaRPr lang="zh-CN" altLang="en-US"/>
        </a:p>
      </dgm:t>
    </dgm:pt>
    <dgm:pt modelId="{1A86B4E9-60CA-4363-AE63-5AFF38EFE7E9}" type="pres">
      <dgm:prSet presAssocID="{62A9C0A1-F958-4FB3-876F-8540B6CAE375}" presName="Name0" presStyleCnt="0">
        <dgm:presLayoutVars>
          <dgm:dir/>
          <dgm:animLvl val="lvl"/>
          <dgm:resizeHandles val="exact"/>
        </dgm:presLayoutVars>
      </dgm:prSet>
      <dgm:spPr/>
    </dgm:pt>
    <dgm:pt modelId="{B85C4901-B390-40D4-8C8A-EA17A076D2AA}" type="pres">
      <dgm:prSet presAssocID="{68EB4CFB-1DC4-45B1-8962-210E5683AA1F}" presName="linNode" presStyleCnt="0"/>
      <dgm:spPr/>
    </dgm:pt>
    <dgm:pt modelId="{AB1615CE-91B5-4E2B-A3FF-D298F9AE4D4E}" type="pres">
      <dgm:prSet presAssocID="{68EB4CFB-1DC4-45B1-8962-210E5683AA1F}" presName="bgOutline" presStyleLbl="fgAcc1" presStyleIdx="0" presStyleCnt="6"/>
      <dgm:spPr/>
    </dgm:pt>
    <dgm:pt modelId="{685667C4-1611-4B5E-B101-3C275BDB9181}" type="pres">
      <dgm:prSet presAssocID="{68EB4CFB-1DC4-45B1-8962-210E5683AA1F}" presName="parentText" presStyleLbl="alignNode1" presStyleIdx="0" presStyleCnt="6">
        <dgm:presLayoutVars>
          <dgm:chMax val="1"/>
          <dgm:bulletEnabled/>
        </dgm:presLayoutVars>
      </dgm:prSet>
      <dgm:spPr/>
    </dgm:pt>
    <dgm:pt modelId="{B507F783-0231-48F1-BA84-4EE418EBB801}" type="pres">
      <dgm:prSet presAssocID="{68EB4CFB-1DC4-45B1-8962-210E5683AA1F}" presName="descendantText" presStyleLbl="revTx" presStyleIdx="0" presStyleCnt="0" custLinFactNeighborX="131" custLinFactNeighborY="18726">
        <dgm:presLayoutVars>
          <dgm:bulletEnabled/>
        </dgm:presLayoutVars>
      </dgm:prSet>
      <dgm:spPr/>
    </dgm:pt>
    <dgm:pt modelId="{23FA3520-5543-4145-AA5A-FB637C6B083A}" type="pres">
      <dgm:prSet presAssocID="{C2FAB4F3-16F0-4B4F-940E-64317BFB4610}" presName="sp" presStyleCnt="0"/>
      <dgm:spPr/>
    </dgm:pt>
    <dgm:pt modelId="{1B2B0BBC-7625-41CE-8FBC-6AEFC683BFBD}" type="pres">
      <dgm:prSet presAssocID="{0C86D541-89BC-4FF3-B021-A4779A7B8D32}" presName="linNode" presStyleCnt="0"/>
      <dgm:spPr/>
    </dgm:pt>
    <dgm:pt modelId="{D61E1D77-D1E9-40D0-B06D-862D65E49D5D}" type="pres">
      <dgm:prSet presAssocID="{0C86D541-89BC-4FF3-B021-A4779A7B8D32}" presName="bgOutline" presStyleLbl="fgAcc1" presStyleIdx="1" presStyleCnt="6"/>
      <dgm:spPr/>
    </dgm:pt>
    <dgm:pt modelId="{47480B46-D973-4E3C-B7F1-22DA201B9204}" type="pres">
      <dgm:prSet presAssocID="{0C86D541-89BC-4FF3-B021-A4779A7B8D32}" presName="parentText" presStyleLbl="alignNode1" presStyleIdx="1" presStyleCnt="6">
        <dgm:presLayoutVars>
          <dgm:chMax val="1"/>
          <dgm:bulletEnabled/>
        </dgm:presLayoutVars>
      </dgm:prSet>
      <dgm:spPr/>
    </dgm:pt>
    <dgm:pt modelId="{AF0A1550-D846-4CE5-9603-F9AB9624FE55}" type="pres">
      <dgm:prSet presAssocID="{0C86D541-89BC-4FF3-B021-A4779A7B8D32}" presName="descendantText" presStyleLbl="revTx" presStyleIdx="0" presStyleCnt="0" custLinFactNeighborX="-197" custLinFactNeighborY="36211">
        <dgm:presLayoutVars>
          <dgm:bulletEnabled/>
        </dgm:presLayoutVars>
      </dgm:prSet>
      <dgm:spPr/>
    </dgm:pt>
    <dgm:pt modelId="{8B584DD9-00D3-47A6-AFCA-7453065E20F0}" type="pres">
      <dgm:prSet presAssocID="{9946C564-8451-46F6-83E5-02126E5E437B}" presName="sp" presStyleCnt="0"/>
      <dgm:spPr/>
    </dgm:pt>
    <dgm:pt modelId="{0AEACE7D-36F7-4009-96D9-E736DA9B5064}" type="pres">
      <dgm:prSet presAssocID="{20DD952A-CC96-4AA3-A66C-7F25265A9E0F}" presName="linNode" presStyleCnt="0"/>
      <dgm:spPr/>
    </dgm:pt>
    <dgm:pt modelId="{54FD755C-8E2F-4853-B173-E17E1B71F59C}" type="pres">
      <dgm:prSet presAssocID="{20DD952A-CC96-4AA3-A66C-7F25265A9E0F}" presName="bgOutline" presStyleLbl="fgAcc1" presStyleIdx="2" presStyleCnt="6"/>
      <dgm:spPr/>
    </dgm:pt>
    <dgm:pt modelId="{103873EF-3783-4A3B-AEA5-35DFADBC2AB7}" type="pres">
      <dgm:prSet presAssocID="{20DD952A-CC96-4AA3-A66C-7F25265A9E0F}" presName="parentText" presStyleLbl="alignNode1" presStyleIdx="2" presStyleCnt="6" custLinFactNeighborX="-2881" custLinFactNeighborY="0">
        <dgm:presLayoutVars>
          <dgm:chMax val="1"/>
          <dgm:bulletEnabled/>
        </dgm:presLayoutVars>
      </dgm:prSet>
      <dgm:spPr/>
    </dgm:pt>
    <dgm:pt modelId="{BDE760F3-EF22-404E-95E0-FEDC08E0CC4F}" type="pres">
      <dgm:prSet presAssocID="{20DD952A-CC96-4AA3-A66C-7F25265A9E0F}" presName="descendantText" presStyleLbl="revTx" presStyleIdx="0" presStyleCnt="0" custLinFactNeighborY="15029">
        <dgm:presLayoutVars>
          <dgm:bulletEnabled/>
        </dgm:presLayoutVars>
      </dgm:prSet>
      <dgm:spPr/>
    </dgm:pt>
    <dgm:pt modelId="{5640D92C-5A3C-448A-A1A2-A1D117B1BEF8}" type="pres">
      <dgm:prSet presAssocID="{6F075C83-A4FC-4CD4-9631-6A83429F3222}" presName="sp" presStyleCnt="0"/>
      <dgm:spPr/>
    </dgm:pt>
    <dgm:pt modelId="{C62C65C8-45CB-44E0-93ED-0F2C1A135492}" type="pres">
      <dgm:prSet presAssocID="{204AAAC9-33B6-46FE-BE8A-4EB0ABF174CC}" presName="linNode" presStyleCnt="0"/>
      <dgm:spPr/>
    </dgm:pt>
    <dgm:pt modelId="{4777B093-8FA8-46C0-B2DC-0C21CE04E2D1}" type="pres">
      <dgm:prSet presAssocID="{204AAAC9-33B6-46FE-BE8A-4EB0ABF174CC}" presName="bgOutline" presStyleLbl="fgAcc1" presStyleIdx="3" presStyleCnt="6" custScaleX="103374" custLinFactNeighborX="-1027" custLinFactNeighborY="669"/>
      <dgm:spPr/>
    </dgm:pt>
    <dgm:pt modelId="{03184A24-E4FC-4C1E-9A54-FDBA181F7425}" type="pres">
      <dgm:prSet presAssocID="{204AAAC9-33B6-46FE-BE8A-4EB0ABF174CC}" presName="parentText" presStyleLbl="alignNode1" presStyleIdx="3" presStyleCnt="6" custScaleX="99652" custLinFactNeighborX="-3640" custLinFactNeighborY="2">
        <dgm:presLayoutVars>
          <dgm:chMax val="1"/>
          <dgm:bulletEnabled/>
        </dgm:presLayoutVars>
      </dgm:prSet>
      <dgm:spPr/>
    </dgm:pt>
    <dgm:pt modelId="{3AE748B8-C218-40EA-A515-946CC6C4F8CF}" type="pres">
      <dgm:prSet presAssocID="{204AAAC9-33B6-46FE-BE8A-4EB0ABF174CC}" presName="descendantText" presStyleLbl="revTx" presStyleIdx="0" presStyleCnt="0" custScaleX="98811" custLinFactNeighborX="-545" custLinFactNeighborY="11908">
        <dgm:presLayoutVars>
          <dgm:bulletEnabled/>
        </dgm:presLayoutVars>
      </dgm:prSet>
      <dgm:spPr/>
    </dgm:pt>
    <dgm:pt modelId="{FC6F45EB-9844-47B2-AB6B-E8E6B7A4659D}" type="pres">
      <dgm:prSet presAssocID="{DBBC39F2-2779-4A0F-8B9A-690ACFC046A9}" presName="sp" presStyleCnt="0"/>
      <dgm:spPr/>
    </dgm:pt>
    <dgm:pt modelId="{DA7AA13B-4D71-4730-A801-9A8BEAC69348}" type="pres">
      <dgm:prSet presAssocID="{0841B73E-5A0D-42C7-A33C-CA7F64ADDAE0}" presName="linNode" presStyleCnt="0"/>
      <dgm:spPr/>
    </dgm:pt>
    <dgm:pt modelId="{68CC06D1-9C7E-4ADC-88D5-8F542553C6EB}" type="pres">
      <dgm:prSet presAssocID="{0841B73E-5A0D-42C7-A33C-CA7F64ADDAE0}" presName="bgOutline" presStyleLbl="fgAcc1" presStyleIdx="4" presStyleCnt="6"/>
      <dgm:spPr/>
    </dgm:pt>
    <dgm:pt modelId="{4E8C9246-D96F-4667-9877-1DE5FDA9D93B}" type="pres">
      <dgm:prSet presAssocID="{0841B73E-5A0D-42C7-A33C-CA7F64ADDAE0}" presName="parentText" presStyleLbl="alignNode1" presStyleIdx="4" presStyleCnt="6" custLinFactNeighborX="-3641" custLinFactNeighborY="-1337">
        <dgm:presLayoutVars>
          <dgm:chMax val="1"/>
          <dgm:bulletEnabled/>
        </dgm:presLayoutVars>
      </dgm:prSet>
      <dgm:spPr/>
    </dgm:pt>
    <dgm:pt modelId="{82A0AFA2-74B3-425B-B56C-D64AF062C627}" type="pres">
      <dgm:prSet presAssocID="{0841B73E-5A0D-42C7-A33C-CA7F64ADDAE0}" presName="descendantText" presStyleLbl="revTx" presStyleIdx="0" presStyleCnt="0">
        <dgm:presLayoutVars>
          <dgm:bulletEnabled/>
        </dgm:presLayoutVars>
      </dgm:prSet>
      <dgm:spPr/>
    </dgm:pt>
    <dgm:pt modelId="{87D71D1D-538B-44F7-B234-8AD32E5B0E1B}" type="pres">
      <dgm:prSet presAssocID="{407EB64C-40FF-4643-807E-746EF2B9EBE1}" presName="sp" presStyleCnt="0"/>
      <dgm:spPr/>
    </dgm:pt>
    <dgm:pt modelId="{F32708AC-73A3-476F-9104-4457D9451527}" type="pres">
      <dgm:prSet presAssocID="{7D7E912C-4500-49E6-BD51-9B6AA0FED53B}" presName="linNode" presStyleCnt="0"/>
      <dgm:spPr/>
    </dgm:pt>
    <dgm:pt modelId="{C3CA288D-06A8-4427-A061-C81D106FA789}" type="pres">
      <dgm:prSet presAssocID="{7D7E912C-4500-49E6-BD51-9B6AA0FED53B}" presName="bgOutline" presStyleLbl="fgAcc1" presStyleIdx="5" presStyleCnt="6"/>
      <dgm:spPr/>
    </dgm:pt>
    <dgm:pt modelId="{144A26D8-1921-4370-BB86-AD748A588074}" type="pres">
      <dgm:prSet presAssocID="{7D7E912C-4500-49E6-BD51-9B6AA0FED53B}" presName="parentText" presStyleLbl="alignNode1" presStyleIdx="5" presStyleCnt="6">
        <dgm:presLayoutVars>
          <dgm:chMax val="1"/>
          <dgm:bulletEnabled/>
        </dgm:presLayoutVars>
      </dgm:prSet>
      <dgm:spPr/>
    </dgm:pt>
    <dgm:pt modelId="{677F1592-44C9-4317-8AEF-C07AA30EDBB4}" type="pres">
      <dgm:prSet presAssocID="{7D7E912C-4500-49E6-BD51-9B6AA0FED53B}" presName="descendantText" presStyleLbl="revTx" presStyleIdx="0" presStyleCnt="0" custLinFactNeighborX="312" custLinFactNeighborY="-6469">
        <dgm:presLayoutVars>
          <dgm:bulletEnabled/>
        </dgm:presLayoutVars>
      </dgm:prSet>
      <dgm:spPr/>
    </dgm:pt>
  </dgm:ptLst>
  <dgm:cxnLst>
    <dgm:cxn modelId="{893EB201-4DA3-4C20-9F45-1D8CE57C21E1}" srcId="{7D7E912C-4500-49E6-BD51-9B6AA0FED53B}" destId="{BCE797FE-399A-403D-A49B-0E638B15B794}" srcOrd="1" destOrd="0" parTransId="{F013F38D-E068-465D-A416-9EF4DA605FBF}" sibTransId="{19A1D02B-6258-41C1-AD6E-5E4C34744C77}"/>
    <dgm:cxn modelId="{622FDD01-C4C0-4847-9A5B-16E8246D4629}" type="presOf" srcId="{20DD952A-CC96-4AA3-A66C-7F25265A9E0F}" destId="{54FD755C-8E2F-4853-B173-E17E1B71F59C}" srcOrd="0" destOrd="0" presId="urn:microsoft.com/office/officeart/2024/layout/VerticalActionList#6"/>
    <dgm:cxn modelId="{4A8D8503-D97F-4A2D-BBCD-5202C3FE3AAB}" type="presOf" srcId="{CCB78C77-3895-46DD-9EBB-0F79EA271BA5}" destId="{B507F783-0231-48F1-BA84-4EE418EBB801}" srcOrd="0" destOrd="1" presId="urn:microsoft.com/office/officeart/2024/layout/VerticalActionList#6"/>
    <dgm:cxn modelId="{61BA470B-CB37-4F3E-8D60-F8E525366B40}" type="presOf" srcId="{68EB4CFB-1DC4-45B1-8962-210E5683AA1F}" destId="{AB1615CE-91B5-4E2B-A3FF-D298F9AE4D4E}" srcOrd="0" destOrd="0" presId="urn:microsoft.com/office/officeart/2024/layout/VerticalActionList#6"/>
    <dgm:cxn modelId="{E865780D-0978-43FE-A224-78EDBE63E4D9}" type="presOf" srcId="{204AAAC9-33B6-46FE-BE8A-4EB0ABF174CC}" destId="{03184A24-E4FC-4C1E-9A54-FDBA181F7425}" srcOrd="1" destOrd="0" presId="urn:microsoft.com/office/officeart/2024/layout/VerticalActionList#6"/>
    <dgm:cxn modelId="{C5FE9915-2CD0-4F64-A210-3C86FCF87863}" srcId="{68EB4CFB-1DC4-45B1-8962-210E5683AA1F}" destId="{1FDE87FA-259D-4CD4-BD9D-15C91C43D291}" srcOrd="0" destOrd="0" parTransId="{09C4F818-424E-49F4-9025-7E1B4A0A79D6}" sibTransId="{61BAC955-68D5-4D3D-9F43-91DE57184FC8}"/>
    <dgm:cxn modelId="{F1AB7B25-1907-489A-963B-76D50A4CF7CD}" srcId="{62A9C0A1-F958-4FB3-876F-8540B6CAE375}" destId="{0C86D541-89BC-4FF3-B021-A4779A7B8D32}" srcOrd="1" destOrd="0" parTransId="{51201507-A1C1-461D-ACB3-EFAF2A01C609}" sibTransId="{9946C564-8451-46F6-83E5-02126E5E437B}"/>
    <dgm:cxn modelId="{61E16D28-F142-44A0-A9E4-0F099BC8303A}" type="presOf" srcId="{BCE797FE-399A-403D-A49B-0E638B15B794}" destId="{677F1592-44C9-4317-8AEF-C07AA30EDBB4}" srcOrd="0" destOrd="1" presId="urn:microsoft.com/office/officeart/2024/layout/VerticalActionList#6"/>
    <dgm:cxn modelId="{1B9FB42A-DBD2-4346-8C2A-FD72CCA8C029}" type="presOf" srcId="{62A9C0A1-F958-4FB3-876F-8540B6CAE375}" destId="{1A86B4E9-60CA-4363-AE63-5AFF38EFE7E9}" srcOrd="0" destOrd="0" presId="urn:microsoft.com/office/officeart/2024/layout/VerticalActionList#6"/>
    <dgm:cxn modelId="{AA4EEE2D-5DC3-44CC-ABB5-1DBEEBA1ACA5}" type="presOf" srcId="{8829F31F-3367-46B6-8BDE-D79DAF9F0A95}" destId="{AF0A1550-D846-4CE5-9603-F9AB9624FE55}" srcOrd="0" destOrd="2" presId="urn:microsoft.com/office/officeart/2024/layout/VerticalActionList#6"/>
    <dgm:cxn modelId="{0639343B-9AFA-40FF-8EDF-B6FEB492D7C2}" srcId="{62A9C0A1-F958-4FB3-876F-8540B6CAE375}" destId="{20DD952A-CC96-4AA3-A66C-7F25265A9E0F}" srcOrd="2" destOrd="0" parTransId="{CD527D59-B3CA-4779-8B0C-904800FB2DCA}" sibTransId="{6F075C83-A4FC-4CD4-9631-6A83429F3222}"/>
    <dgm:cxn modelId="{B881A73C-320C-4364-853B-94A657C86EAF}" type="presOf" srcId="{ED48D92D-EF57-4B2F-86F3-57B2B8F92238}" destId="{677F1592-44C9-4317-8AEF-C07AA30EDBB4}" srcOrd="0" destOrd="0" presId="urn:microsoft.com/office/officeart/2024/layout/VerticalActionList#6"/>
    <dgm:cxn modelId="{AC09355E-3CE7-47F7-B7E8-C210492B1050}" type="presOf" srcId="{20DD952A-CC96-4AA3-A66C-7F25265A9E0F}" destId="{103873EF-3783-4A3B-AEA5-35DFADBC2AB7}" srcOrd="1" destOrd="0" presId="urn:microsoft.com/office/officeart/2024/layout/VerticalActionList#6"/>
    <dgm:cxn modelId="{0E040561-7BC5-4038-8DC4-19B80687EFDF}" type="presOf" srcId="{1FDE87FA-259D-4CD4-BD9D-15C91C43D291}" destId="{B507F783-0231-48F1-BA84-4EE418EBB801}" srcOrd="0" destOrd="0" presId="urn:microsoft.com/office/officeart/2024/layout/VerticalActionList#6"/>
    <dgm:cxn modelId="{F22E0B48-CD6E-4B1A-9B98-E0545EEB3FFA}" srcId="{204AAAC9-33B6-46FE-BE8A-4EB0ABF174CC}" destId="{750C1610-FAC6-4172-A7D1-93C0889A6B2A}" srcOrd="2" destOrd="0" parTransId="{89D7490F-7FBF-45B0-947A-177B5EE149BC}" sibTransId="{A00D4377-4C35-4898-B2A0-651DED3D3992}"/>
    <dgm:cxn modelId="{BD940C49-C4D9-4666-A299-3E121E973042}" type="presOf" srcId="{0C86D541-89BC-4FF3-B021-A4779A7B8D32}" destId="{D61E1D77-D1E9-40D0-B06D-862D65E49D5D}" srcOrd="0" destOrd="0" presId="urn:microsoft.com/office/officeart/2024/layout/VerticalActionList#6"/>
    <dgm:cxn modelId="{B5FA5E4A-5946-419E-88CC-7F3167A80866}" type="presOf" srcId="{4DC15E0C-0C49-4A00-9212-17C4F183DD28}" destId="{3AE748B8-C218-40EA-A515-946CC6C4F8CF}" srcOrd="0" destOrd="1" presId="urn:microsoft.com/office/officeart/2024/layout/VerticalActionList#6"/>
    <dgm:cxn modelId="{B19E9372-C15C-4432-A570-97B6519AE269}" type="presOf" srcId="{49B7D623-7062-4F38-9D40-4AD3FB9C5DD2}" destId="{AF0A1550-D846-4CE5-9603-F9AB9624FE55}" srcOrd="0" destOrd="0" presId="urn:microsoft.com/office/officeart/2024/layout/VerticalActionList#6"/>
    <dgm:cxn modelId="{165D1E7D-D8E7-4E4F-93E9-B887FE519152}" type="presOf" srcId="{60A82100-9E66-4393-966A-AB27F4463871}" destId="{BDE760F3-EF22-404E-95E0-FEDC08E0CC4F}" srcOrd="0" destOrd="1" presId="urn:microsoft.com/office/officeart/2024/layout/VerticalActionList#6"/>
    <dgm:cxn modelId="{B5D20D8A-3BB6-4FFD-A6EA-91B21E51C726}" srcId="{204AAAC9-33B6-46FE-BE8A-4EB0ABF174CC}" destId="{4DC15E0C-0C49-4A00-9212-17C4F183DD28}" srcOrd="1" destOrd="0" parTransId="{4D2C8CD3-21D2-4A5F-ABDB-80BC06329B06}" sibTransId="{AF0742E2-6789-459D-9029-5EE437CB55E8}"/>
    <dgm:cxn modelId="{F253128C-B03A-479F-A83A-833F9159B387}" type="presOf" srcId="{0841B73E-5A0D-42C7-A33C-CA7F64ADDAE0}" destId="{68CC06D1-9C7E-4ADC-88D5-8F542553C6EB}" srcOrd="0" destOrd="0" presId="urn:microsoft.com/office/officeart/2024/layout/VerticalActionList#6"/>
    <dgm:cxn modelId="{D97D3E9C-CAAD-4AD3-93EF-B23EA073226C}" srcId="{62A9C0A1-F958-4FB3-876F-8540B6CAE375}" destId="{204AAAC9-33B6-46FE-BE8A-4EB0ABF174CC}" srcOrd="3" destOrd="0" parTransId="{93967CB2-7C83-453D-BF33-2770CB99A50C}" sibTransId="{DBBC39F2-2779-4A0F-8B9A-690ACFC046A9}"/>
    <dgm:cxn modelId="{316CF7A1-D60F-40B0-AB3F-1BEC8C7A5D99}" srcId="{62A9C0A1-F958-4FB3-876F-8540B6CAE375}" destId="{68EB4CFB-1DC4-45B1-8962-210E5683AA1F}" srcOrd="0" destOrd="0" parTransId="{B45BAA14-08FC-40B3-80D7-1A6D6A82883F}" sibTransId="{C2FAB4F3-16F0-4B4F-940E-64317BFB4610}"/>
    <dgm:cxn modelId="{57FBD9A6-B6FA-4CAD-A753-991ABE6CA40B}" type="presOf" srcId="{7D7E912C-4500-49E6-BD51-9B6AA0FED53B}" destId="{144A26D8-1921-4370-BB86-AD748A588074}" srcOrd="1" destOrd="0" presId="urn:microsoft.com/office/officeart/2024/layout/VerticalActionList#6"/>
    <dgm:cxn modelId="{7831A6AB-8AAC-4EA5-80AA-0C188D1859B5}" srcId="{0C86D541-89BC-4FF3-B021-A4779A7B8D32}" destId="{8829F31F-3367-46B6-8BDE-D79DAF9F0A95}" srcOrd="2" destOrd="0" parTransId="{5E9B317E-152F-4F97-86A6-133E53C2B0FC}" sibTransId="{0FDE3060-997C-45BA-90C6-B0F721CF1F93}"/>
    <dgm:cxn modelId="{8A2B07AC-67AA-43A8-AA49-16E54D86DAEF}" type="presOf" srcId="{0C86D541-89BC-4FF3-B021-A4779A7B8D32}" destId="{47480B46-D973-4E3C-B7F1-22DA201B9204}" srcOrd="1" destOrd="0" presId="urn:microsoft.com/office/officeart/2024/layout/VerticalActionList#6"/>
    <dgm:cxn modelId="{C80126AD-616E-42BB-A3F1-9EE0F2DBEB32}" type="presOf" srcId="{7D7E912C-4500-49E6-BD51-9B6AA0FED53B}" destId="{C3CA288D-06A8-4427-A061-C81D106FA789}" srcOrd="0" destOrd="0" presId="urn:microsoft.com/office/officeart/2024/layout/VerticalActionList#6"/>
    <dgm:cxn modelId="{1B57DFAE-F671-4F17-AFC4-C69FDEC689D1}" srcId="{204AAAC9-33B6-46FE-BE8A-4EB0ABF174CC}" destId="{11EEF0DB-9DA8-4872-B4B1-896ADD1EF634}" srcOrd="0" destOrd="0" parTransId="{59121083-4FCF-4440-8DF8-168EDE4726DF}" sibTransId="{AE45E28A-FDC9-4F99-9D48-EBC56E3ABA5E}"/>
    <dgm:cxn modelId="{7AC1EDAE-FD75-4FCC-8E32-08956FB9CB7E}" type="presOf" srcId="{750C1610-FAC6-4172-A7D1-93C0889A6B2A}" destId="{3AE748B8-C218-40EA-A515-946CC6C4F8CF}" srcOrd="0" destOrd="2" presId="urn:microsoft.com/office/officeart/2024/layout/VerticalActionList#6"/>
    <dgm:cxn modelId="{D82FC5B7-C8CA-4F62-A74B-A1962488BF02}" srcId="{20DD952A-CC96-4AA3-A66C-7F25265A9E0F}" destId="{E4B6A0AD-933E-4776-82E7-FDE89CA3ACE4}" srcOrd="0" destOrd="0" parTransId="{D49A0338-8BFB-451F-87B0-0955635D887B}" sibTransId="{23A6F00C-333A-4412-A7D1-C5327B921989}"/>
    <dgm:cxn modelId="{ACB07BBF-A834-4863-8F3A-C50B2EE407F3}" srcId="{62A9C0A1-F958-4FB3-876F-8540B6CAE375}" destId="{0841B73E-5A0D-42C7-A33C-CA7F64ADDAE0}" srcOrd="4" destOrd="0" parTransId="{BCECB928-76E1-4A25-BD8F-E43B30F2A5C2}" sibTransId="{407EB64C-40FF-4643-807E-746EF2B9EBE1}"/>
    <dgm:cxn modelId="{3BB19BC6-D4FA-495C-9BBA-735C985B2804}" srcId="{20DD952A-CC96-4AA3-A66C-7F25265A9E0F}" destId="{60A82100-9E66-4393-966A-AB27F4463871}" srcOrd="1" destOrd="0" parTransId="{3CB32E7C-CCD7-45DA-97FD-A64E512161D5}" sibTransId="{7A2A9573-2343-48A5-A5B6-DE936E4DBD55}"/>
    <dgm:cxn modelId="{72071EC7-41CF-43B4-8C7D-2E6BBBF861F5}" type="presOf" srcId="{368BAB48-7FA9-455F-835E-968E0E8E9765}" destId="{82A0AFA2-74B3-425B-B56C-D64AF062C627}" srcOrd="0" destOrd="0" presId="urn:microsoft.com/office/officeart/2024/layout/VerticalActionList#6"/>
    <dgm:cxn modelId="{3EE5E2C7-5592-4C7C-BD4D-DDB166C54D07}" type="presOf" srcId="{0841B73E-5A0D-42C7-A33C-CA7F64ADDAE0}" destId="{4E8C9246-D96F-4667-9877-1DE5FDA9D93B}" srcOrd="1" destOrd="0" presId="urn:microsoft.com/office/officeart/2024/layout/VerticalActionList#6"/>
    <dgm:cxn modelId="{5F534CD0-6655-4B89-9F3F-B0430D0BA97E}" srcId="{0C86D541-89BC-4FF3-B021-A4779A7B8D32}" destId="{42E706CF-FB61-4BB9-90D7-909B4DDCB845}" srcOrd="1" destOrd="0" parTransId="{39FB74CF-3303-4C81-8711-DD1F90349A92}" sibTransId="{9E50066B-ADCE-4D47-A9EE-A95C230B173A}"/>
    <dgm:cxn modelId="{116CD0D9-2CD7-4CEF-A87E-612BF247652D}" type="presOf" srcId="{E4B6A0AD-933E-4776-82E7-FDE89CA3ACE4}" destId="{BDE760F3-EF22-404E-95E0-FEDC08E0CC4F}" srcOrd="0" destOrd="0" presId="urn:microsoft.com/office/officeart/2024/layout/VerticalActionList#6"/>
    <dgm:cxn modelId="{EDB700DC-6C44-4434-A63C-E956CEC941ED}" srcId="{0841B73E-5A0D-42C7-A33C-CA7F64ADDAE0}" destId="{368BAB48-7FA9-455F-835E-968E0E8E9765}" srcOrd="0" destOrd="0" parTransId="{5930E890-2337-4017-A1F2-0858D5E5A6F4}" sibTransId="{5989C807-F191-49FA-96C6-922478362F00}"/>
    <dgm:cxn modelId="{2F96E4DC-A523-4BC0-8972-C136B9C9FEA4}" srcId="{0C86D541-89BC-4FF3-B021-A4779A7B8D32}" destId="{49B7D623-7062-4F38-9D40-4AD3FB9C5DD2}" srcOrd="0" destOrd="0" parTransId="{2116F214-974B-4FBD-9078-206031127E1C}" sibTransId="{0C3FB4F6-7ABF-40E8-8B7F-F2358C8BE76B}"/>
    <dgm:cxn modelId="{2A6A8EE4-A959-4F46-A369-4D1C6D8AE2B9}" type="presOf" srcId="{204AAAC9-33B6-46FE-BE8A-4EB0ABF174CC}" destId="{4777B093-8FA8-46C0-B2DC-0C21CE04E2D1}" srcOrd="0" destOrd="0" presId="urn:microsoft.com/office/officeart/2024/layout/VerticalActionList#6"/>
    <dgm:cxn modelId="{502548E7-12B1-4BE6-8249-BCD8D7E1A12C}" type="presOf" srcId="{42E706CF-FB61-4BB9-90D7-909B4DDCB845}" destId="{AF0A1550-D846-4CE5-9603-F9AB9624FE55}" srcOrd="0" destOrd="1" presId="urn:microsoft.com/office/officeart/2024/layout/VerticalActionList#6"/>
    <dgm:cxn modelId="{19F2BFE8-D997-477D-A2E1-FF4B21318B0B}" srcId="{68EB4CFB-1DC4-45B1-8962-210E5683AA1F}" destId="{CCB78C77-3895-46DD-9EBB-0F79EA271BA5}" srcOrd="1" destOrd="0" parTransId="{8801A812-8AD2-4D23-BB03-C6714F7C2AEF}" sibTransId="{9A70B501-1043-46F3-8362-512A6B9110A2}"/>
    <dgm:cxn modelId="{6EF594EA-3DEA-45C1-AD45-BF10058912E5}" type="presOf" srcId="{68EB4CFB-1DC4-45B1-8962-210E5683AA1F}" destId="{685667C4-1611-4B5E-B101-3C275BDB9181}" srcOrd="1" destOrd="0" presId="urn:microsoft.com/office/officeart/2024/layout/VerticalActionList#6"/>
    <dgm:cxn modelId="{E49039F3-ED27-4BA9-BD80-BEC0FA0A6681}" srcId="{7D7E912C-4500-49E6-BD51-9B6AA0FED53B}" destId="{ED48D92D-EF57-4B2F-86F3-57B2B8F92238}" srcOrd="0" destOrd="0" parTransId="{AD147F13-5BE7-475D-BFC3-27DA1AE40AEE}" sibTransId="{C51402CA-38A5-40AE-811F-06B5A206B023}"/>
    <dgm:cxn modelId="{D1E6DCF6-52E2-4456-8577-D9BCC0990EBF}" type="presOf" srcId="{11EEF0DB-9DA8-4872-B4B1-896ADD1EF634}" destId="{3AE748B8-C218-40EA-A515-946CC6C4F8CF}" srcOrd="0" destOrd="0" presId="urn:microsoft.com/office/officeart/2024/layout/VerticalActionList#6"/>
    <dgm:cxn modelId="{3D62B6FE-A942-467C-A561-D8F8847FCFD1}" srcId="{62A9C0A1-F958-4FB3-876F-8540B6CAE375}" destId="{7D7E912C-4500-49E6-BD51-9B6AA0FED53B}" srcOrd="5" destOrd="0" parTransId="{BFC64C39-9601-484A-8B06-0636485C4D46}" sibTransId="{704DBFAF-52F6-4C92-8A5E-69B6C8CF34C1}"/>
    <dgm:cxn modelId="{F87EFF00-35B3-404A-9C58-B84F041E2D56}" type="presParOf" srcId="{1A86B4E9-60CA-4363-AE63-5AFF38EFE7E9}" destId="{B85C4901-B390-40D4-8C8A-EA17A076D2AA}" srcOrd="0" destOrd="0" presId="urn:microsoft.com/office/officeart/2024/layout/VerticalActionList#6"/>
    <dgm:cxn modelId="{09269834-EBC1-4C39-947A-74407D62877B}" type="presParOf" srcId="{B85C4901-B390-40D4-8C8A-EA17A076D2AA}" destId="{AB1615CE-91B5-4E2B-A3FF-D298F9AE4D4E}" srcOrd="0" destOrd="0" presId="urn:microsoft.com/office/officeart/2024/layout/VerticalActionList#6"/>
    <dgm:cxn modelId="{FF2D44DB-3755-4FD9-9A8F-1F1DEA4C96A3}" type="presParOf" srcId="{B85C4901-B390-40D4-8C8A-EA17A076D2AA}" destId="{685667C4-1611-4B5E-B101-3C275BDB9181}" srcOrd="1" destOrd="0" presId="urn:microsoft.com/office/officeart/2024/layout/VerticalActionList#6"/>
    <dgm:cxn modelId="{3F50D67C-B456-4675-A31C-04AE7839F2CB}" type="presParOf" srcId="{B85C4901-B390-40D4-8C8A-EA17A076D2AA}" destId="{B507F783-0231-48F1-BA84-4EE418EBB801}" srcOrd="2" destOrd="0" presId="urn:microsoft.com/office/officeart/2024/layout/VerticalActionList#6"/>
    <dgm:cxn modelId="{1E3AA6EA-138C-4299-8C67-330DCF488A69}" type="presParOf" srcId="{1A86B4E9-60CA-4363-AE63-5AFF38EFE7E9}" destId="{23FA3520-5543-4145-AA5A-FB637C6B083A}" srcOrd="1" destOrd="0" presId="urn:microsoft.com/office/officeart/2024/layout/VerticalActionList#6"/>
    <dgm:cxn modelId="{E115A785-9879-4CB6-BC94-3C01B846FA0C}" type="presParOf" srcId="{1A86B4E9-60CA-4363-AE63-5AFF38EFE7E9}" destId="{1B2B0BBC-7625-41CE-8FBC-6AEFC683BFBD}" srcOrd="2" destOrd="0" presId="urn:microsoft.com/office/officeart/2024/layout/VerticalActionList#6"/>
    <dgm:cxn modelId="{D0FB10E4-F4C6-4CAC-954B-B578049A642E}" type="presParOf" srcId="{1B2B0BBC-7625-41CE-8FBC-6AEFC683BFBD}" destId="{D61E1D77-D1E9-40D0-B06D-862D65E49D5D}" srcOrd="0" destOrd="0" presId="urn:microsoft.com/office/officeart/2024/layout/VerticalActionList#6"/>
    <dgm:cxn modelId="{4E581946-48B1-43EC-8343-4C2B64BDE885}" type="presParOf" srcId="{1B2B0BBC-7625-41CE-8FBC-6AEFC683BFBD}" destId="{47480B46-D973-4E3C-B7F1-22DA201B9204}" srcOrd="1" destOrd="0" presId="urn:microsoft.com/office/officeart/2024/layout/VerticalActionList#6"/>
    <dgm:cxn modelId="{F80D5239-E3F4-40C7-8D06-F7FA3F917532}" type="presParOf" srcId="{1B2B0BBC-7625-41CE-8FBC-6AEFC683BFBD}" destId="{AF0A1550-D846-4CE5-9603-F9AB9624FE55}" srcOrd="2" destOrd="0" presId="urn:microsoft.com/office/officeart/2024/layout/VerticalActionList#6"/>
    <dgm:cxn modelId="{71A248C7-D655-4FB3-BE65-459ECAC19493}" type="presParOf" srcId="{1A86B4E9-60CA-4363-AE63-5AFF38EFE7E9}" destId="{8B584DD9-00D3-47A6-AFCA-7453065E20F0}" srcOrd="3" destOrd="0" presId="urn:microsoft.com/office/officeart/2024/layout/VerticalActionList#6"/>
    <dgm:cxn modelId="{E9793D06-2FEA-47D3-9552-F5E56F123B4F}" type="presParOf" srcId="{1A86B4E9-60CA-4363-AE63-5AFF38EFE7E9}" destId="{0AEACE7D-36F7-4009-96D9-E736DA9B5064}" srcOrd="4" destOrd="0" presId="urn:microsoft.com/office/officeart/2024/layout/VerticalActionList#6"/>
    <dgm:cxn modelId="{05B53C50-BBE4-47E8-9252-4116807C8D33}" type="presParOf" srcId="{0AEACE7D-36F7-4009-96D9-E736DA9B5064}" destId="{54FD755C-8E2F-4853-B173-E17E1B71F59C}" srcOrd="0" destOrd="0" presId="urn:microsoft.com/office/officeart/2024/layout/VerticalActionList#6"/>
    <dgm:cxn modelId="{060AF4CF-C312-4B5F-9949-0926A1BCD608}" type="presParOf" srcId="{0AEACE7D-36F7-4009-96D9-E736DA9B5064}" destId="{103873EF-3783-4A3B-AEA5-35DFADBC2AB7}" srcOrd="1" destOrd="0" presId="urn:microsoft.com/office/officeart/2024/layout/VerticalActionList#6"/>
    <dgm:cxn modelId="{FEF4CE09-11A6-4148-B659-D60561367C6D}" type="presParOf" srcId="{0AEACE7D-36F7-4009-96D9-E736DA9B5064}" destId="{BDE760F3-EF22-404E-95E0-FEDC08E0CC4F}" srcOrd="2" destOrd="0" presId="urn:microsoft.com/office/officeart/2024/layout/VerticalActionList#6"/>
    <dgm:cxn modelId="{20C4155D-94D0-49BA-B944-E410A89B8643}" type="presParOf" srcId="{1A86B4E9-60CA-4363-AE63-5AFF38EFE7E9}" destId="{5640D92C-5A3C-448A-A1A2-A1D117B1BEF8}" srcOrd="5" destOrd="0" presId="urn:microsoft.com/office/officeart/2024/layout/VerticalActionList#6"/>
    <dgm:cxn modelId="{CD044845-7993-4782-9B5F-D82B699BA3AE}" type="presParOf" srcId="{1A86B4E9-60CA-4363-AE63-5AFF38EFE7E9}" destId="{C62C65C8-45CB-44E0-93ED-0F2C1A135492}" srcOrd="6" destOrd="0" presId="urn:microsoft.com/office/officeart/2024/layout/VerticalActionList#6"/>
    <dgm:cxn modelId="{2798A89B-DD62-4CD0-95D9-DF336C99D196}" type="presParOf" srcId="{C62C65C8-45CB-44E0-93ED-0F2C1A135492}" destId="{4777B093-8FA8-46C0-B2DC-0C21CE04E2D1}" srcOrd="0" destOrd="0" presId="urn:microsoft.com/office/officeart/2024/layout/VerticalActionList#6"/>
    <dgm:cxn modelId="{5FCD6430-2BB2-432D-B122-C6D8282F3790}" type="presParOf" srcId="{C62C65C8-45CB-44E0-93ED-0F2C1A135492}" destId="{03184A24-E4FC-4C1E-9A54-FDBA181F7425}" srcOrd="1" destOrd="0" presId="urn:microsoft.com/office/officeart/2024/layout/VerticalActionList#6"/>
    <dgm:cxn modelId="{E75446E0-3585-4E3D-9C8E-0C033ECC59BE}" type="presParOf" srcId="{C62C65C8-45CB-44E0-93ED-0F2C1A135492}" destId="{3AE748B8-C218-40EA-A515-946CC6C4F8CF}" srcOrd="2" destOrd="0" presId="urn:microsoft.com/office/officeart/2024/layout/VerticalActionList#6"/>
    <dgm:cxn modelId="{463A78D6-EB0F-4F2E-A371-6C128B59E33C}" type="presParOf" srcId="{1A86B4E9-60CA-4363-AE63-5AFF38EFE7E9}" destId="{FC6F45EB-9844-47B2-AB6B-E8E6B7A4659D}" srcOrd="7" destOrd="0" presId="urn:microsoft.com/office/officeart/2024/layout/VerticalActionList#6"/>
    <dgm:cxn modelId="{245B30B3-E034-42D3-8BB8-4DC51481C362}" type="presParOf" srcId="{1A86B4E9-60CA-4363-AE63-5AFF38EFE7E9}" destId="{DA7AA13B-4D71-4730-A801-9A8BEAC69348}" srcOrd="8" destOrd="0" presId="urn:microsoft.com/office/officeart/2024/layout/VerticalActionList#6"/>
    <dgm:cxn modelId="{98CD4557-8760-4B77-9E7B-5A32A0A2A510}" type="presParOf" srcId="{DA7AA13B-4D71-4730-A801-9A8BEAC69348}" destId="{68CC06D1-9C7E-4ADC-88D5-8F542553C6EB}" srcOrd="0" destOrd="0" presId="urn:microsoft.com/office/officeart/2024/layout/VerticalActionList#6"/>
    <dgm:cxn modelId="{F3BD67C4-30B4-4AC5-A106-3938F0C38CED}" type="presParOf" srcId="{DA7AA13B-4D71-4730-A801-9A8BEAC69348}" destId="{4E8C9246-D96F-4667-9877-1DE5FDA9D93B}" srcOrd="1" destOrd="0" presId="urn:microsoft.com/office/officeart/2024/layout/VerticalActionList#6"/>
    <dgm:cxn modelId="{476A5063-C1A8-4269-9A82-1B0969338632}" type="presParOf" srcId="{DA7AA13B-4D71-4730-A801-9A8BEAC69348}" destId="{82A0AFA2-74B3-425B-B56C-D64AF062C627}" srcOrd="2" destOrd="0" presId="urn:microsoft.com/office/officeart/2024/layout/VerticalActionList#6"/>
    <dgm:cxn modelId="{3DFC556D-05D6-492C-A084-568AC3B90EE7}" type="presParOf" srcId="{1A86B4E9-60CA-4363-AE63-5AFF38EFE7E9}" destId="{87D71D1D-538B-44F7-B234-8AD32E5B0E1B}" srcOrd="9" destOrd="0" presId="urn:microsoft.com/office/officeart/2024/layout/VerticalActionList#6"/>
    <dgm:cxn modelId="{B6C75446-DBD2-4381-ACF5-22ED329286D0}" type="presParOf" srcId="{1A86B4E9-60CA-4363-AE63-5AFF38EFE7E9}" destId="{F32708AC-73A3-476F-9104-4457D9451527}" srcOrd="10" destOrd="0" presId="urn:microsoft.com/office/officeart/2024/layout/VerticalActionList#6"/>
    <dgm:cxn modelId="{2B9123E1-1895-4299-A542-0CCCA0B7D425}" type="presParOf" srcId="{F32708AC-73A3-476F-9104-4457D9451527}" destId="{C3CA288D-06A8-4427-A061-C81D106FA789}" srcOrd="0" destOrd="0" presId="urn:microsoft.com/office/officeart/2024/layout/VerticalActionList#6"/>
    <dgm:cxn modelId="{148142F5-316A-4552-878C-5518B6CD630F}" type="presParOf" srcId="{F32708AC-73A3-476F-9104-4457D9451527}" destId="{144A26D8-1921-4370-BB86-AD748A588074}" srcOrd="1" destOrd="0" presId="urn:microsoft.com/office/officeart/2024/layout/VerticalActionList#6"/>
    <dgm:cxn modelId="{7BCFE048-5747-4E07-8E85-5AB3B05CF22C}" type="presParOf" srcId="{F32708AC-73A3-476F-9104-4457D9451527}" destId="{677F1592-44C9-4317-8AEF-C07AA30EDBB4}" srcOrd="2" destOrd="0" presId="urn:microsoft.com/office/officeart/2024/layout/VerticalAction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F9475C-3AC5-405A-87DF-9C340A9C60E8}">
      <dsp:nvSpPr>
        <dsp:cNvPr id="0" name=""/>
        <dsp:cNvSpPr/>
      </dsp:nvSpPr>
      <dsp:spPr>
        <a:xfrm rot="16200000">
          <a:off x="-1599252" y="1605543"/>
          <a:ext cx="5418667" cy="2207579"/>
        </a:xfrm>
        <a:prstGeom prst="flowChartManualOperati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52400" tIns="0" rIns="152400" bIns="0" numCol="1" spcCol="1270" anchor="ctr" anchorCtr="0">
          <a:noAutofit/>
        </a:bodyPr>
        <a:lstStyle/>
        <a:p>
          <a:pPr marL="0" lvl="0" indent="0" algn="ctr" defTabSz="1066800">
            <a:lnSpc>
              <a:spcPct val="100000"/>
            </a:lnSpc>
            <a:spcBef>
              <a:spcPct val="0"/>
            </a:spcBef>
            <a:spcAft>
              <a:spcPct val="35000"/>
            </a:spcAft>
            <a:buNone/>
          </a:pPr>
          <a:r>
            <a:rPr lang="zh-CN" sz="2400" b="1" kern="1200" dirty="0"/>
            <a:t>数据孤岛与碎片化突出</a:t>
          </a:r>
          <a:endParaRPr lang="en-US" altLang="zh-CN" sz="1600" b="1" kern="1200" dirty="0"/>
        </a:p>
        <a:p>
          <a:pPr marL="0" lvl="0" indent="0" algn="ctr" defTabSz="1066800">
            <a:lnSpc>
              <a:spcPct val="100000"/>
            </a:lnSpc>
            <a:spcBef>
              <a:spcPct val="0"/>
            </a:spcBef>
            <a:spcAft>
              <a:spcPct val="35000"/>
            </a:spcAft>
            <a:buNone/>
          </a:pPr>
          <a:r>
            <a:rPr lang="zh-CN" sz="1400" kern="1200" dirty="0"/>
            <a:t>医疗机构、科研院所、企业数据分散割据，跨机构、跨区域共享机制不健全，形成大量“数据孤岛”；中医临床、古籍、产业等核心数据采集难度大、原始数据质量参差不齐，难以形成规模化、标准化高质量数据池。 </a:t>
          </a:r>
          <a:endParaRPr lang="zh-CN" altLang="en-US" sz="1400" kern="1200" dirty="0"/>
        </a:p>
      </dsp:txBody>
      <dsp:txXfrm rot="5400000">
        <a:off x="6292" y="1083732"/>
        <a:ext cx="2207579" cy="3251201"/>
      </dsp:txXfrm>
    </dsp:sp>
    <dsp:sp modelId="{79F51E03-45A5-4A95-8C15-99381B780097}">
      <dsp:nvSpPr>
        <dsp:cNvPr id="0" name=""/>
        <dsp:cNvSpPr/>
      </dsp:nvSpPr>
      <dsp:spPr>
        <a:xfrm rot="16200000">
          <a:off x="773896" y="1605543"/>
          <a:ext cx="5418667" cy="2207579"/>
        </a:xfrm>
        <a:prstGeom prst="flowChartManualOperati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100000"/>
            </a:lnSpc>
            <a:spcBef>
              <a:spcPct val="0"/>
            </a:spcBef>
            <a:spcAft>
              <a:spcPct val="35000"/>
            </a:spcAft>
            <a:buNone/>
          </a:pPr>
          <a:r>
            <a:rPr lang="zh-CN" sz="2000" b="1" kern="1200" dirty="0"/>
            <a:t>标准规范缺失，治理体系不健全</a:t>
          </a:r>
          <a:endParaRPr lang="en-US" altLang="zh-CN" sz="1600" b="1" kern="1200" dirty="0"/>
        </a:p>
        <a:p>
          <a:pPr marL="0" lvl="0" indent="0" algn="ctr" defTabSz="889000">
            <a:lnSpc>
              <a:spcPct val="100000"/>
            </a:lnSpc>
            <a:spcBef>
              <a:spcPct val="0"/>
            </a:spcBef>
            <a:spcAft>
              <a:spcPct val="35000"/>
            </a:spcAft>
            <a:buNone/>
          </a:pPr>
          <a:r>
            <a:rPr lang="zh-CN" sz="1400" kern="1200" dirty="0"/>
            <a:t>数据采集、术语体系、标注规则缺乏统一标准，多模态数据融合难度大，数据可比性与复用性不足；中医宏观证候数据与西医微观组学、影像数据之间 的对齐技术尚不成熟；古籍、病历、舌脉影像等非结构化数据占比高，结构化转化依赖专家人工标注，成本高、效率低，名医经验等隐性知识提取困难。</a:t>
          </a:r>
          <a:endParaRPr lang="zh-CN" altLang="en-US" sz="1400" kern="1200" dirty="0"/>
        </a:p>
      </dsp:txBody>
      <dsp:txXfrm rot="5400000">
        <a:off x="2379440" y="1083732"/>
        <a:ext cx="2207579" cy="3251201"/>
      </dsp:txXfrm>
    </dsp:sp>
    <dsp:sp modelId="{E6E75FB3-5AC8-430C-AF4A-61A198B64629}">
      <dsp:nvSpPr>
        <dsp:cNvPr id="0" name=""/>
        <dsp:cNvSpPr/>
      </dsp:nvSpPr>
      <dsp:spPr>
        <a:xfrm rot="16200000">
          <a:off x="3147044" y="1605543"/>
          <a:ext cx="5418667" cy="2207579"/>
        </a:xfrm>
        <a:prstGeom prst="flowChartManualOperation">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100000"/>
            </a:lnSpc>
            <a:spcBef>
              <a:spcPct val="0"/>
            </a:spcBef>
            <a:spcAft>
              <a:spcPct val="35000"/>
            </a:spcAft>
            <a:buNone/>
          </a:pPr>
          <a:r>
            <a:rPr lang="zh-CN" sz="1800" b="1" kern="1200" dirty="0"/>
            <a:t>治理成本与效率瓶颈凸显，价值变现机制不成熟</a:t>
          </a:r>
          <a:endParaRPr lang="en-US" altLang="zh-CN" sz="1600" b="1" kern="1200" dirty="0"/>
        </a:p>
        <a:p>
          <a:pPr marL="0" lvl="0" indent="0" algn="ctr" defTabSz="800100">
            <a:lnSpc>
              <a:spcPct val="100000"/>
            </a:lnSpc>
            <a:spcBef>
              <a:spcPct val="0"/>
            </a:spcBef>
            <a:spcAft>
              <a:spcPct val="35000"/>
            </a:spcAft>
            <a:buNone/>
          </a:pPr>
          <a:r>
            <a:rPr lang="zh-CN" sz="1400" kern="1200" dirty="0"/>
            <a:t>非结构化数据治理周期长、投入大，高质量数据集需多级审核、全流程溯源，建设成本高，中小机构难以负担，制约规模化推广；数据价值 变现路径不清晰，可持续运营机制尚未形成。</a:t>
          </a:r>
          <a:endParaRPr lang="zh-CN" altLang="en-US" sz="1400" kern="1200" dirty="0"/>
        </a:p>
      </dsp:txBody>
      <dsp:txXfrm rot="5400000">
        <a:off x="4752588" y="1083732"/>
        <a:ext cx="2207579" cy="3251201"/>
      </dsp:txXfrm>
    </dsp:sp>
    <dsp:sp modelId="{9515BEAD-DD61-40C0-ABD3-2731660030B2}">
      <dsp:nvSpPr>
        <dsp:cNvPr id="0" name=""/>
        <dsp:cNvSpPr/>
      </dsp:nvSpPr>
      <dsp:spPr>
        <a:xfrm rot="16200000">
          <a:off x="5520192" y="1605543"/>
          <a:ext cx="5418667" cy="2207579"/>
        </a:xfrm>
        <a:prstGeom prst="flowChartManualOperati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100000"/>
            </a:lnSpc>
            <a:spcBef>
              <a:spcPct val="0"/>
            </a:spcBef>
            <a:spcAft>
              <a:spcPct val="35000"/>
            </a:spcAft>
            <a:buNone/>
          </a:pPr>
          <a:r>
            <a:rPr lang="zh-CN" sz="1800" b="1" kern="1200" dirty="0"/>
            <a:t>安全合规边界不清，共享流通存在壁垒</a:t>
          </a:r>
          <a:endParaRPr lang="en-US" altLang="zh-CN" sz="1600" b="1" kern="1200" dirty="0"/>
        </a:p>
        <a:p>
          <a:pPr marL="0" lvl="0" indent="0" algn="ctr" defTabSz="800100">
            <a:lnSpc>
              <a:spcPct val="100000"/>
            </a:lnSpc>
            <a:spcBef>
              <a:spcPct val="0"/>
            </a:spcBef>
            <a:spcAft>
              <a:spcPct val="35000"/>
            </a:spcAft>
            <a:buNone/>
          </a:pPr>
          <a:r>
            <a:rPr lang="zh-CN" sz="1400" kern="1200" dirty="0"/>
            <a:t>医疗数据隐私保护要求严格，数据流通与应用的 合规边界需进一步明晰。数据归属、利益分配、知识产权等规则不明确，机构共享意愿低，数据流通效率低，难以形成规模化高质量数据集。 </a:t>
          </a:r>
          <a:endParaRPr lang="zh-CN" altLang="en-US" sz="1400" kern="1200" dirty="0"/>
        </a:p>
      </dsp:txBody>
      <dsp:txXfrm rot="5400000">
        <a:off x="7125736" y="1083732"/>
        <a:ext cx="2207579" cy="3251201"/>
      </dsp:txXfrm>
    </dsp:sp>
    <dsp:sp modelId="{A566D76E-2CAD-4243-A738-BE8990CB60D8}">
      <dsp:nvSpPr>
        <dsp:cNvPr id="0" name=""/>
        <dsp:cNvSpPr/>
      </dsp:nvSpPr>
      <dsp:spPr>
        <a:xfrm rot="16200000">
          <a:off x="7893341" y="1605543"/>
          <a:ext cx="5418667" cy="2207579"/>
        </a:xfrm>
        <a:prstGeom prst="flowChartManualOperation">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300" tIns="0" rIns="114300" bIns="0" numCol="1" spcCol="1270" anchor="ctr" anchorCtr="0">
          <a:noAutofit/>
        </a:bodyPr>
        <a:lstStyle/>
        <a:p>
          <a:pPr marL="0" lvl="0" indent="0" algn="ctr" defTabSz="800100">
            <a:lnSpc>
              <a:spcPct val="100000"/>
            </a:lnSpc>
            <a:spcBef>
              <a:spcPct val="0"/>
            </a:spcBef>
            <a:spcAft>
              <a:spcPct val="35000"/>
            </a:spcAft>
            <a:buNone/>
          </a:pPr>
          <a:r>
            <a:rPr lang="zh-CN" sz="1800" b="1" kern="1200" dirty="0">
              <a:latin typeface="微软雅黑" panose="020B0503020204020204" pitchFamily="34" charset="-122"/>
              <a:ea typeface="微软雅黑" panose="020B0503020204020204" pitchFamily="34" charset="-122"/>
            </a:rPr>
            <a:t>政策、人才、资金支撑不足，体系建设进展缓慢</a:t>
          </a:r>
          <a:endParaRPr lang="en-US" altLang="zh-CN" sz="1600" b="1" kern="1200" dirty="0"/>
        </a:p>
        <a:p>
          <a:pPr marL="0" lvl="0" indent="0" algn="ctr" defTabSz="800100">
            <a:lnSpc>
              <a:spcPct val="100000"/>
            </a:lnSpc>
            <a:spcBef>
              <a:spcPct val="0"/>
            </a:spcBef>
            <a:spcAft>
              <a:spcPct val="35000"/>
            </a:spcAft>
            <a:buNone/>
          </a:pPr>
          <a:r>
            <a:rPr lang="zh-CN" sz="1400" kern="1200" dirty="0"/>
            <a:t>国家政策处于落地初期，地方配套细则 不完善；中医药与数据科学交叉复合型人才严重短缺；中医药高质量数据集建设周期长、回报慢、短 期经济效益不显著，长期稳定资金投入不足，难以支撑持续迭代与运维；支撑高质量数据集建设的区 域数据共享与协作机制等亟待完善。</a:t>
          </a:r>
          <a:endParaRPr lang="zh-CN" altLang="en-US" sz="1400" kern="1200" dirty="0"/>
        </a:p>
      </dsp:txBody>
      <dsp:txXfrm rot="5400000">
        <a:off x="9498885" y="1083732"/>
        <a:ext cx="2207579" cy="32512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C1289-CE86-4471-9FAE-65B642AEAF6F}">
      <dsp:nvSpPr>
        <dsp:cNvPr id="0" name=""/>
        <dsp:cNvSpPr/>
      </dsp:nvSpPr>
      <dsp:spPr>
        <a:xfrm rot="5400000">
          <a:off x="7333134" y="-3123916"/>
          <a:ext cx="832908" cy="7293730"/>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100000"/>
            </a:lnSpc>
            <a:spcBef>
              <a:spcPct val="0"/>
            </a:spcBef>
            <a:spcAft>
              <a:spcPct val="15000"/>
            </a:spcAft>
            <a:buFont typeface="Arial" panose="020B0604020202020204" pitchFamily="34" charset="0"/>
            <a:buChar char="•"/>
          </a:pPr>
          <a:r>
            <a:rPr lang="zh-CN" altLang="en-US" sz="2000" b="1" i="0" kern="1200">
              <a:effectLst/>
              <a:latin typeface="微软雅黑" panose="020B0503020204020204" pitchFamily="34" charset="-122"/>
              <a:ea typeface="微软雅黑" panose="020B0503020204020204" pitchFamily="34" charset="-122"/>
            </a:rPr>
            <a:t>制定中医药数据分类分级、多源融合、质量评估等标准规范</a:t>
          </a:r>
          <a:endParaRPr lang="zh-CN" altLang="en-US" sz="2000" b="1" kern="1200" dirty="0"/>
        </a:p>
        <a:p>
          <a:pPr marL="228600" lvl="1" indent="-228600" algn="l" defTabSz="889000">
            <a:lnSpc>
              <a:spcPct val="100000"/>
            </a:lnSpc>
            <a:spcBef>
              <a:spcPct val="0"/>
            </a:spcBef>
            <a:spcAft>
              <a:spcPct val="15000"/>
            </a:spcAft>
            <a:buFont typeface="Arial" panose="020B0604020202020204" pitchFamily="34" charset="0"/>
            <a:buChar char="•"/>
          </a:pPr>
          <a:r>
            <a:rPr lang="zh-CN" altLang="en-US" sz="2000" b="1" i="0" kern="1200" dirty="0">
              <a:effectLst/>
              <a:latin typeface="微软雅黑" panose="020B0503020204020204" pitchFamily="34" charset="-122"/>
              <a:ea typeface="微软雅黑" panose="020B0503020204020204" pitchFamily="34" charset="-122"/>
            </a:rPr>
            <a:t>建立覆盖采集、清洗、标注、存储、共享的全流程治理机制</a:t>
          </a:r>
          <a:endParaRPr lang="zh-CN" altLang="en-US" sz="2000" b="1" kern="1200" dirty="0"/>
        </a:p>
      </dsp:txBody>
      <dsp:txXfrm rot="-5400000">
        <a:off x="4102724" y="147153"/>
        <a:ext cx="7253071" cy="751590"/>
      </dsp:txXfrm>
    </dsp:sp>
    <dsp:sp modelId="{DA428245-A486-4D6F-9813-53A5E9A2CEF4}">
      <dsp:nvSpPr>
        <dsp:cNvPr id="0" name=""/>
        <dsp:cNvSpPr/>
      </dsp:nvSpPr>
      <dsp:spPr>
        <a:xfrm>
          <a:off x="0" y="2381"/>
          <a:ext cx="4102723" cy="10411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100000"/>
            </a:lnSpc>
            <a:spcBef>
              <a:spcPct val="0"/>
            </a:spcBef>
            <a:spcAft>
              <a:spcPct val="35000"/>
            </a:spcAft>
            <a:buFont typeface="Wingdings" panose="05000000000000000000" pitchFamily="2" charset="2"/>
            <a:buNone/>
          </a:pPr>
          <a:r>
            <a:rPr lang="zh-CN" altLang="en-US" sz="2000" b="1" i="0" kern="1200">
              <a:effectLst/>
              <a:latin typeface="微软雅黑" panose="020B0503020204020204" pitchFamily="34" charset="-122"/>
              <a:ea typeface="微软雅黑" panose="020B0503020204020204" pitchFamily="34" charset="-122"/>
            </a:rPr>
            <a:t>建立标准化数据治理体系打通行业数据壁垒</a:t>
          </a:r>
          <a:endParaRPr lang="zh-CN" altLang="en-US" sz="2000" kern="1200" dirty="0"/>
        </a:p>
      </dsp:txBody>
      <dsp:txXfrm>
        <a:off x="50824" y="53205"/>
        <a:ext cx="4001075" cy="939487"/>
      </dsp:txXfrm>
    </dsp:sp>
    <dsp:sp modelId="{654ACBD1-E6E1-4BB7-89FF-E9A09C066E4F}">
      <dsp:nvSpPr>
        <dsp:cNvPr id="0" name=""/>
        <dsp:cNvSpPr/>
      </dsp:nvSpPr>
      <dsp:spPr>
        <a:xfrm rot="5400000">
          <a:off x="7333134" y="-2030724"/>
          <a:ext cx="832908" cy="729373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100000"/>
            </a:lnSpc>
            <a:spcBef>
              <a:spcPct val="0"/>
            </a:spcBef>
            <a:spcAft>
              <a:spcPts val="0"/>
            </a:spcAft>
            <a:buFont typeface="Arial" panose="020B0604020202020204" pitchFamily="34" charset="0"/>
            <a:buChar char="•"/>
          </a:pPr>
          <a:r>
            <a:rPr lang="zh-CN" altLang="en-US" sz="1800" b="1" i="0" kern="1200" dirty="0">
              <a:effectLst/>
              <a:latin typeface="微软雅黑" panose="020B0503020204020204" pitchFamily="34" charset="-122"/>
              <a:ea typeface="微软雅黑" panose="020B0503020204020204" pitchFamily="34" charset="-122"/>
            </a:rPr>
            <a:t>中医药全领域数据汇聚</a:t>
          </a:r>
          <a:endParaRPr lang="zh-CN" altLang="en-US" sz="1800" b="1" kern="1200" dirty="0"/>
        </a:p>
        <a:p>
          <a:pPr marL="171450" lvl="1" indent="-171450" algn="l" defTabSz="800100">
            <a:lnSpc>
              <a:spcPct val="100000"/>
            </a:lnSpc>
            <a:spcBef>
              <a:spcPct val="0"/>
            </a:spcBef>
            <a:spcAft>
              <a:spcPts val="0"/>
            </a:spcAft>
            <a:buChar char="•"/>
          </a:pPr>
          <a:r>
            <a:rPr lang="zh-CN" altLang="en-US" sz="1800" b="1" i="0" kern="1200" dirty="0">
              <a:effectLst/>
              <a:latin typeface="微软雅黑" panose="020B0503020204020204" pitchFamily="34" charset="-122"/>
              <a:ea typeface="微软雅黑" panose="020B0503020204020204" pitchFamily="34" charset="-122"/>
            </a:rPr>
            <a:t>打造中医药专病与特色数据集</a:t>
          </a:r>
        </a:p>
        <a:p>
          <a:pPr marL="171450" lvl="1" indent="-171450" algn="l" defTabSz="800100">
            <a:lnSpc>
              <a:spcPct val="100000"/>
            </a:lnSpc>
            <a:spcBef>
              <a:spcPct val="0"/>
            </a:spcBef>
            <a:spcAft>
              <a:spcPts val="0"/>
            </a:spcAft>
            <a:buChar char="•"/>
          </a:pPr>
          <a:r>
            <a:rPr lang="zh-CN" altLang="en-US" sz="1800" b="1" i="0" kern="1200" dirty="0">
              <a:effectLst/>
              <a:latin typeface="微软雅黑" panose="020B0503020204020204" pitchFamily="34" charset="-122"/>
              <a:ea typeface="微软雅黑" panose="020B0503020204020204" pitchFamily="34" charset="-122"/>
            </a:rPr>
            <a:t>建设高水平中医药科学数据平台</a:t>
          </a:r>
        </a:p>
      </dsp:txBody>
      <dsp:txXfrm rot="-5400000">
        <a:off x="4102724" y="1240345"/>
        <a:ext cx="7253071" cy="751590"/>
      </dsp:txXfrm>
    </dsp:sp>
    <dsp:sp modelId="{323B61E0-CF0D-4D77-961D-C43247F3D677}">
      <dsp:nvSpPr>
        <dsp:cNvPr id="0" name=""/>
        <dsp:cNvSpPr/>
      </dsp:nvSpPr>
      <dsp:spPr>
        <a:xfrm>
          <a:off x="0" y="1095573"/>
          <a:ext cx="4102723" cy="10411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100000"/>
            </a:lnSpc>
            <a:spcBef>
              <a:spcPct val="0"/>
            </a:spcBef>
            <a:spcAft>
              <a:spcPct val="35000"/>
            </a:spcAft>
            <a:buFont typeface="Wingdings" panose="05000000000000000000" pitchFamily="2" charset="2"/>
            <a:buNone/>
          </a:pPr>
          <a:r>
            <a:rPr lang="zh-CN" altLang="en-US" sz="2000" b="1" i="0" kern="1200">
              <a:effectLst/>
              <a:latin typeface="微软雅黑" panose="020B0503020204020204" pitchFamily="34" charset="-122"/>
              <a:ea typeface="微软雅黑" panose="020B0503020204020204" pitchFamily="34" charset="-122"/>
            </a:rPr>
            <a:t>推进全链条数据资源汇聚 搭建高水平科学数据平台</a:t>
          </a:r>
          <a:endParaRPr lang="zh-CN" altLang="en-US" sz="2000" kern="1200" dirty="0"/>
        </a:p>
      </dsp:txBody>
      <dsp:txXfrm>
        <a:off x="50824" y="1146397"/>
        <a:ext cx="4001075" cy="939487"/>
      </dsp:txXfrm>
    </dsp:sp>
    <dsp:sp modelId="{6F3CC94E-F901-43A5-B744-FD6B35125A24}">
      <dsp:nvSpPr>
        <dsp:cNvPr id="0" name=""/>
        <dsp:cNvSpPr/>
      </dsp:nvSpPr>
      <dsp:spPr>
        <a:xfrm rot="5400000">
          <a:off x="7333134" y="-937531"/>
          <a:ext cx="832908" cy="7293730"/>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100000"/>
            </a:lnSpc>
            <a:spcBef>
              <a:spcPct val="0"/>
            </a:spcBef>
            <a:spcAft>
              <a:spcPct val="15000"/>
            </a:spcAft>
            <a:buFont typeface="Arial" panose="020B0604020202020204" pitchFamily="34" charset="0"/>
            <a:buChar char="•"/>
          </a:pPr>
          <a:r>
            <a:rPr lang="zh-CN" altLang="en-US" sz="1800" b="1" kern="1200" dirty="0">
              <a:latin typeface="微软雅黑" panose="020B0503020204020204" pitchFamily="34" charset="-122"/>
              <a:ea typeface="微软雅黑" panose="020B0503020204020204" pitchFamily="34" charset="-122"/>
            </a:rPr>
            <a:t>筑牢数据安全防线。严格遵循</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中华人民共和国网络安全法</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中华人民共和国数据安全法</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中华人民共和国个人信息保护法</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关键信息基础设施安全保护条例</a:t>
          </a:r>
          <a:r>
            <a:rPr lang="en-US" altLang="zh-CN" sz="1800" b="1" kern="1200" dirty="0">
              <a:latin typeface="微软雅黑" panose="020B0503020204020204" pitchFamily="34" charset="-122"/>
              <a:ea typeface="微软雅黑" panose="020B0503020204020204" pitchFamily="34" charset="-122"/>
            </a:rPr>
            <a:t>》</a:t>
          </a:r>
          <a:r>
            <a:rPr lang="zh-CN" altLang="en-US" sz="1800" b="1" kern="1200" dirty="0">
              <a:latin typeface="微软雅黑" panose="020B0503020204020204" pitchFamily="34" charset="-122"/>
              <a:ea typeface="微软雅黑" panose="020B0503020204020204" pitchFamily="34" charset="-122"/>
            </a:rPr>
            <a:t>等法律法规</a:t>
          </a:r>
        </a:p>
      </dsp:txBody>
      <dsp:txXfrm rot="-5400000">
        <a:off x="4102724" y="2333538"/>
        <a:ext cx="7253071" cy="751590"/>
      </dsp:txXfrm>
    </dsp:sp>
    <dsp:sp modelId="{B9481580-703B-41D4-8F3E-C3E657FA8C73}">
      <dsp:nvSpPr>
        <dsp:cNvPr id="0" name=""/>
        <dsp:cNvSpPr/>
      </dsp:nvSpPr>
      <dsp:spPr>
        <a:xfrm>
          <a:off x="0" y="2188765"/>
          <a:ext cx="4102723" cy="1041135"/>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10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强化安全与合规管理 提供数据全周期可信保障</a:t>
          </a:r>
          <a:endParaRPr sz="2000" kern="1200"/>
        </a:p>
      </dsp:txBody>
      <dsp:txXfrm>
        <a:off x="50824" y="2239589"/>
        <a:ext cx="4001075" cy="939487"/>
      </dsp:txXfrm>
    </dsp:sp>
    <dsp:sp modelId="{321D6A7C-D002-446E-B4C0-C36ECE6EBF63}">
      <dsp:nvSpPr>
        <dsp:cNvPr id="0" name=""/>
        <dsp:cNvSpPr/>
      </dsp:nvSpPr>
      <dsp:spPr>
        <a:xfrm rot="5400000">
          <a:off x="7333134" y="155660"/>
          <a:ext cx="832908" cy="7293730"/>
        </a:xfrm>
        <a:prstGeom prst="round2Same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100000"/>
            </a:lnSpc>
            <a:spcBef>
              <a:spcPct val="0"/>
            </a:spcBef>
            <a:spcAft>
              <a:spcPct val="15000"/>
            </a:spcAft>
            <a:buFont typeface="Arial" panose="020B0604020202020204" pitchFamily="34" charset="0"/>
            <a:buChar char="•"/>
          </a:pPr>
          <a:r>
            <a:rPr lang="zh-CN" altLang="en-US" sz="1800" b="1" kern="1200">
              <a:latin typeface="微软雅黑" panose="020B0503020204020204" pitchFamily="34" charset="-122"/>
              <a:ea typeface="微软雅黑" panose="020B0503020204020204" pitchFamily="34" charset="-122"/>
            </a:rPr>
            <a:t>面向中医药核心场景，建立数据集与业务需求的精准映射，开发标准化数据接口与工具组件，依托高质量数据集持续提升 </a:t>
          </a:r>
          <a:r>
            <a:rPr lang="en-US" altLang="zh-CN" sz="1800" b="1" kern="1200">
              <a:latin typeface="微软雅黑" panose="020B0503020204020204" pitchFamily="34" charset="-122"/>
              <a:ea typeface="微软雅黑" panose="020B0503020204020204" pitchFamily="34" charset="-122"/>
            </a:rPr>
            <a:t>AI </a:t>
          </a:r>
          <a:r>
            <a:rPr lang="zh-CN" altLang="en-US" sz="1800" b="1" kern="1200">
              <a:latin typeface="微软雅黑" panose="020B0503020204020204" pitchFamily="34" charset="-122"/>
              <a:ea typeface="微软雅黑" panose="020B0503020204020204" pitchFamily="34" charset="-122"/>
            </a:rPr>
            <a:t>模型与智能体的决策能力，全面提升中医药服务效能与产业竞争力。</a:t>
          </a:r>
          <a:endParaRPr lang="zh-CN" altLang="en-US" sz="1800" b="1" kern="1200" dirty="0">
            <a:latin typeface="微软雅黑" panose="020B0503020204020204" pitchFamily="34" charset="-122"/>
            <a:ea typeface="微软雅黑" panose="020B0503020204020204" pitchFamily="34" charset="-122"/>
          </a:endParaRPr>
        </a:p>
      </dsp:txBody>
      <dsp:txXfrm rot="-5400000">
        <a:off x="4102724" y="3426730"/>
        <a:ext cx="7253071" cy="751590"/>
      </dsp:txXfrm>
    </dsp:sp>
    <dsp:sp modelId="{E5E80831-79B1-47DF-9D8F-0436167950C9}">
      <dsp:nvSpPr>
        <dsp:cNvPr id="0" name=""/>
        <dsp:cNvSpPr/>
      </dsp:nvSpPr>
      <dsp:spPr>
        <a:xfrm>
          <a:off x="0" y="3281958"/>
          <a:ext cx="4102723" cy="104113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100000"/>
            </a:lnSpc>
            <a:spcBef>
              <a:spcPct val="0"/>
            </a:spcBef>
            <a:spcAft>
              <a:spcPct val="35000"/>
            </a:spcAft>
            <a:buFont typeface="Wingdings" panose="05000000000000000000" pitchFamily="2" charset="2"/>
            <a:buNone/>
          </a:pPr>
          <a:r>
            <a:rPr lang="zh-CN" altLang="en-US" sz="2000" b="1" kern="1200" dirty="0">
              <a:latin typeface="微软雅黑" panose="020B0503020204020204" pitchFamily="34" charset="-122"/>
              <a:ea typeface="微软雅黑" panose="020B0503020204020204" pitchFamily="34" charset="-122"/>
            </a:rPr>
            <a:t>打造全方位数据应用场景 赋能全行业高质量发展</a:t>
          </a:r>
          <a:endParaRPr lang="zh-CN" altLang="en-US" sz="2000" kern="1200" dirty="0"/>
        </a:p>
      </dsp:txBody>
      <dsp:txXfrm>
        <a:off x="50824" y="3332782"/>
        <a:ext cx="4001075" cy="939487"/>
      </dsp:txXfrm>
    </dsp:sp>
    <dsp:sp modelId="{1EB6355E-34F4-418C-ABB0-B4CB5E8395EA}">
      <dsp:nvSpPr>
        <dsp:cNvPr id="0" name=""/>
        <dsp:cNvSpPr/>
      </dsp:nvSpPr>
      <dsp:spPr>
        <a:xfrm rot="5400000">
          <a:off x="7333134" y="1248852"/>
          <a:ext cx="832908" cy="7293730"/>
        </a:xfrm>
        <a:prstGeom prst="round2Same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100000"/>
            </a:lnSpc>
            <a:spcBef>
              <a:spcPct val="0"/>
            </a:spcBef>
            <a:spcAft>
              <a:spcPct val="15000"/>
            </a:spcAft>
            <a:buChar char="•"/>
          </a:pPr>
          <a:r>
            <a:rPr lang="zh-CN" altLang="en-US" sz="2000" b="1" kern="1200" dirty="0">
              <a:latin typeface="微软雅黑" panose="020B0503020204020204" pitchFamily="34" charset="-122"/>
              <a:ea typeface="微软雅黑" panose="020B0503020204020204" pitchFamily="34" charset="-122"/>
            </a:rPr>
            <a:t>强化技术与人才保障</a:t>
          </a:r>
          <a:endParaRPr lang="zh-CN" altLang="en-US" sz="2000" b="1" kern="1200" dirty="0"/>
        </a:p>
        <a:p>
          <a:pPr marL="228600" lvl="1" indent="-228600" algn="l" defTabSz="889000">
            <a:lnSpc>
              <a:spcPct val="100000"/>
            </a:lnSpc>
            <a:spcBef>
              <a:spcPct val="0"/>
            </a:spcBef>
            <a:spcAft>
              <a:spcPct val="15000"/>
            </a:spcAft>
            <a:buFont typeface="Arial" panose="020B0604020202020204" pitchFamily="34" charset="0"/>
            <a:buChar char="•"/>
          </a:pPr>
          <a:r>
            <a:rPr lang="zh-CN" altLang="en-US" sz="2000" b="1" kern="1200" dirty="0">
              <a:latin typeface="微软雅黑" panose="020B0503020204020204" pitchFamily="34" charset="-122"/>
              <a:ea typeface="微软雅黑" panose="020B0503020204020204" pitchFamily="34" charset="-122"/>
            </a:rPr>
            <a:t>促进数据要素与中医药产业深度融合</a:t>
          </a:r>
          <a:endParaRPr lang="zh-CN" altLang="en-US" sz="2000" b="1" kern="1200" dirty="0"/>
        </a:p>
      </dsp:txBody>
      <dsp:txXfrm rot="-5400000">
        <a:off x="4102724" y="4519922"/>
        <a:ext cx="7253071" cy="751590"/>
      </dsp:txXfrm>
    </dsp:sp>
    <dsp:sp modelId="{C35C0A8E-700C-499E-B324-0B01AA39C4B2}">
      <dsp:nvSpPr>
        <dsp:cNvPr id="0" name=""/>
        <dsp:cNvSpPr/>
      </dsp:nvSpPr>
      <dsp:spPr>
        <a:xfrm>
          <a:off x="0" y="4375150"/>
          <a:ext cx="4102723" cy="1041135"/>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100000"/>
            </a:lnSpc>
            <a:spcBef>
              <a:spcPct val="0"/>
            </a:spcBef>
            <a:spcAft>
              <a:spcPct val="35000"/>
            </a:spcAft>
            <a:buFont typeface="Wingdings" panose="05000000000000000000" pitchFamily="2" charset="2"/>
            <a:buNone/>
          </a:pPr>
          <a:r>
            <a:rPr lang="zh-CN" altLang="en-US" sz="2000" b="1" kern="1200">
              <a:latin typeface="微软雅黑" panose="020B0503020204020204" pitchFamily="34" charset="-122"/>
              <a:ea typeface="微软雅黑" panose="020B0503020204020204" pitchFamily="34" charset="-122"/>
            </a:rPr>
            <a:t>强化技术人才支撑 构建数据驱动产业生态</a:t>
          </a:r>
          <a:endParaRPr lang="zh-CN" altLang="en-US" sz="2000" kern="1200" dirty="0"/>
        </a:p>
      </dsp:txBody>
      <dsp:txXfrm>
        <a:off x="50824" y="4425974"/>
        <a:ext cx="4001075" cy="9394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945D6B-90B5-49BC-BB01-27EF837E4005}">
      <dsp:nvSpPr>
        <dsp:cNvPr id="0" name=""/>
        <dsp:cNvSpPr/>
      </dsp:nvSpPr>
      <dsp:spPr bwMode="white">
        <a:xfrm>
          <a:off x="9747" y="0"/>
          <a:ext cx="2548232" cy="26498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场景适配性</a:t>
          </a:r>
          <a:endParaRPr sz="1800" kern="1200"/>
        </a:p>
      </dsp:txBody>
      <dsp:txXfrm>
        <a:off x="9747" y="0"/>
        <a:ext cx="2548232" cy="2649855"/>
      </dsp:txXfrm>
    </dsp:sp>
    <dsp:sp modelId="{A1E064F9-87B1-4602-A7C1-FF28BFB7B555}">
      <dsp:nvSpPr>
        <dsp:cNvPr id="0" name=""/>
        <dsp:cNvSpPr/>
      </dsp:nvSpPr>
      <dsp:spPr bwMode="white">
        <a:xfrm>
          <a:off x="9747" y="2649855"/>
          <a:ext cx="2548232" cy="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医药高质量数据集应围绕明确的 </a:t>
          </a:r>
          <a:r>
            <a:rPr lang="en-US" altLang="en-US" sz="1600" kern="1200" dirty="0"/>
            <a:t>AI </a:t>
          </a:r>
          <a:r>
            <a:rPr lang="zh-CN" altLang="en-US" sz="1600" kern="1200" dirty="0"/>
            <a:t>任务和中医药应用场景进行设计，数据来源、字段结构、标签体系、质量标准、使用方式应与具体应用目标相匹配。</a:t>
          </a:r>
        </a:p>
      </dsp:txBody>
      <dsp:txXfrm>
        <a:off x="9747" y="2649855"/>
        <a:ext cx="2548232" cy="1"/>
      </dsp:txXfrm>
    </dsp:sp>
    <dsp:sp modelId="{9991138E-C291-4EE4-ACD2-2E69C163FA4C}">
      <dsp:nvSpPr>
        <dsp:cNvPr id="0" name=""/>
        <dsp:cNvSpPr/>
      </dsp:nvSpPr>
      <dsp:spPr bwMode="white">
        <a:xfrm>
          <a:off x="2914731" y="0"/>
          <a:ext cx="2548232" cy="26498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100000"/>
            </a:lnSpc>
            <a:spcBef>
              <a:spcPct val="0"/>
            </a:spcBef>
            <a:spcAft>
              <a:spcPct val="35000"/>
            </a:spcAft>
            <a:buFont typeface="Wingdings" panose="05000000000000000000" pitchFamily="2" charset="2"/>
            <a:buNone/>
          </a:pPr>
          <a:r>
            <a:rPr lang="zh-CN" altLang="en-US" sz="1900" b="1" i="0" kern="1200" dirty="0">
              <a:solidFill>
                <a:schemeClr val="bg1"/>
              </a:solidFill>
              <a:effectLst/>
              <a:latin typeface="微软雅黑" panose="020B0503020204020204" pitchFamily="34" charset="-122"/>
              <a:ea typeface="微软雅黑" panose="020B0503020204020204" pitchFamily="34" charset="-122"/>
            </a:rPr>
            <a:t>准确性与完整性</a:t>
          </a:r>
          <a:endParaRPr lang="zh-CN" altLang="en-US" sz="1900" b="1" kern="1200" dirty="0">
            <a:solidFill>
              <a:schemeClr val="bg1"/>
            </a:solidFill>
          </a:endParaRPr>
        </a:p>
      </dsp:txBody>
      <dsp:txXfrm>
        <a:off x="2914731" y="0"/>
        <a:ext cx="2548232" cy="2649855"/>
      </dsp:txXfrm>
    </dsp:sp>
    <dsp:sp modelId="{270AE915-C6F1-4F55-BF50-A243EBD89415}">
      <dsp:nvSpPr>
        <dsp:cNvPr id="0" name=""/>
        <dsp:cNvSpPr/>
      </dsp:nvSpPr>
      <dsp:spPr bwMode="white">
        <a:xfrm>
          <a:off x="2914731" y="2649855"/>
          <a:ext cx="2548232" cy="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数据应真实可靠、来源清晰、内容准确，并与客观事实、临床记录或权威知识来源保持一致。</a:t>
          </a:r>
        </a:p>
      </dsp:txBody>
      <dsp:txXfrm>
        <a:off x="2914731" y="2649855"/>
        <a:ext cx="2548232" cy="1"/>
      </dsp:txXfrm>
    </dsp:sp>
    <dsp:sp modelId="{0DC85261-D3D5-4BFB-A63D-DA1DD4932AA6}">
      <dsp:nvSpPr>
        <dsp:cNvPr id="0" name=""/>
        <dsp:cNvSpPr/>
      </dsp:nvSpPr>
      <dsp:spPr bwMode="white">
        <a:xfrm>
          <a:off x="5819716" y="0"/>
          <a:ext cx="2548232" cy="26498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治理规范性</a:t>
          </a:r>
          <a:endParaRPr sz="1800" kern="1200"/>
        </a:p>
      </dsp:txBody>
      <dsp:txXfrm>
        <a:off x="5819716" y="0"/>
        <a:ext cx="2548232" cy="2649855"/>
      </dsp:txXfrm>
    </dsp:sp>
    <dsp:sp modelId="{0933B54E-500F-4E26-8FCE-91E85656FAE4}">
      <dsp:nvSpPr>
        <dsp:cNvPr id="0" name=""/>
        <dsp:cNvSpPr/>
      </dsp:nvSpPr>
      <dsp:spPr bwMode="white">
        <a:xfrm>
          <a:off x="5819716" y="2649855"/>
          <a:ext cx="2548232" cy="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应以国家标准为依据，在采集、预处理、标注、质量评测各环节遵循相应规范，通过统一的术语标准化体系、字段规范与质量控制流程，减少多源异构数据之间的歧义与冲突。</a:t>
          </a:r>
        </a:p>
      </dsp:txBody>
      <dsp:txXfrm>
        <a:off x="5819716" y="2649855"/>
        <a:ext cx="2548232" cy="1"/>
      </dsp:txXfrm>
    </dsp:sp>
    <dsp:sp modelId="{A67F78C5-F25D-4FC8-B8FF-F5DF258410B4}">
      <dsp:nvSpPr>
        <dsp:cNvPr id="0" name=""/>
        <dsp:cNvSpPr/>
      </dsp:nvSpPr>
      <dsp:spPr bwMode="white">
        <a:xfrm>
          <a:off x="8724700" y="0"/>
          <a:ext cx="2548232" cy="2649855"/>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10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标注专业性</a:t>
          </a:r>
          <a:endParaRPr sz="1800" kern="1200"/>
        </a:p>
      </dsp:txBody>
      <dsp:txXfrm>
        <a:off x="8724700" y="0"/>
        <a:ext cx="2548232" cy="2649855"/>
      </dsp:txXfrm>
    </dsp:sp>
    <dsp:sp modelId="{60F17C7C-2E4F-45B2-9E4F-CE91915A037B}">
      <dsp:nvSpPr>
        <dsp:cNvPr id="0" name=""/>
        <dsp:cNvSpPr/>
      </dsp:nvSpPr>
      <dsp:spPr bwMode="white">
        <a:xfrm>
          <a:off x="8724700" y="2649855"/>
          <a:ext cx="2548232" cy="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0" kern="1200" dirty="0">
              <a:latin typeface="+mn-ea"/>
              <a:ea typeface="+mn-ea"/>
            </a:rPr>
            <a:t>数据标注应面向 </a:t>
          </a:r>
          <a:r>
            <a:rPr lang="en-US" altLang="en-US" sz="1600" b="0" kern="1200" dirty="0">
              <a:latin typeface="+mn-ea"/>
              <a:ea typeface="+mn-ea"/>
            </a:rPr>
            <a:t>AI </a:t>
          </a:r>
          <a:r>
            <a:rPr lang="zh-CN" altLang="en-US" sz="1600" b="0" kern="1200" dirty="0">
              <a:latin typeface="+mn-ea"/>
              <a:ea typeface="+mn-ea"/>
            </a:rPr>
            <a:t>任务需求，遵循明确的标签体系、标注规范和质量控制要求。对于具有专业判断属性的核心标签，应由具备相应专业背景的人员参与标注或审核。</a:t>
          </a:r>
        </a:p>
      </dsp:txBody>
      <dsp:txXfrm>
        <a:off x="8724700" y="2649855"/>
        <a:ext cx="2548232" cy="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0E10BA-DE38-4D04-B954-A786B3677166}">
      <dsp:nvSpPr>
        <dsp:cNvPr id="0" name=""/>
        <dsp:cNvSpPr/>
      </dsp:nvSpPr>
      <dsp:spPr bwMode="white">
        <a:xfrm>
          <a:off x="374576" y="1208595"/>
          <a:ext cx="3487705" cy="1418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ts val="0"/>
            </a:spcAft>
            <a:buFont typeface="Wingdings" panose="05000000000000000000" pitchFamily="2" charset="2"/>
            <a:buNone/>
          </a:pPr>
          <a:r>
            <a:rPr lang="zh-CN" altLang="en-US" sz="1800" b="1" kern="1200" dirty="0">
              <a:solidFill>
                <a:schemeClr val="bg1"/>
              </a:solidFill>
              <a:latin typeface="微软雅黑" panose="020B0503020204020204" pitchFamily="34" charset="-122"/>
              <a:ea typeface="微软雅黑" panose="020B0503020204020204" pitchFamily="34" charset="-122"/>
            </a:rPr>
            <a:t>可解释性与中医药逻辑一致性 </a:t>
          </a:r>
          <a:endParaRPr lang="zh-CN" altLang="en-US" sz="1800" kern="1200" dirty="0">
            <a:solidFill>
              <a:schemeClr val="bg1"/>
            </a:solidFill>
          </a:endParaRPr>
        </a:p>
      </dsp:txBody>
      <dsp:txXfrm>
        <a:off x="374576" y="1208595"/>
        <a:ext cx="3487705" cy="14186"/>
      </dsp:txXfrm>
    </dsp:sp>
    <dsp:sp modelId="{7C047334-2B51-433B-A345-752181CDD448}">
      <dsp:nvSpPr>
        <dsp:cNvPr id="0" name=""/>
        <dsp:cNvSpPr/>
      </dsp:nvSpPr>
      <dsp:spPr bwMode="white">
        <a:xfrm>
          <a:off x="361794" y="1305570"/>
          <a:ext cx="3497717" cy="29372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中医药 </a:t>
          </a:r>
          <a:r>
            <a:rPr lang="en-US" altLang="en-US" sz="1600" kern="1200" dirty="0"/>
            <a:t>AI </a:t>
          </a:r>
          <a:r>
            <a:rPr lang="zh-CN" altLang="en-US" sz="1600" kern="1200" dirty="0"/>
            <a:t>高质量数据集应尽可能保留中医药知识表达和实践过程中的依据链条与逻辑关系，体现中医药理论语义、辨证论治思维和诊疗决策规律。</a:t>
          </a:r>
        </a:p>
      </dsp:txBody>
      <dsp:txXfrm>
        <a:off x="361794" y="1305570"/>
        <a:ext cx="3497717" cy="293725"/>
      </dsp:txXfrm>
    </dsp:sp>
    <dsp:sp modelId="{3CA8BD00-E747-40BD-8420-1CF677862111}">
      <dsp:nvSpPr>
        <dsp:cNvPr id="0" name=""/>
        <dsp:cNvSpPr/>
      </dsp:nvSpPr>
      <dsp:spPr bwMode="white">
        <a:xfrm>
          <a:off x="4053711" y="1252050"/>
          <a:ext cx="3487705" cy="8008"/>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solidFill>
                <a:schemeClr val="bg1"/>
              </a:solidFill>
              <a:latin typeface="微软雅黑" panose="020B0503020204020204" pitchFamily="34" charset="-122"/>
              <a:ea typeface="微软雅黑" panose="020B0503020204020204" pitchFamily="34" charset="-122"/>
            </a:rPr>
            <a:t>安全合规性</a:t>
          </a:r>
        </a:p>
      </dsp:txBody>
      <dsp:txXfrm>
        <a:off x="4053711" y="1252050"/>
        <a:ext cx="3487705" cy="8008"/>
      </dsp:txXfrm>
    </dsp:sp>
    <dsp:sp modelId="{462B8045-315F-4545-9541-531F9440A375}">
      <dsp:nvSpPr>
        <dsp:cNvPr id="0" name=""/>
        <dsp:cNvSpPr/>
      </dsp:nvSpPr>
      <dsp:spPr bwMode="white">
        <a:xfrm>
          <a:off x="4063258" y="1323517"/>
          <a:ext cx="3468610" cy="22068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据集建设与应用应严格遵循网络安全、数据安全、个人信息保护、医疗伦理和知识产权等相关法律法规及行业管理要求。应根据数据敏感程度和使用风险实施分类分级管理、脱敏处理、授权使用、访问控制和安全审计，确保数据全生命周期合法合规。 </a:t>
          </a:r>
        </a:p>
      </dsp:txBody>
      <dsp:txXfrm>
        <a:off x="4063258" y="1323517"/>
        <a:ext cx="3468610" cy="220681"/>
      </dsp:txXfrm>
    </dsp:sp>
    <dsp:sp modelId="{7D1AFAEF-5219-4286-B125-BA4267B5407B}">
      <dsp:nvSpPr>
        <dsp:cNvPr id="0" name=""/>
        <dsp:cNvSpPr/>
      </dsp:nvSpPr>
      <dsp:spPr bwMode="white">
        <a:xfrm>
          <a:off x="7707368" y="1284685"/>
          <a:ext cx="3487705" cy="452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Font typeface="Wingdings" panose="05000000000000000000" pitchFamily="2" charset="2"/>
            <a:buNone/>
          </a:pPr>
          <a:r>
            <a:rPr lang="zh-CN" altLang="en-US" sz="2000" b="1" kern="1200" dirty="0">
              <a:solidFill>
                <a:schemeClr val="bg1"/>
              </a:solidFill>
              <a:latin typeface="微软雅黑" panose="020B0503020204020204" pitchFamily="34" charset="-122"/>
              <a:ea typeface="微软雅黑" panose="020B0503020204020204" pitchFamily="34" charset="-122"/>
            </a:rPr>
            <a:t>全生命周期可追溯性</a:t>
          </a:r>
          <a:endParaRPr lang="zh-CN" altLang="en-US" sz="2000" kern="1200" dirty="0">
            <a:solidFill>
              <a:schemeClr val="bg1"/>
            </a:solidFill>
          </a:endParaRPr>
        </a:p>
      </dsp:txBody>
      <dsp:txXfrm>
        <a:off x="7707368" y="1284685"/>
        <a:ext cx="3487705" cy="4520"/>
      </dsp:txXfrm>
    </dsp:sp>
    <dsp:sp modelId="{05E28982-893B-4C61-823A-58A61D1B4BB9}">
      <dsp:nvSpPr>
        <dsp:cNvPr id="0" name=""/>
        <dsp:cNvSpPr/>
      </dsp:nvSpPr>
      <dsp:spPr bwMode="white">
        <a:xfrm>
          <a:off x="7719943" y="1337345"/>
          <a:ext cx="3468610" cy="16580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t>高质量数据集应完整记录数据来源、采集、处理、标注、质控、版本变更、授权使用等关键过程，具备问题追溯、质量复核和版本回溯能力。</a:t>
          </a:r>
        </a:p>
      </dsp:txBody>
      <dsp:txXfrm>
        <a:off x="7719943" y="1337345"/>
        <a:ext cx="3468610" cy="1658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615CE-91B5-4E2B-A3FF-D298F9AE4D4E}">
      <dsp:nvSpPr>
        <dsp:cNvPr id="0" name=""/>
        <dsp:cNvSpPr/>
      </dsp:nvSpPr>
      <dsp:spPr>
        <a:xfrm rot="5400000">
          <a:off x="6017920" y="-392891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i="0" kern="1200" dirty="0">
              <a:solidFill>
                <a:schemeClr val="bg1"/>
              </a:solidFill>
              <a:effectLst/>
              <a:latin typeface="微软雅黑" panose="020B0503020204020204" pitchFamily="34" charset="-122"/>
              <a:ea typeface="微软雅黑" panose="020B0503020204020204" pitchFamily="34" charset="-122"/>
            </a:rPr>
            <a:t>通用数据质量</a:t>
          </a:r>
          <a:endParaRPr lang="zh-CN" altLang="en-US" sz="1900" kern="1200" dirty="0">
            <a:solidFill>
              <a:schemeClr val="bg1"/>
            </a:solidFill>
          </a:endParaRPr>
        </a:p>
      </dsp:txBody>
      <dsp:txXfrm rot="16200000">
        <a:off x="30261" y="32616"/>
        <a:ext cx="2166216" cy="972675"/>
      </dsp:txXfrm>
    </dsp:sp>
    <dsp:sp modelId="{B507F783-0231-48F1-BA84-4EE418EBB801}">
      <dsp:nvSpPr>
        <dsp:cNvPr id="0" name=""/>
        <dsp:cNvSpPr/>
      </dsp:nvSpPr>
      <dsp:spPr>
        <a:xfrm>
          <a:off x="2196477" y="235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666750">
            <a:lnSpc>
              <a:spcPct val="90000"/>
            </a:lnSpc>
            <a:spcBef>
              <a:spcPct val="0"/>
            </a:spcBef>
            <a:spcAft>
              <a:spcPct val="35000"/>
            </a:spcAft>
            <a:buNone/>
          </a:pPr>
          <a:r>
            <a:rPr lang="zh-CN" altLang="en-US" sz="1500" i="0" kern="1200" dirty="0">
              <a:solidFill>
                <a:srgbClr val="000000"/>
              </a:solidFill>
              <a:effectLst/>
              <a:latin typeface="微软雅黑" panose="020B0503020204020204" pitchFamily="34" charset="-122"/>
              <a:ea typeface="微软雅黑" panose="020B0503020204020204" pitchFamily="34" charset="-122"/>
            </a:rPr>
            <a:t>主要评价数据的完整性、准确性、一致性、规范性、时效性、代表性，重点关注数据内容是否真实可靠、结构是否规范统一、样本是否能够覆盖目标任务与应用场景的核心需求。</a:t>
          </a:r>
          <a:endParaRPr lang="zh-CN" altLang="en-US" sz="1500" kern="1200" dirty="0"/>
        </a:p>
      </dsp:txBody>
      <dsp:txXfrm>
        <a:off x="2196477" y="2354"/>
        <a:ext cx="8785908" cy="1033197"/>
      </dsp:txXfrm>
    </dsp:sp>
    <dsp:sp modelId="{685667C4-1611-4B5E-B101-3C275BDB9181}">
      <dsp:nvSpPr>
        <dsp:cNvPr id="0" name=""/>
        <dsp:cNvSpPr/>
      </dsp:nvSpPr>
      <dsp:spPr>
        <a:xfrm rot="16200000">
          <a:off x="581639" y="-579284"/>
          <a:ext cx="1033197" cy="2196477"/>
        </a:xfrm>
        <a:prstGeom prst="round2SameRect">
          <a:avLst>
            <a:gd name="adj1" fmla="val 10000"/>
            <a:gd name="adj2" fmla="val 0"/>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i="0" kern="1200" dirty="0">
              <a:solidFill>
                <a:schemeClr val="bg1"/>
              </a:solidFill>
              <a:effectLst/>
              <a:latin typeface="微软雅黑" panose="020B0503020204020204" pitchFamily="34" charset="-122"/>
              <a:ea typeface="微软雅黑" panose="020B0503020204020204" pitchFamily="34" charset="-122"/>
            </a:rPr>
            <a:t>通用数据质量</a:t>
          </a:r>
          <a:endParaRPr lang="zh-CN" altLang="en-US" sz="1900" kern="1200" dirty="0">
            <a:solidFill>
              <a:schemeClr val="bg1"/>
            </a:solidFill>
          </a:endParaRPr>
        </a:p>
      </dsp:txBody>
      <dsp:txXfrm rot="5400000">
        <a:off x="30261" y="32616"/>
        <a:ext cx="2166216" cy="972675"/>
      </dsp:txXfrm>
    </dsp:sp>
    <dsp:sp modelId="{D61E1D77-D1E9-40D0-B06D-862D65E49D5D}">
      <dsp:nvSpPr>
        <dsp:cNvPr id="0" name=""/>
        <dsp:cNvSpPr/>
      </dsp:nvSpPr>
      <dsp:spPr>
        <a:xfrm rot="5400000">
          <a:off x="6017920" y="-283372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31832"/>
              <a:satOff val="-3215"/>
              <a:lumOff val="56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i="0" kern="1200" dirty="0">
              <a:solidFill>
                <a:schemeClr val="bg1"/>
              </a:solidFill>
              <a:effectLst/>
              <a:latin typeface="微软雅黑" panose="020B0503020204020204" pitchFamily="34" charset="-122"/>
              <a:ea typeface="微软雅黑" panose="020B0503020204020204" pitchFamily="34" charset="-122"/>
            </a:rPr>
            <a:t>中医药特色质量</a:t>
          </a:r>
          <a:endParaRPr lang="zh-CN" altLang="en-US" sz="1900" kern="1200" dirty="0">
            <a:solidFill>
              <a:schemeClr val="bg1"/>
            </a:solidFill>
          </a:endParaRPr>
        </a:p>
      </dsp:txBody>
      <dsp:txXfrm rot="16200000">
        <a:off x="30261" y="1127806"/>
        <a:ext cx="2166216" cy="972675"/>
      </dsp:txXfrm>
    </dsp:sp>
    <dsp:sp modelId="{AF0A1550-D846-4CE5-9603-F9AB9624FE55}">
      <dsp:nvSpPr>
        <dsp:cNvPr id="0" name=""/>
        <dsp:cNvSpPr/>
      </dsp:nvSpPr>
      <dsp:spPr>
        <a:xfrm>
          <a:off x="2196477" y="109754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711200">
            <a:lnSpc>
              <a:spcPct val="90000"/>
            </a:lnSpc>
            <a:spcBef>
              <a:spcPct val="0"/>
            </a:spcBef>
            <a:spcAft>
              <a:spcPct val="35000"/>
            </a:spcAft>
            <a:buNone/>
          </a:pPr>
          <a:r>
            <a:rPr lang="zh-CN" altLang="en-US" sz="1600" i="0" kern="1200" dirty="0">
              <a:solidFill>
                <a:srgbClr val="000000"/>
              </a:solidFill>
              <a:effectLst/>
              <a:latin typeface="微软雅黑" panose="020B0503020204020204" pitchFamily="34" charset="-122"/>
              <a:ea typeface="微软雅黑" panose="020B0503020204020204" pitchFamily="34" charset="-122"/>
            </a:rPr>
            <a:t>主要评价数据集是否能够准确表达中医药理论语义、知识关联和实践逻辑，重点关注中医药术语表达、四诊信息、证候病机、治法方药、疗效转归等关键内容的规范性、完整性和逻辑一致性。</a:t>
          </a:r>
          <a:endParaRPr lang="zh-CN" altLang="en-US" sz="1600" kern="1200" dirty="0"/>
        </a:p>
      </dsp:txBody>
      <dsp:txXfrm>
        <a:off x="2196477" y="1097544"/>
        <a:ext cx="8785908" cy="1033197"/>
      </dsp:txXfrm>
    </dsp:sp>
    <dsp:sp modelId="{47480B46-D973-4E3C-B7F1-22DA201B9204}">
      <dsp:nvSpPr>
        <dsp:cNvPr id="0" name=""/>
        <dsp:cNvSpPr/>
      </dsp:nvSpPr>
      <dsp:spPr>
        <a:xfrm rot="16200000">
          <a:off x="581639" y="515905"/>
          <a:ext cx="1033197" cy="2196477"/>
        </a:xfrm>
        <a:prstGeom prst="round2SameRect">
          <a:avLst>
            <a:gd name="adj1" fmla="val 10000"/>
            <a:gd name="adj2" fmla="val 0"/>
          </a:avLst>
        </a:prstGeom>
        <a:solidFill>
          <a:schemeClr val="accent2">
            <a:hueOff val="-31832"/>
            <a:satOff val="-3215"/>
            <a:lumOff val="5686"/>
            <a:alphaOff val="0"/>
          </a:schemeClr>
        </a:solidFill>
        <a:ln w="12700" cap="flat" cmpd="sng" algn="ctr">
          <a:solidFill>
            <a:schemeClr val="accent2">
              <a:hueOff val="-31832"/>
              <a:satOff val="-3215"/>
              <a:lumOff val="568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i="0" kern="1200" dirty="0">
              <a:solidFill>
                <a:schemeClr val="bg1"/>
              </a:solidFill>
              <a:effectLst/>
              <a:latin typeface="微软雅黑" panose="020B0503020204020204" pitchFamily="34" charset="-122"/>
              <a:ea typeface="微软雅黑" panose="020B0503020204020204" pitchFamily="34" charset="-122"/>
            </a:rPr>
            <a:t>中医药特色质量</a:t>
          </a:r>
          <a:endParaRPr lang="zh-CN" altLang="en-US" sz="1900" kern="1200" dirty="0">
            <a:solidFill>
              <a:schemeClr val="bg1"/>
            </a:solidFill>
          </a:endParaRPr>
        </a:p>
      </dsp:txBody>
      <dsp:txXfrm rot="5400000">
        <a:off x="30261" y="1127806"/>
        <a:ext cx="2166216" cy="972675"/>
      </dsp:txXfrm>
    </dsp:sp>
    <dsp:sp modelId="{54FD755C-8E2F-4853-B173-E17E1B71F59C}">
      <dsp:nvSpPr>
        <dsp:cNvPr id="0" name=""/>
        <dsp:cNvSpPr/>
      </dsp:nvSpPr>
      <dsp:spPr>
        <a:xfrm rot="5400000">
          <a:off x="6017920" y="-173853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63664"/>
              <a:satOff val="-6431"/>
              <a:lumOff val="1137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en-US" altLang="zh-CN" sz="1900" b="1" kern="1200" dirty="0">
              <a:solidFill>
                <a:schemeClr val="bg1"/>
              </a:solidFill>
              <a:latin typeface="微软雅黑" panose="020B0503020204020204" pitchFamily="34" charset="-122"/>
              <a:ea typeface="微软雅黑" panose="020B0503020204020204" pitchFamily="34" charset="-122"/>
            </a:rPr>
            <a:t>AI</a:t>
          </a:r>
          <a:r>
            <a:rPr lang="zh-CN" altLang="en-US" sz="1900" b="1" kern="1200" dirty="0">
              <a:solidFill>
                <a:schemeClr val="bg1"/>
              </a:solidFill>
              <a:latin typeface="微软雅黑" panose="020B0503020204020204" pitchFamily="34" charset="-122"/>
              <a:ea typeface="微软雅黑" panose="020B0503020204020204" pitchFamily="34" charset="-122"/>
            </a:rPr>
            <a:t>适配质量</a:t>
          </a:r>
          <a:endParaRPr lang="zh-CN" altLang="en-US" sz="1900" kern="1200" dirty="0">
            <a:solidFill>
              <a:schemeClr val="bg1"/>
            </a:solidFill>
          </a:endParaRPr>
        </a:p>
      </dsp:txBody>
      <dsp:txXfrm rot="16200000">
        <a:off x="30261" y="2222995"/>
        <a:ext cx="2166216" cy="972675"/>
      </dsp:txXfrm>
    </dsp:sp>
    <dsp:sp modelId="{BDE760F3-EF22-404E-95E0-FEDC08E0CC4F}">
      <dsp:nvSpPr>
        <dsp:cNvPr id="0" name=""/>
        <dsp:cNvSpPr/>
      </dsp:nvSpPr>
      <dsp:spPr>
        <a:xfrm>
          <a:off x="2196477" y="219273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主要评价数据集是否能够有效支撑模型训练、验证、评测和应用开发，重点关注任务定义、输入输出结构、标签体系、样本分布、数据划分、模型验证和数据泄露防控等。</a:t>
          </a:r>
          <a:endParaRPr lang="zh-CN" altLang="en-US" sz="1600" kern="1200" dirty="0"/>
        </a:p>
      </dsp:txBody>
      <dsp:txXfrm>
        <a:off x="2196477" y="2192734"/>
        <a:ext cx="8785908" cy="1033197"/>
      </dsp:txXfrm>
    </dsp:sp>
    <dsp:sp modelId="{103873EF-3783-4A3B-AEA5-35DFADBC2AB7}">
      <dsp:nvSpPr>
        <dsp:cNvPr id="0" name=""/>
        <dsp:cNvSpPr/>
      </dsp:nvSpPr>
      <dsp:spPr>
        <a:xfrm rot="16200000">
          <a:off x="581639" y="1611094"/>
          <a:ext cx="1033197" cy="2196477"/>
        </a:xfrm>
        <a:prstGeom prst="round2SameRect">
          <a:avLst>
            <a:gd name="adj1" fmla="val 10000"/>
            <a:gd name="adj2" fmla="val 0"/>
          </a:avLst>
        </a:prstGeom>
        <a:solidFill>
          <a:schemeClr val="accent2">
            <a:hueOff val="-63664"/>
            <a:satOff val="-6431"/>
            <a:lumOff val="11373"/>
            <a:alphaOff val="0"/>
          </a:schemeClr>
        </a:solidFill>
        <a:ln w="12700" cap="flat" cmpd="sng" algn="ctr">
          <a:solidFill>
            <a:schemeClr val="accent2">
              <a:hueOff val="-63664"/>
              <a:satOff val="-6431"/>
              <a:lumOff val="1137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en-US" altLang="zh-CN" sz="1900" b="1" kern="1200" dirty="0">
              <a:solidFill>
                <a:schemeClr val="bg1"/>
              </a:solidFill>
              <a:latin typeface="微软雅黑" panose="020B0503020204020204" pitchFamily="34" charset="-122"/>
              <a:ea typeface="微软雅黑" panose="020B0503020204020204" pitchFamily="34" charset="-122"/>
            </a:rPr>
            <a:t>AI</a:t>
          </a:r>
          <a:r>
            <a:rPr lang="zh-CN" altLang="en-US" sz="1900" b="1" kern="1200" dirty="0">
              <a:solidFill>
                <a:schemeClr val="bg1"/>
              </a:solidFill>
              <a:latin typeface="微软雅黑" panose="020B0503020204020204" pitchFamily="34" charset="-122"/>
              <a:ea typeface="微软雅黑" panose="020B0503020204020204" pitchFamily="34" charset="-122"/>
            </a:rPr>
            <a:t>适配质量</a:t>
          </a:r>
          <a:endParaRPr lang="zh-CN" altLang="en-US" sz="1900" kern="1200" dirty="0">
            <a:solidFill>
              <a:schemeClr val="bg1"/>
            </a:solidFill>
          </a:endParaRPr>
        </a:p>
      </dsp:txBody>
      <dsp:txXfrm rot="5400000">
        <a:off x="30261" y="2222995"/>
        <a:ext cx="2166216" cy="972675"/>
      </dsp:txXfrm>
    </dsp:sp>
    <dsp:sp modelId="{4777B093-8FA8-46C0-B2DC-0C21CE04E2D1}">
      <dsp:nvSpPr>
        <dsp:cNvPr id="0" name=""/>
        <dsp:cNvSpPr/>
      </dsp:nvSpPr>
      <dsp:spPr>
        <a:xfrm rot="5400000">
          <a:off x="6017920" y="-64334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95497"/>
              <a:satOff val="-9646"/>
              <a:lumOff val="1705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kern="1200" dirty="0">
              <a:solidFill>
                <a:schemeClr val="bg1"/>
              </a:solidFill>
              <a:latin typeface="微软雅黑" panose="020B0503020204020204" pitchFamily="34" charset="-122"/>
              <a:ea typeface="微软雅黑" panose="020B0503020204020204" pitchFamily="34" charset="-122"/>
            </a:rPr>
            <a:t>安全合规质量</a:t>
          </a:r>
          <a:endParaRPr lang="zh-CN" altLang="en-US" sz="1900" kern="1200" dirty="0">
            <a:solidFill>
              <a:schemeClr val="bg1"/>
            </a:solidFill>
          </a:endParaRPr>
        </a:p>
      </dsp:txBody>
      <dsp:txXfrm rot="16200000">
        <a:off x="30261" y="3318185"/>
        <a:ext cx="2166216" cy="972675"/>
      </dsp:txXfrm>
    </dsp:sp>
    <dsp:sp modelId="{3AE748B8-C218-40EA-A515-946CC6C4F8CF}">
      <dsp:nvSpPr>
        <dsp:cNvPr id="0" name=""/>
        <dsp:cNvSpPr/>
      </dsp:nvSpPr>
      <dsp:spPr>
        <a:xfrm>
          <a:off x="2196477" y="328792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主要评价数据采集、存储、加工、标注、共享、流通、使用、销毁等过程是否符合网络安全、数据安全、个人信息保护、医疗伦理和知识产权等相关要求，重点关注数据授权、隐私保护、脱敏处理、访问控制和安全审计等。</a:t>
          </a:r>
          <a:endParaRPr lang="zh-CN" altLang="en-US" sz="1600" kern="1200" dirty="0"/>
        </a:p>
      </dsp:txBody>
      <dsp:txXfrm>
        <a:off x="2196477" y="3287924"/>
        <a:ext cx="8785908" cy="1033197"/>
      </dsp:txXfrm>
    </dsp:sp>
    <dsp:sp modelId="{03184A24-E4FC-4C1E-9A54-FDBA181F7425}">
      <dsp:nvSpPr>
        <dsp:cNvPr id="0" name=""/>
        <dsp:cNvSpPr/>
      </dsp:nvSpPr>
      <dsp:spPr>
        <a:xfrm rot="16200000">
          <a:off x="581639" y="2706284"/>
          <a:ext cx="1033197" cy="2196477"/>
        </a:xfrm>
        <a:prstGeom prst="round2SameRect">
          <a:avLst>
            <a:gd name="adj1" fmla="val 10000"/>
            <a:gd name="adj2" fmla="val 0"/>
          </a:avLst>
        </a:prstGeom>
        <a:solidFill>
          <a:schemeClr val="accent2">
            <a:hueOff val="-95497"/>
            <a:satOff val="-9646"/>
            <a:lumOff val="17059"/>
            <a:alphaOff val="0"/>
          </a:schemeClr>
        </a:solidFill>
        <a:ln w="12700" cap="flat" cmpd="sng" algn="ctr">
          <a:solidFill>
            <a:schemeClr val="accent2">
              <a:hueOff val="-95497"/>
              <a:satOff val="-9646"/>
              <a:lumOff val="1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kern="1200" dirty="0">
              <a:solidFill>
                <a:schemeClr val="bg1"/>
              </a:solidFill>
              <a:latin typeface="微软雅黑" panose="020B0503020204020204" pitchFamily="34" charset="-122"/>
              <a:ea typeface="微软雅黑" panose="020B0503020204020204" pitchFamily="34" charset="-122"/>
            </a:rPr>
            <a:t>安全合规质量</a:t>
          </a:r>
          <a:endParaRPr lang="zh-CN" altLang="en-US" sz="1900" kern="1200" dirty="0">
            <a:solidFill>
              <a:schemeClr val="bg1"/>
            </a:solidFill>
          </a:endParaRPr>
        </a:p>
      </dsp:txBody>
      <dsp:txXfrm rot="5400000">
        <a:off x="30261" y="3318185"/>
        <a:ext cx="2166216" cy="972675"/>
      </dsp:txXfrm>
    </dsp:sp>
    <dsp:sp modelId="{68CC06D1-9C7E-4ADC-88D5-8F542553C6EB}">
      <dsp:nvSpPr>
        <dsp:cNvPr id="0" name=""/>
        <dsp:cNvSpPr/>
      </dsp:nvSpPr>
      <dsp:spPr>
        <a:xfrm rot="5400000">
          <a:off x="6017920" y="451846"/>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2">
              <a:hueOff val="-127329"/>
              <a:satOff val="-12862"/>
              <a:lumOff val="2274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kern="1200" dirty="0">
              <a:solidFill>
                <a:schemeClr val="bg1"/>
              </a:solidFill>
              <a:latin typeface="微软雅黑" panose="020B0503020204020204" pitchFamily="34" charset="-122"/>
              <a:ea typeface="微软雅黑" panose="020B0503020204020204" pitchFamily="34" charset="-122"/>
            </a:rPr>
            <a:t>全生命周期可追溯质量</a:t>
          </a:r>
          <a:endParaRPr lang="zh-CN" altLang="en-US" sz="1900" kern="1200" dirty="0">
            <a:solidFill>
              <a:schemeClr val="bg1"/>
            </a:solidFill>
          </a:endParaRPr>
        </a:p>
      </dsp:txBody>
      <dsp:txXfrm rot="16200000">
        <a:off x="30261" y="4413375"/>
        <a:ext cx="2166216" cy="972675"/>
      </dsp:txXfrm>
    </dsp:sp>
    <dsp:sp modelId="{82A0AFA2-74B3-425B-B56C-D64AF062C627}">
      <dsp:nvSpPr>
        <dsp:cNvPr id="0" name=""/>
        <dsp:cNvSpPr/>
      </dsp:nvSpPr>
      <dsp:spPr>
        <a:xfrm>
          <a:off x="2196477" y="438311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主要评价数据来源、处理流程、标注主体、质控结果、版本变更和使用记录等是否完整，重点关注数据集是否具备问题追溯、质量复核、版本回溯和持续迭代能力。</a:t>
          </a:r>
          <a:endParaRPr lang="zh-CN" altLang="en-US" sz="1600" kern="1200" dirty="0"/>
        </a:p>
      </dsp:txBody>
      <dsp:txXfrm>
        <a:off x="2196477" y="4383114"/>
        <a:ext cx="8785908" cy="1033197"/>
      </dsp:txXfrm>
    </dsp:sp>
    <dsp:sp modelId="{4E8C9246-D96F-4667-9877-1DE5FDA9D93B}">
      <dsp:nvSpPr>
        <dsp:cNvPr id="0" name=""/>
        <dsp:cNvSpPr/>
      </dsp:nvSpPr>
      <dsp:spPr>
        <a:xfrm rot="16200000">
          <a:off x="581639" y="3801474"/>
          <a:ext cx="1033197" cy="2196477"/>
        </a:xfrm>
        <a:prstGeom prst="round2SameRect">
          <a:avLst>
            <a:gd name="adj1" fmla="val 10000"/>
            <a:gd name="adj2" fmla="val 0"/>
          </a:avLst>
        </a:prstGeom>
        <a:solidFill>
          <a:schemeClr val="accent2">
            <a:hueOff val="-127329"/>
            <a:satOff val="-12862"/>
            <a:lumOff val="22746"/>
            <a:alphaOff val="0"/>
          </a:schemeClr>
        </a:solidFill>
        <a:ln w="12700" cap="flat" cmpd="sng" algn="ctr">
          <a:solidFill>
            <a:schemeClr val="accent2">
              <a:hueOff val="-127329"/>
              <a:satOff val="-12862"/>
              <a:lumOff val="2274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844550">
            <a:lnSpc>
              <a:spcPct val="90000"/>
            </a:lnSpc>
            <a:spcBef>
              <a:spcPct val="0"/>
            </a:spcBef>
            <a:spcAft>
              <a:spcPct val="35000"/>
            </a:spcAft>
            <a:buFont typeface="Wingdings" panose="05000000000000000000" pitchFamily="2" charset="2"/>
            <a:buNone/>
          </a:pPr>
          <a:r>
            <a:rPr lang="zh-CN" altLang="en-US" sz="1900" b="1" kern="1200" dirty="0">
              <a:solidFill>
                <a:schemeClr val="bg1"/>
              </a:solidFill>
              <a:latin typeface="微软雅黑" panose="020B0503020204020204" pitchFamily="34" charset="-122"/>
              <a:ea typeface="微软雅黑" panose="020B0503020204020204" pitchFamily="34" charset="-122"/>
            </a:rPr>
            <a:t>全生命周期可追溯质量</a:t>
          </a:r>
          <a:endParaRPr lang="zh-CN" altLang="en-US" sz="1900" kern="1200" dirty="0">
            <a:solidFill>
              <a:schemeClr val="bg1"/>
            </a:solidFill>
          </a:endParaRPr>
        </a:p>
      </dsp:txBody>
      <dsp:txXfrm rot="5400000">
        <a:off x="30261" y="4413375"/>
        <a:ext cx="2166216" cy="9726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615CE-91B5-4E2B-A3FF-D298F9AE4D4E}">
      <dsp:nvSpPr>
        <dsp:cNvPr id="0" name=""/>
        <dsp:cNvSpPr/>
      </dsp:nvSpPr>
      <dsp:spPr>
        <a:xfrm rot="5400000">
          <a:off x="6017920" y="-392891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i="0" kern="1200">
              <a:effectLst/>
              <a:latin typeface="微软雅黑" panose="020B0503020204020204" pitchFamily="34" charset="-122"/>
              <a:ea typeface="微软雅黑" panose="020B0503020204020204" pitchFamily="34" charset="-122"/>
            </a:rPr>
            <a:t>预训练数据集</a:t>
          </a:r>
          <a:endParaRPr lang="zh-CN" altLang="en-US" sz="2100" kern="1200" dirty="0"/>
        </a:p>
      </dsp:txBody>
      <dsp:txXfrm rot="16200000">
        <a:off x="30261" y="32616"/>
        <a:ext cx="2166216" cy="972675"/>
      </dsp:txXfrm>
    </dsp:sp>
    <dsp:sp modelId="{B507F783-0231-48F1-BA84-4EE418EBB801}">
      <dsp:nvSpPr>
        <dsp:cNvPr id="0" name=""/>
        <dsp:cNvSpPr/>
      </dsp:nvSpPr>
      <dsp:spPr>
        <a:xfrm>
          <a:off x="2196477" y="235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622300">
            <a:lnSpc>
              <a:spcPct val="90000"/>
            </a:lnSpc>
            <a:spcBef>
              <a:spcPct val="0"/>
            </a:spcBef>
            <a:spcAft>
              <a:spcPct val="35000"/>
            </a:spcAft>
            <a:buNone/>
          </a:pPr>
          <a:r>
            <a:rPr lang="zh-CN" altLang="en-US" sz="1400" i="0" kern="1200">
              <a:effectLst/>
              <a:latin typeface="微软雅黑" panose="020B0503020204020204" pitchFamily="34" charset="-122"/>
              <a:ea typeface="微软雅黑" panose="020B0503020204020204" pitchFamily="34" charset="-122"/>
            </a:rPr>
            <a:t>面向中医药大模型基础能力构建的大规模通用数据集，通过整合跨领域、跨体裁权威数据，使模型在无监督</a:t>
          </a:r>
          <a:r>
            <a:rPr lang="en-US" altLang="en-US" sz="1400" i="0" kern="1200">
              <a:effectLst/>
              <a:latin typeface="微软雅黑" panose="020B0503020204020204" pitchFamily="34" charset="-122"/>
              <a:ea typeface="微软雅黑" panose="020B0503020204020204" pitchFamily="34" charset="-122"/>
            </a:rPr>
            <a:t>/</a:t>
          </a:r>
          <a:r>
            <a:rPr lang="zh-CN" altLang="en-US" sz="1400" i="0" kern="1200">
              <a:effectLst/>
              <a:latin typeface="微软雅黑" panose="020B0503020204020204" pitchFamily="34" charset="-122"/>
              <a:ea typeface="微软雅黑" panose="020B0503020204020204" pitchFamily="34" charset="-122"/>
            </a:rPr>
            <a:t>自监督学习中习得中医药语言特征、知识体系与概念关联，形成领域整体认知。其特点是强调规模性、多样性、覆盖广度与来源权威性，精细标注要求较低，但需保证内容规范、质量可控。</a:t>
          </a:r>
          <a:endParaRPr lang="zh-CN" altLang="en-US" sz="1400" kern="1200" dirty="0"/>
        </a:p>
      </dsp:txBody>
      <dsp:txXfrm>
        <a:off x="2196477" y="2354"/>
        <a:ext cx="8785908" cy="1033197"/>
      </dsp:txXfrm>
    </dsp:sp>
    <dsp:sp modelId="{685667C4-1611-4B5E-B101-3C275BDB9181}">
      <dsp:nvSpPr>
        <dsp:cNvPr id="0" name=""/>
        <dsp:cNvSpPr/>
      </dsp:nvSpPr>
      <dsp:spPr>
        <a:xfrm rot="16200000">
          <a:off x="581639" y="-579284"/>
          <a:ext cx="1033197" cy="2196477"/>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i="0" kern="1200">
              <a:effectLst/>
              <a:latin typeface="微软雅黑" panose="020B0503020204020204" pitchFamily="34" charset="-122"/>
              <a:ea typeface="微软雅黑" panose="020B0503020204020204" pitchFamily="34" charset="-122"/>
            </a:rPr>
            <a:t>预训练数据集</a:t>
          </a:r>
          <a:endParaRPr lang="zh-CN" altLang="en-US" sz="2100" kern="1200" dirty="0"/>
        </a:p>
      </dsp:txBody>
      <dsp:txXfrm rot="5400000">
        <a:off x="30261" y="32616"/>
        <a:ext cx="2166216" cy="972675"/>
      </dsp:txXfrm>
    </dsp:sp>
    <dsp:sp modelId="{D61E1D77-D1E9-40D0-B06D-862D65E49D5D}">
      <dsp:nvSpPr>
        <dsp:cNvPr id="0" name=""/>
        <dsp:cNvSpPr/>
      </dsp:nvSpPr>
      <dsp:spPr>
        <a:xfrm rot="5400000">
          <a:off x="6017920" y="-283372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i="0" kern="1200">
              <a:effectLst/>
              <a:latin typeface="微软雅黑" panose="020B0503020204020204" pitchFamily="34" charset="-122"/>
              <a:ea typeface="微软雅黑" panose="020B0503020204020204" pitchFamily="34" charset="-122"/>
            </a:rPr>
            <a:t>指令微调数据集</a:t>
          </a:r>
          <a:endParaRPr lang="zh-CN" altLang="en-US" sz="2100" kern="1200" dirty="0"/>
        </a:p>
      </dsp:txBody>
      <dsp:txXfrm rot="16200000">
        <a:off x="30261" y="1127806"/>
        <a:ext cx="2166216" cy="972675"/>
      </dsp:txXfrm>
    </dsp:sp>
    <dsp:sp modelId="{AF0A1550-D846-4CE5-9603-F9AB9624FE55}">
      <dsp:nvSpPr>
        <dsp:cNvPr id="0" name=""/>
        <dsp:cNvSpPr/>
      </dsp:nvSpPr>
      <dsp:spPr>
        <a:xfrm>
          <a:off x="2133218" y="1250571"/>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622300">
            <a:lnSpc>
              <a:spcPct val="90000"/>
            </a:lnSpc>
            <a:spcBef>
              <a:spcPct val="0"/>
            </a:spcBef>
            <a:spcAft>
              <a:spcPct val="35000"/>
            </a:spcAft>
            <a:buNone/>
          </a:pPr>
          <a:r>
            <a:rPr lang="zh-CN" altLang="en-US" sz="1400" i="0" kern="1200">
              <a:effectLst/>
              <a:latin typeface="微软雅黑" panose="020B0503020204020204" pitchFamily="34" charset="-122"/>
              <a:ea typeface="微软雅黑" panose="020B0503020204020204" pitchFamily="34" charset="-122"/>
            </a:rPr>
            <a:t>向特定专业任务的精准化监督学习数据集，旨在将大模型的基础能力转化为中医药场景下的深度应用与复杂推理能力。随着大模型后训练技术演进，仅依赖常规“指令</a:t>
          </a:r>
          <a:r>
            <a:rPr lang="en-US" altLang="en-US" sz="1400" i="0" kern="1200">
              <a:effectLst/>
              <a:latin typeface="微软雅黑" panose="020B0503020204020204" pitchFamily="34" charset="-122"/>
              <a:ea typeface="微软雅黑" panose="020B0503020204020204" pitchFamily="34" charset="-122"/>
            </a:rPr>
            <a:t>-</a:t>
          </a:r>
          <a:r>
            <a:rPr lang="zh-CN" altLang="en-US" sz="1400" i="0" kern="1200">
              <a:effectLst/>
              <a:latin typeface="微软雅黑" panose="020B0503020204020204" pitchFamily="34" charset="-122"/>
              <a:ea typeface="微软雅黑" panose="020B0503020204020204" pitchFamily="34" charset="-122"/>
            </a:rPr>
            <a:t>响应”样本难以适配中医药领域高阶推理需求，须向新型样本范式升级。</a:t>
          </a:r>
          <a:endParaRPr lang="zh-CN" altLang="en-US" sz="1400" kern="1200" dirty="0"/>
        </a:p>
        <a:p>
          <a:pPr marL="0" lvl="0" indent="0" algn="l" defTabSz="622300">
            <a:lnSpc>
              <a:spcPct val="90000"/>
            </a:lnSpc>
            <a:spcBef>
              <a:spcPct val="0"/>
            </a:spcBef>
            <a:spcAft>
              <a:spcPct val="35000"/>
            </a:spcAft>
            <a:buNone/>
          </a:pPr>
          <a:endParaRPr lang="zh-CN" altLang="en-US" sz="1400" kern="1200" dirty="0"/>
        </a:p>
      </dsp:txBody>
      <dsp:txXfrm>
        <a:off x="2133218" y="1250571"/>
        <a:ext cx="8785908" cy="1033197"/>
      </dsp:txXfrm>
    </dsp:sp>
    <dsp:sp modelId="{47480B46-D973-4E3C-B7F1-22DA201B9204}">
      <dsp:nvSpPr>
        <dsp:cNvPr id="0" name=""/>
        <dsp:cNvSpPr/>
      </dsp:nvSpPr>
      <dsp:spPr>
        <a:xfrm rot="16200000">
          <a:off x="581639" y="515905"/>
          <a:ext cx="1033197" cy="2196477"/>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i="0" kern="1200">
              <a:effectLst/>
              <a:latin typeface="微软雅黑" panose="020B0503020204020204" pitchFamily="34" charset="-122"/>
              <a:ea typeface="微软雅黑" panose="020B0503020204020204" pitchFamily="34" charset="-122"/>
            </a:rPr>
            <a:t>指令微调数据集</a:t>
          </a:r>
          <a:endParaRPr lang="zh-CN" altLang="en-US" sz="2100" kern="1200" dirty="0"/>
        </a:p>
      </dsp:txBody>
      <dsp:txXfrm rot="5400000">
        <a:off x="30261" y="1127806"/>
        <a:ext cx="2166216" cy="972675"/>
      </dsp:txXfrm>
    </dsp:sp>
    <dsp:sp modelId="{54FD755C-8E2F-4853-B173-E17E1B71F59C}">
      <dsp:nvSpPr>
        <dsp:cNvPr id="0" name=""/>
        <dsp:cNvSpPr/>
      </dsp:nvSpPr>
      <dsp:spPr>
        <a:xfrm rot="5400000">
          <a:off x="6017920" y="-173853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kern="1200">
              <a:latin typeface="微软雅黑" panose="020B0503020204020204" pitchFamily="34" charset="-122"/>
              <a:ea typeface="微软雅黑" panose="020B0503020204020204" pitchFamily="34" charset="-122"/>
            </a:rPr>
            <a:t>偏好对齐数据集</a:t>
          </a:r>
          <a:endParaRPr lang="zh-CN" altLang="en-US" sz="2100" kern="1200" dirty="0"/>
        </a:p>
      </dsp:txBody>
      <dsp:txXfrm rot="16200000">
        <a:off x="30261" y="2222995"/>
        <a:ext cx="2166216" cy="972675"/>
      </dsp:txXfrm>
    </dsp:sp>
    <dsp:sp modelId="{BDE760F3-EF22-404E-95E0-FEDC08E0CC4F}">
      <dsp:nvSpPr>
        <dsp:cNvPr id="0" name=""/>
        <dsp:cNvSpPr/>
      </dsp:nvSpPr>
      <dsp:spPr>
        <a:xfrm>
          <a:off x="2196477" y="2348013"/>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要评价数据集是否能够有效支撑模型训练、验证、评测和应用开发，重点关注任务定义、输入输出结构、标签体系、样本分布、数据划分、模型验证和数据泄露防控等。</a:t>
          </a:r>
          <a:endParaRPr lang="zh-CN" altLang="en-US" sz="1400" kern="1200" dirty="0"/>
        </a:p>
        <a:p>
          <a:pPr marL="0" lvl="0" indent="0" algn="l" defTabSz="622300">
            <a:lnSpc>
              <a:spcPct val="90000"/>
            </a:lnSpc>
            <a:spcBef>
              <a:spcPct val="0"/>
            </a:spcBef>
            <a:spcAft>
              <a:spcPct val="35000"/>
            </a:spcAft>
            <a:buNone/>
          </a:pPr>
          <a:endParaRPr lang="zh-CN" altLang="en-US" sz="1400" kern="1200" dirty="0"/>
        </a:p>
      </dsp:txBody>
      <dsp:txXfrm>
        <a:off x="2196477" y="2348013"/>
        <a:ext cx="8785908" cy="1033197"/>
      </dsp:txXfrm>
    </dsp:sp>
    <dsp:sp modelId="{103873EF-3783-4A3B-AEA5-35DFADBC2AB7}">
      <dsp:nvSpPr>
        <dsp:cNvPr id="0" name=""/>
        <dsp:cNvSpPr/>
      </dsp:nvSpPr>
      <dsp:spPr>
        <a:xfrm rot="16200000">
          <a:off x="581639" y="1611094"/>
          <a:ext cx="1033197" cy="2196477"/>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kern="1200">
              <a:latin typeface="微软雅黑" panose="020B0503020204020204" pitchFamily="34" charset="-122"/>
              <a:ea typeface="微软雅黑" panose="020B0503020204020204" pitchFamily="34" charset="-122"/>
            </a:rPr>
            <a:t>偏好对齐数据集</a:t>
          </a:r>
          <a:endParaRPr lang="zh-CN" altLang="en-US" sz="2100" kern="1200" dirty="0"/>
        </a:p>
      </dsp:txBody>
      <dsp:txXfrm rot="5400000">
        <a:off x="30261" y="2222995"/>
        <a:ext cx="2166216" cy="972675"/>
      </dsp:txXfrm>
    </dsp:sp>
    <dsp:sp modelId="{4777B093-8FA8-46C0-B2DC-0C21CE04E2D1}">
      <dsp:nvSpPr>
        <dsp:cNvPr id="0" name=""/>
        <dsp:cNvSpPr/>
      </dsp:nvSpPr>
      <dsp:spPr>
        <a:xfrm rot="5400000">
          <a:off x="6017920" y="-643342"/>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kern="1200">
              <a:latin typeface="微软雅黑" panose="020B0503020204020204" pitchFamily="34" charset="-122"/>
              <a:ea typeface="微软雅黑" panose="020B0503020204020204" pitchFamily="34" charset="-122"/>
            </a:rPr>
            <a:t>安全合规质量</a:t>
          </a:r>
          <a:endParaRPr lang="zh-CN" altLang="en-US" sz="2100" kern="1200" dirty="0"/>
        </a:p>
      </dsp:txBody>
      <dsp:txXfrm rot="16200000">
        <a:off x="30261" y="3318185"/>
        <a:ext cx="2166216" cy="972675"/>
      </dsp:txXfrm>
    </dsp:sp>
    <dsp:sp modelId="{3AE748B8-C218-40EA-A515-946CC6C4F8CF}">
      <dsp:nvSpPr>
        <dsp:cNvPr id="0" name=""/>
        <dsp:cNvSpPr/>
      </dsp:nvSpPr>
      <dsp:spPr>
        <a:xfrm>
          <a:off x="2196477" y="3431693"/>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向中医药大模型价值对齐、安全约束和输出偏好优化的数据集，通常由专家反馈、答案比较、质量评分和风险判定等内容构成。该类数据集强调中医药专业价值导向、临床安全边界和专家反馈质量，可用于提升模型在专业表达、辨证推理、风险识别和安全回答等方面的能力。</a:t>
          </a:r>
          <a:endParaRPr lang="zh-CN" altLang="en-US" sz="1400" kern="1200" dirty="0"/>
        </a:p>
        <a:p>
          <a:pPr marL="0" lvl="0" indent="0" algn="l" defTabSz="622300">
            <a:lnSpc>
              <a:spcPct val="90000"/>
            </a:lnSpc>
            <a:spcBef>
              <a:spcPct val="0"/>
            </a:spcBef>
            <a:spcAft>
              <a:spcPct val="35000"/>
            </a:spcAft>
            <a:buNone/>
          </a:pPr>
          <a:endParaRPr lang="zh-CN" altLang="en-US" sz="1400" kern="1200" dirty="0"/>
        </a:p>
      </dsp:txBody>
      <dsp:txXfrm>
        <a:off x="2196477" y="3431693"/>
        <a:ext cx="8785908" cy="1033197"/>
      </dsp:txXfrm>
    </dsp:sp>
    <dsp:sp modelId="{03184A24-E4FC-4C1E-9A54-FDBA181F7425}">
      <dsp:nvSpPr>
        <dsp:cNvPr id="0" name=""/>
        <dsp:cNvSpPr/>
      </dsp:nvSpPr>
      <dsp:spPr>
        <a:xfrm rot="16200000">
          <a:off x="581639" y="2706284"/>
          <a:ext cx="1033197" cy="2196477"/>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kern="1200">
              <a:latin typeface="微软雅黑" panose="020B0503020204020204" pitchFamily="34" charset="-122"/>
              <a:ea typeface="微软雅黑" panose="020B0503020204020204" pitchFamily="34" charset="-122"/>
            </a:rPr>
            <a:t>安全合规质量</a:t>
          </a:r>
          <a:endParaRPr lang="zh-CN" altLang="en-US" sz="2100" kern="1200" dirty="0"/>
        </a:p>
      </dsp:txBody>
      <dsp:txXfrm rot="5400000">
        <a:off x="30261" y="3318185"/>
        <a:ext cx="2166216" cy="972675"/>
      </dsp:txXfrm>
    </dsp:sp>
    <dsp:sp modelId="{68CC06D1-9C7E-4ADC-88D5-8F542553C6EB}">
      <dsp:nvSpPr>
        <dsp:cNvPr id="0" name=""/>
        <dsp:cNvSpPr/>
      </dsp:nvSpPr>
      <dsp:spPr>
        <a:xfrm rot="5400000">
          <a:off x="6017920" y="451846"/>
          <a:ext cx="1033197" cy="8895732"/>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kern="1200">
              <a:latin typeface="微软雅黑" panose="020B0503020204020204" pitchFamily="34" charset="-122"/>
              <a:ea typeface="微软雅黑" panose="020B0503020204020204" pitchFamily="34" charset="-122"/>
            </a:rPr>
            <a:t>评测数据集</a:t>
          </a:r>
          <a:endParaRPr lang="zh-CN" altLang="en-US" sz="2100" kern="1200" dirty="0"/>
        </a:p>
      </dsp:txBody>
      <dsp:txXfrm rot="16200000">
        <a:off x="30261" y="4413375"/>
        <a:ext cx="2166216" cy="972675"/>
      </dsp:txXfrm>
    </dsp:sp>
    <dsp:sp modelId="{82A0AFA2-74B3-425B-B56C-D64AF062C627}">
      <dsp:nvSpPr>
        <dsp:cNvPr id="0" name=""/>
        <dsp:cNvSpPr/>
      </dsp:nvSpPr>
      <dsp:spPr>
        <a:xfrm>
          <a:off x="2196477" y="4383114"/>
          <a:ext cx="8785908" cy="103319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5968" tIns="102057" rIns="185968" bIns="102057" numCol="1" spcCol="1270" anchor="ctr" anchorCtr="0">
          <a:noAutofit/>
        </a:bodyPr>
        <a:lstStyle/>
        <a:p>
          <a:pPr marL="0" lvl="0" indent="0" algn="l" defTabSz="622300">
            <a:lnSpc>
              <a:spcPct val="90000"/>
            </a:lnSpc>
            <a:spcBef>
              <a:spcPct val="0"/>
            </a:spcBef>
            <a:spcAft>
              <a:spcPct val="35000"/>
            </a:spcAft>
            <a:buNone/>
          </a:pPr>
          <a:r>
            <a:rPr lang="zh-CN" altLang="en-US" sz="1400" kern="1200" dirty="0">
              <a:latin typeface="微软雅黑" panose="020B0503020204020204" pitchFamily="34" charset="-122"/>
              <a:ea typeface="微软雅黑" panose="020B0503020204020204" pitchFamily="34" charset="-122"/>
            </a:rPr>
            <a:t>用于模型性能验证、安全评估与基准测试的独立数据集，可客观衡量模型准确性、鲁棒性与临床适用性。样本需具备代表性、梯度难度与场景真实性，覆盖常规案例、边界案例与高风险案例，并配套量化评价指标。评测集须与训练集严格独立，避免数据泄露与过拟合，保障评估结果真实可信。</a:t>
          </a:r>
          <a:endParaRPr lang="zh-CN" altLang="en-US" sz="1400" kern="1200" dirty="0"/>
        </a:p>
      </dsp:txBody>
      <dsp:txXfrm>
        <a:off x="2196477" y="4383114"/>
        <a:ext cx="8785908" cy="1033197"/>
      </dsp:txXfrm>
    </dsp:sp>
    <dsp:sp modelId="{4E8C9246-D96F-4667-9877-1DE5FDA9D93B}">
      <dsp:nvSpPr>
        <dsp:cNvPr id="0" name=""/>
        <dsp:cNvSpPr/>
      </dsp:nvSpPr>
      <dsp:spPr>
        <a:xfrm rot="16200000">
          <a:off x="581639" y="3801474"/>
          <a:ext cx="1033197" cy="2196477"/>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230" tIns="102057" rIns="116230" bIns="102057" numCol="1" spcCol="1270" anchor="ctr" anchorCtr="0">
          <a:noAutofit/>
        </a:bodyPr>
        <a:lstStyle/>
        <a:p>
          <a:pPr marL="0" lvl="0" indent="0" algn="ctr" defTabSz="933450">
            <a:lnSpc>
              <a:spcPct val="90000"/>
            </a:lnSpc>
            <a:spcBef>
              <a:spcPct val="0"/>
            </a:spcBef>
            <a:spcAft>
              <a:spcPct val="35000"/>
            </a:spcAft>
            <a:buFont typeface="Wingdings" panose="05000000000000000000" pitchFamily="2" charset="2"/>
            <a:buNone/>
          </a:pPr>
          <a:r>
            <a:rPr lang="zh-CN" altLang="en-US" sz="2100" b="1" kern="1200">
              <a:latin typeface="微软雅黑" panose="020B0503020204020204" pitchFamily="34" charset="-122"/>
              <a:ea typeface="微软雅黑" panose="020B0503020204020204" pitchFamily="34" charset="-122"/>
            </a:rPr>
            <a:t>评测数据集</a:t>
          </a:r>
          <a:endParaRPr lang="zh-CN" altLang="en-US" sz="2100" kern="1200" dirty="0"/>
        </a:p>
      </dsp:txBody>
      <dsp:txXfrm rot="5400000">
        <a:off x="30261" y="4413375"/>
        <a:ext cx="2166216" cy="9726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1615CE-91B5-4E2B-A3FF-D298F9AE4D4E}">
      <dsp:nvSpPr>
        <dsp:cNvPr id="0" name=""/>
        <dsp:cNvSpPr/>
      </dsp:nvSpPr>
      <dsp:spPr>
        <a:xfrm rot="5400000">
          <a:off x="6075433" y="-4047535"/>
          <a:ext cx="859895" cy="895629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i="0" kern="1200" dirty="0">
              <a:solidFill>
                <a:schemeClr val="bg1"/>
              </a:solidFill>
              <a:effectLst/>
              <a:latin typeface="微软雅黑" panose="020B0503020204020204" pitchFamily="34" charset="-122"/>
              <a:ea typeface="微软雅黑" panose="020B0503020204020204" pitchFamily="34" charset="-122"/>
            </a:rPr>
            <a:t>数据采集技术创新</a:t>
          </a:r>
          <a:endParaRPr lang="zh-CN" altLang="en-US" sz="1800" kern="1200" dirty="0">
            <a:solidFill>
              <a:schemeClr val="bg1"/>
            </a:solidFill>
          </a:endParaRPr>
        </a:p>
      </dsp:txBody>
      <dsp:txXfrm rot="16200000">
        <a:off x="-48437" y="25846"/>
        <a:ext cx="2186244" cy="809525"/>
      </dsp:txXfrm>
    </dsp:sp>
    <dsp:sp modelId="{B507F783-0231-48F1-BA84-4EE418EBB801}">
      <dsp:nvSpPr>
        <dsp:cNvPr id="0" name=""/>
        <dsp:cNvSpPr/>
      </dsp:nvSpPr>
      <dsp:spPr>
        <a:xfrm>
          <a:off x="2149395" y="161685"/>
          <a:ext cx="8845719"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7234" tIns="84939" rIns="187234" bIns="84939" numCol="1" spcCol="1270" anchor="ctr" anchorCtr="0">
          <a:noAutofit/>
        </a:bodyPr>
        <a:lstStyle/>
        <a:p>
          <a:pPr marL="0" lvl="0" indent="0" algn="l" defTabSz="711200">
            <a:lnSpc>
              <a:spcPct val="90000"/>
            </a:lnSpc>
            <a:spcBef>
              <a:spcPct val="0"/>
            </a:spcBef>
            <a:spcAft>
              <a:spcPct val="35000"/>
            </a:spcAft>
            <a:buNone/>
          </a:pPr>
          <a:r>
            <a:rPr lang="zh-CN" altLang="en-US" sz="1600" i="0" kern="1200" dirty="0">
              <a:effectLst/>
              <a:latin typeface="微软雅黑" panose="020B0503020204020204" pitchFamily="34" charset="-122"/>
              <a:ea typeface="微软雅黑" panose="020B0503020204020204" pitchFamily="34" charset="-122"/>
            </a:rPr>
            <a:t>现多类型数据同步采集与实时传输，提升数据采集效率与完整性，增强数据与应用场景的持续适配能力，破解特色数据采集难、结构化程度低的瓶颈。</a:t>
          </a:r>
          <a:endParaRPr lang="zh-CN" altLang="en-US" sz="1600" kern="1200" dirty="0"/>
        </a:p>
        <a:p>
          <a:pPr marL="0" lvl="0" indent="0" algn="l" defTabSz="711200">
            <a:lnSpc>
              <a:spcPct val="90000"/>
            </a:lnSpc>
            <a:spcBef>
              <a:spcPct val="0"/>
            </a:spcBef>
            <a:spcAft>
              <a:spcPct val="35000"/>
            </a:spcAft>
            <a:buNone/>
          </a:pPr>
          <a:endParaRPr lang="zh-CN" altLang="en-US" sz="1600" kern="1200" dirty="0"/>
        </a:p>
      </dsp:txBody>
      <dsp:txXfrm>
        <a:off x="2149395" y="161685"/>
        <a:ext cx="8845719" cy="859895"/>
      </dsp:txXfrm>
    </dsp:sp>
    <dsp:sp modelId="{685667C4-1611-4B5E-B101-3C275BDB9181}">
      <dsp:nvSpPr>
        <dsp:cNvPr id="0" name=""/>
        <dsp:cNvSpPr/>
      </dsp:nvSpPr>
      <dsp:spPr>
        <a:xfrm rot="16200000">
          <a:off x="602144" y="-675105"/>
          <a:ext cx="859895" cy="2211429"/>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i="0" kern="1200" dirty="0">
              <a:solidFill>
                <a:schemeClr val="bg1"/>
              </a:solidFill>
              <a:effectLst/>
              <a:latin typeface="微软雅黑" panose="020B0503020204020204" pitchFamily="34" charset="-122"/>
              <a:ea typeface="微软雅黑" panose="020B0503020204020204" pitchFamily="34" charset="-122"/>
            </a:rPr>
            <a:t>数据采集技术创新</a:t>
          </a:r>
          <a:endParaRPr lang="zh-CN" altLang="en-US" sz="1800" kern="1200" dirty="0">
            <a:solidFill>
              <a:schemeClr val="bg1"/>
            </a:solidFill>
          </a:endParaRPr>
        </a:p>
      </dsp:txBody>
      <dsp:txXfrm rot="5400000">
        <a:off x="-48437" y="25846"/>
        <a:ext cx="2186244" cy="809525"/>
      </dsp:txXfrm>
    </dsp:sp>
    <dsp:sp modelId="{D61E1D77-D1E9-40D0-B06D-862D65E49D5D}">
      <dsp:nvSpPr>
        <dsp:cNvPr id="0" name=""/>
        <dsp:cNvSpPr/>
      </dsp:nvSpPr>
      <dsp:spPr>
        <a:xfrm rot="5400000">
          <a:off x="6075433" y="-3136046"/>
          <a:ext cx="859895" cy="895629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i="0" kern="1200" dirty="0">
              <a:solidFill>
                <a:schemeClr val="bg1"/>
              </a:solidFill>
              <a:effectLst/>
              <a:latin typeface="微软雅黑" panose="020B0503020204020204" pitchFamily="34" charset="-122"/>
              <a:ea typeface="微软雅黑" panose="020B0503020204020204" pitchFamily="34" charset="-122"/>
            </a:rPr>
            <a:t>数据治理技术创新</a:t>
          </a:r>
          <a:endParaRPr lang="zh-CN" altLang="en-US" sz="1800" kern="1200" dirty="0">
            <a:solidFill>
              <a:schemeClr val="bg1"/>
            </a:solidFill>
          </a:endParaRPr>
        </a:p>
      </dsp:txBody>
      <dsp:txXfrm rot="16200000">
        <a:off x="-48437" y="937336"/>
        <a:ext cx="2186244" cy="809525"/>
      </dsp:txXfrm>
    </dsp:sp>
    <dsp:sp modelId="{AF0A1550-D846-4CE5-9603-F9AB9624FE55}">
      <dsp:nvSpPr>
        <dsp:cNvPr id="0" name=""/>
        <dsp:cNvSpPr/>
      </dsp:nvSpPr>
      <dsp:spPr>
        <a:xfrm>
          <a:off x="2120381" y="1223527"/>
          <a:ext cx="8845719"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7234" tIns="84939" rIns="187234" bIns="84939" numCol="1" spcCol="1270" anchor="ctr" anchorCtr="0">
          <a:noAutofit/>
        </a:bodyPr>
        <a:lstStyle/>
        <a:p>
          <a:pPr marL="0" lvl="0" indent="0" algn="l" defTabSz="711200">
            <a:lnSpc>
              <a:spcPct val="90000"/>
            </a:lnSpc>
            <a:spcBef>
              <a:spcPct val="0"/>
            </a:spcBef>
            <a:spcAft>
              <a:spcPct val="35000"/>
            </a:spcAft>
            <a:buNone/>
          </a:pPr>
          <a:r>
            <a:rPr lang="zh-CN" altLang="en-US" sz="1600" i="0" kern="1200" dirty="0">
              <a:effectLst/>
              <a:latin typeface="微软雅黑" panose="020B0503020204020204" pitchFamily="34" charset="-122"/>
              <a:ea typeface="微软雅黑" panose="020B0503020204020204" pitchFamily="34" charset="-122"/>
            </a:rPr>
            <a:t>建覆盖元数据管理、质量规则制定、血缘溯源与版本管理的智能治理体系，有效解决中医药数据异构性强、语义模糊、质量参差不齐等突出问题，显著提升数据可用性与 </a:t>
          </a:r>
          <a:r>
            <a:rPr lang="en-US" altLang="en-US" sz="1600" i="0" kern="1200" dirty="0">
              <a:effectLst/>
              <a:latin typeface="微软雅黑" panose="020B0503020204020204" pitchFamily="34" charset="-122"/>
              <a:ea typeface="微软雅黑" panose="020B0503020204020204" pitchFamily="34" charset="-122"/>
            </a:rPr>
            <a:t>AI </a:t>
          </a:r>
          <a:r>
            <a:rPr lang="zh-CN" altLang="en-US" sz="1600" i="0" kern="1200" dirty="0">
              <a:effectLst/>
              <a:latin typeface="微软雅黑" panose="020B0503020204020204" pitchFamily="34" charset="-122"/>
              <a:ea typeface="微软雅黑" panose="020B0503020204020204" pitchFamily="34" charset="-122"/>
            </a:rPr>
            <a:t>适配性。</a:t>
          </a:r>
          <a:endParaRPr lang="zh-CN" altLang="en-US" sz="1600" kern="1200" dirty="0"/>
        </a:p>
        <a:p>
          <a:pPr marL="0" lvl="0" indent="0" algn="l" defTabSz="711200">
            <a:lnSpc>
              <a:spcPct val="90000"/>
            </a:lnSpc>
            <a:spcBef>
              <a:spcPct val="0"/>
            </a:spcBef>
            <a:spcAft>
              <a:spcPct val="35000"/>
            </a:spcAft>
            <a:buNone/>
          </a:pPr>
          <a:endParaRPr lang="zh-CN" altLang="en-US" sz="1600" kern="1200" dirty="0"/>
        </a:p>
        <a:p>
          <a:pPr marL="0" lvl="0" indent="0" algn="l" defTabSz="711200">
            <a:lnSpc>
              <a:spcPct val="90000"/>
            </a:lnSpc>
            <a:spcBef>
              <a:spcPct val="0"/>
            </a:spcBef>
            <a:spcAft>
              <a:spcPct val="35000"/>
            </a:spcAft>
            <a:buNone/>
          </a:pPr>
          <a:endParaRPr lang="zh-CN" altLang="en-US" sz="1600" kern="1200" dirty="0"/>
        </a:p>
      </dsp:txBody>
      <dsp:txXfrm>
        <a:off x="2120381" y="1223527"/>
        <a:ext cx="8845719" cy="859895"/>
      </dsp:txXfrm>
    </dsp:sp>
    <dsp:sp modelId="{47480B46-D973-4E3C-B7F1-22DA201B9204}">
      <dsp:nvSpPr>
        <dsp:cNvPr id="0" name=""/>
        <dsp:cNvSpPr/>
      </dsp:nvSpPr>
      <dsp:spPr>
        <a:xfrm rot="16200000">
          <a:off x="602144" y="236384"/>
          <a:ext cx="859895" cy="2211429"/>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i="0" kern="1200" dirty="0">
              <a:solidFill>
                <a:schemeClr val="bg1"/>
              </a:solidFill>
              <a:effectLst/>
              <a:latin typeface="微软雅黑" panose="020B0503020204020204" pitchFamily="34" charset="-122"/>
              <a:ea typeface="微软雅黑" panose="020B0503020204020204" pitchFamily="34" charset="-122"/>
            </a:rPr>
            <a:t>数据治理技术创新</a:t>
          </a:r>
          <a:endParaRPr lang="zh-CN" altLang="en-US" sz="1800" kern="1200" dirty="0">
            <a:solidFill>
              <a:schemeClr val="bg1"/>
            </a:solidFill>
          </a:endParaRPr>
        </a:p>
      </dsp:txBody>
      <dsp:txXfrm rot="5400000">
        <a:off x="-48437" y="937336"/>
        <a:ext cx="2186244" cy="809525"/>
      </dsp:txXfrm>
    </dsp:sp>
    <dsp:sp modelId="{54FD755C-8E2F-4853-B173-E17E1B71F59C}">
      <dsp:nvSpPr>
        <dsp:cNvPr id="0" name=""/>
        <dsp:cNvSpPr/>
      </dsp:nvSpPr>
      <dsp:spPr>
        <a:xfrm rot="5400000">
          <a:off x="6075433" y="-2224556"/>
          <a:ext cx="859895" cy="895629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i="0" kern="1200" dirty="0">
              <a:solidFill>
                <a:schemeClr val="bg1"/>
              </a:solidFill>
              <a:effectLst/>
              <a:latin typeface="微软雅黑" panose="020B0503020204020204" pitchFamily="34" charset="-122"/>
              <a:ea typeface="微软雅黑" panose="020B0503020204020204" pitchFamily="34" charset="-122"/>
            </a:rPr>
            <a:t>数据标注技术创新</a:t>
          </a:r>
          <a:endParaRPr lang="zh-CN" altLang="en-US" sz="1800" kern="1200" dirty="0">
            <a:solidFill>
              <a:schemeClr val="bg1"/>
            </a:solidFill>
          </a:endParaRPr>
        </a:p>
      </dsp:txBody>
      <dsp:txXfrm rot="16200000">
        <a:off x="-48437" y="1848825"/>
        <a:ext cx="2186244" cy="809525"/>
      </dsp:txXfrm>
    </dsp:sp>
    <dsp:sp modelId="{BDE760F3-EF22-404E-95E0-FEDC08E0CC4F}">
      <dsp:nvSpPr>
        <dsp:cNvPr id="0" name=""/>
        <dsp:cNvSpPr/>
      </dsp:nvSpPr>
      <dsp:spPr>
        <a:xfrm>
          <a:off x="2137807" y="1952874"/>
          <a:ext cx="8845719"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7234" tIns="84939" rIns="187234" bIns="84939" numCol="1" spcCol="1270" anchor="ctr" anchorCtr="0">
          <a:noAutofit/>
        </a:bodyPr>
        <a:lstStyle/>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标注质量控制体系，提升标注效率与准确性，探索人机协同标注模式，确保标注结果符合中医药理论与临床规范，为模型训练提供高质量标注数据。</a:t>
          </a:r>
          <a:endParaRPr lang="zh-CN" altLang="en-US" sz="1600" kern="1200" dirty="0"/>
        </a:p>
        <a:p>
          <a:pPr marL="0" lvl="0" indent="0" algn="l" defTabSz="711200">
            <a:lnSpc>
              <a:spcPct val="90000"/>
            </a:lnSpc>
            <a:spcBef>
              <a:spcPct val="0"/>
            </a:spcBef>
            <a:spcAft>
              <a:spcPct val="35000"/>
            </a:spcAft>
            <a:buNone/>
          </a:pPr>
          <a:endParaRPr lang="zh-CN" altLang="en-US" sz="1600" kern="1200" dirty="0"/>
        </a:p>
      </dsp:txBody>
      <dsp:txXfrm>
        <a:off x="2137807" y="1952874"/>
        <a:ext cx="8845719" cy="859895"/>
      </dsp:txXfrm>
    </dsp:sp>
    <dsp:sp modelId="{103873EF-3783-4A3B-AEA5-35DFADBC2AB7}">
      <dsp:nvSpPr>
        <dsp:cNvPr id="0" name=""/>
        <dsp:cNvSpPr/>
      </dsp:nvSpPr>
      <dsp:spPr>
        <a:xfrm rot="16200000">
          <a:off x="602144" y="1147873"/>
          <a:ext cx="859895" cy="2211429"/>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i="0" kern="1200" dirty="0">
              <a:solidFill>
                <a:schemeClr val="bg1"/>
              </a:solidFill>
              <a:effectLst/>
              <a:latin typeface="微软雅黑" panose="020B0503020204020204" pitchFamily="34" charset="-122"/>
              <a:ea typeface="微软雅黑" panose="020B0503020204020204" pitchFamily="34" charset="-122"/>
            </a:rPr>
            <a:t>数据标注技术创新</a:t>
          </a:r>
          <a:endParaRPr lang="zh-CN" altLang="en-US" sz="1800" kern="1200" dirty="0">
            <a:solidFill>
              <a:schemeClr val="bg1"/>
            </a:solidFill>
          </a:endParaRPr>
        </a:p>
      </dsp:txBody>
      <dsp:txXfrm rot="5400000">
        <a:off x="-48437" y="1848825"/>
        <a:ext cx="2186244" cy="809525"/>
      </dsp:txXfrm>
    </dsp:sp>
    <dsp:sp modelId="{4777B093-8FA8-46C0-B2DC-0C21CE04E2D1}">
      <dsp:nvSpPr>
        <dsp:cNvPr id="0" name=""/>
        <dsp:cNvSpPr/>
      </dsp:nvSpPr>
      <dsp:spPr>
        <a:xfrm rot="5400000">
          <a:off x="5979604" y="-1458406"/>
          <a:ext cx="859895" cy="9258475"/>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en-US" altLang="zh-CN" sz="1800" b="1" kern="1200" dirty="0">
              <a:solidFill>
                <a:schemeClr val="bg1"/>
              </a:solidFill>
              <a:latin typeface="微软雅黑" panose="020B0503020204020204" pitchFamily="34" charset="-122"/>
              <a:ea typeface="微软雅黑" panose="020B0503020204020204" pitchFamily="34" charset="-122"/>
            </a:rPr>
            <a:t>AI </a:t>
          </a:r>
          <a:r>
            <a:rPr lang="zh-CN" altLang="en-US" sz="1800" b="1" kern="1200" dirty="0">
              <a:solidFill>
                <a:schemeClr val="bg1"/>
              </a:solidFill>
              <a:latin typeface="微软雅黑" panose="020B0503020204020204" pitchFamily="34" charset="-122"/>
              <a:ea typeface="微软雅黑" panose="020B0503020204020204" pitchFamily="34" charset="-122"/>
            </a:rPr>
            <a:t>场景适配技术创新</a:t>
          </a:r>
          <a:endParaRPr lang="zh-CN" altLang="en-US" sz="1800" kern="1200" dirty="0">
            <a:solidFill>
              <a:schemeClr val="bg1"/>
            </a:solidFill>
          </a:endParaRPr>
        </a:p>
      </dsp:txBody>
      <dsp:txXfrm rot="16200000">
        <a:off x="-48438" y="2760333"/>
        <a:ext cx="2178549" cy="809525"/>
      </dsp:txXfrm>
    </dsp:sp>
    <dsp:sp modelId="{3AE748B8-C218-40EA-A515-946CC6C4F8CF}">
      <dsp:nvSpPr>
        <dsp:cNvPr id="0" name=""/>
        <dsp:cNvSpPr/>
      </dsp:nvSpPr>
      <dsp:spPr>
        <a:xfrm>
          <a:off x="2138338" y="2837526"/>
          <a:ext cx="8740543"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7234" tIns="84939" rIns="187234" bIns="84939" numCol="1" spcCol="1270" anchor="ctr" anchorCtr="0">
          <a:noAutofit/>
        </a:bodyPr>
        <a:lstStyle/>
        <a:p>
          <a:pPr marL="0" lvl="0" indent="0" algn="l" defTabSz="711200">
            <a:lnSpc>
              <a:spcPct val="90000"/>
            </a:lnSpc>
            <a:spcBef>
              <a:spcPct val="0"/>
            </a:spcBef>
            <a:spcAft>
              <a:spcPct val="35000"/>
            </a:spcAft>
            <a:buNone/>
          </a:pPr>
          <a:endParaRPr lang="en-US" altLang="zh-CN" sz="1600" kern="1200" dirty="0">
            <a:latin typeface="微软雅黑" panose="020B0503020204020204" pitchFamily="34" charset="-122"/>
            <a:ea typeface="微软雅黑" panose="020B0503020204020204" pitchFamily="34" charset="-122"/>
          </a:endParaRPr>
        </a:p>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现数据集与不同中医药 </a:t>
          </a:r>
          <a:r>
            <a:rPr lang="en-US" altLang="en-US" sz="1600" kern="1200" dirty="0">
              <a:latin typeface="微软雅黑" panose="020B0503020204020204" pitchFamily="34" charset="-122"/>
              <a:ea typeface="微软雅黑" panose="020B0503020204020204" pitchFamily="34" charset="-122"/>
            </a:rPr>
            <a:t>AI </a:t>
          </a:r>
          <a:r>
            <a:rPr lang="zh-CN" altLang="en-US" sz="1600" kern="1200" dirty="0">
              <a:latin typeface="微软雅黑" panose="020B0503020204020204" pitchFamily="34" charset="-122"/>
              <a:ea typeface="微软雅黑" panose="020B0503020204020204" pitchFamily="34" charset="-122"/>
            </a:rPr>
            <a:t>应用场景的精准匹配，提升数据价值转化率，推动高质量数据集真正赋能 </a:t>
          </a:r>
          <a:r>
            <a:rPr lang="en-US" altLang="en-US" sz="1600" kern="1200" dirty="0">
              <a:latin typeface="微软雅黑" panose="020B0503020204020204" pitchFamily="34" charset="-122"/>
              <a:ea typeface="微软雅黑" panose="020B0503020204020204" pitchFamily="34" charset="-122"/>
            </a:rPr>
            <a:t>AI </a:t>
          </a:r>
          <a:r>
            <a:rPr lang="zh-CN" altLang="en-US" sz="1600" kern="1200" dirty="0">
              <a:latin typeface="微软雅黑" panose="020B0503020204020204" pitchFamily="34" charset="-122"/>
              <a:ea typeface="微软雅黑" panose="020B0503020204020204" pitchFamily="34" charset="-122"/>
            </a:rPr>
            <a:t>应用落地。</a:t>
          </a:r>
          <a:endParaRPr lang="zh-CN" altLang="en-US" sz="1600" kern="1200" dirty="0"/>
        </a:p>
        <a:p>
          <a:pPr marL="0" lvl="0" indent="0" algn="l" defTabSz="711200">
            <a:lnSpc>
              <a:spcPct val="90000"/>
            </a:lnSpc>
            <a:spcBef>
              <a:spcPct val="0"/>
            </a:spcBef>
            <a:spcAft>
              <a:spcPct val="35000"/>
            </a:spcAft>
            <a:buNone/>
          </a:pPr>
          <a:endParaRPr lang="zh-CN" altLang="en-US" sz="1600" kern="1200" dirty="0"/>
        </a:p>
        <a:p>
          <a:pPr marL="0" lvl="0" indent="0" algn="l" defTabSz="711200">
            <a:lnSpc>
              <a:spcPct val="90000"/>
            </a:lnSpc>
            <a:spcBef>
              <a:spcPct val="0"/>
            </a:spcBef>
            <a:spcAft>
              <a:spcPct val="35000"/>
            </a:spcAft>
            <a:buNone/>
          </a:pPr>
          <a:endParaRPr lang="zh-CN" altLang="en-US" sz="1600" kern="1200" dirty="0"/>
        </a:p>
      </dsp:txBody>
      <dsp:txXfrm>
        <a:off x="2138338" y="2837526"/>
        <a:ext cx="8740543" cy="859895"/>
      </dsp:txXfrm>
    </dsp:sp>
    <dsp:sp modelId="{03184A24-E4FC-4C1E-9A54-FDBA181F7425}">
      <dsp:nvSpPr>
        <dsp:cNvPr id="0" name=""/>
        <dsp:cNvSpPr/>
      </dsp:nvSpPr>
      <dsp:spPr>
        <a:xfrm rot="16200000">
          <a:off x="598296" y="2063228"/>
          <a:ext cx="859895" cy="2203734"/>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en-US" altLang="zh-CN" sz="1800" b="1" kern="1200" dirty="0">
              <a:solidFill>
                <a:schemeClr val="bg1"/>
              </a:solidFill>
              <a:latin typeface="微软雅黑" panose="020B0503020204020204" pitchFamily="34" charset="-122"/>
              <a:ea typeface="微软雅黑" panose="020B0503020204020204" pitchFamily="34" charset="-122"/>
            </a:rPr>
            <a:t>AI </a:t>
          </a:r>
          <a:r>
            <a:rPr lang="zh-CN" altLang="en-US" sz="1800" b="1" kern="1200" dirty="0">
              <a:solidFill>
                <a:schemeClr val="bg1"/>
              </a:solidFill>
              <a:latin typeface="微软雅黑" panose="020B0503020204020204" pitchFamily="34" charset="-122"/>
              <a:ea typeface="微软雅黑" panose="020B0503020204020204" pitchFamily="34" charset="-122"/>
            </a:rPr>
            <a:t>场景适配技术创新</a:t>
          </a:r>
          <a:endParaRPr lang="zh-CN" altLang="en-US" sz="1800" kern="1200" dirty="0">
            <a:solidFill>
              <a:schemeClr val="bg1"/>
            </a:solidFill>
          </a:endParaRPr>
        </a:p>
      </dsp:txBody>
      <dsp:txXfrm rot="5400000">
        <a:off x="-48438" y="2760333"/>
        <a:ext cx="2178549" cy="809525"/>
      </dsp:txXfrm>
    </dsp:sp>
    <dsp:sp modelId="{68CC06D1-9C7E-4ADC-88D5-8F542553C6EB}">
      <dsp:nvSpPr>
        <dsp:cNvPr id="0" name=""/>
        <dsp:cNvSpPr/>
      </dsp:nvSpPr>
      <dsp:spPr>
        <a:xfrm rot="5400000">
          <a:off x="6075433" y="-401577"/>
          <a:ext cx="859895" cy="895629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kern="1200" dirty="0">
              <a:solidFill>
                <a:schemeClr val="bg1"/>
              </a:solidFill>
              <a:latin typeface="微软雅黑" panose="020B0503020204020204" pitchFamily="34" charset="-122"/>
              <a:ea typeface="微软雅黑" panose="020B0503020204020204" pitchFamily="34" charset="-122"/>
            </a:rPr>
            <a:t>安全可信技术创新</a:t>
          </a:r>
          <a:endParaRPr lang="zh-CN" altLang="en-US" sz="1800" kern="1200" dirty="0">
            <a:solidFill>
              <a:schemeClr val="bg1"/>
            </a:solidFill>
          </a:endParaRPr>
        </a:p>
      </dsp:txBody>
      <dsp:txXfrm rot="16200000">
        <a:off x="-48437" y="3660308"/>
        <a:ext cx="2186244" cy="809525"/>
      </dsp:txXfrm>
    </dsp:sp>
    <dsp:sp modelId="{82A0AFA2-74B3-425B-B56C-D64AF062C627}">
      <dsp:nvSpPr>
        <dsp:cNvPr id="0" name=""/>
        <dsp:cNvSpPr/>
      </dsp:nvSpPr>
      <dsp:spPr>
        <a:xfrm>
          <a:off x="2137807" y="3646620"/>
          <a:ext cx="8845719"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7234" tIns="84939" rIns="187234" bIns="84939" numCol="1" spcCol="1270" anchor="ctr" anchorCtr="0">
          <a:noAutofit/>
        </a:bodyPr>
        <a:lstStyle/>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全方位、全流程的数据安全防护体系，为数据集技术创新与应用提供坚实安全保障，兼顾数据开发利用与隐私安全保护。</a:t>
          </a:r>
          <a:endParaRPr lang="zh-CN" altLang="en-US" sz="1600" kern="1200" dirty="0"/>
        </a:p>
      </dsp:txBody>
      <dsp:txXfrm>
        <a:off x="2137807" y="3646620"/>
        <a:ext cx="8845719" cy="859895"/>
      </dsp:txXfrm>
    </dsp:sp>
    <dsp:sp modelId="{4E8C9246-D96F-4667-9877-1DE5FDA9D93B}">
      <dsp:nvSpPr>
        <dsp:cNvPr id="0" name=""/>
        <dsp:cNvSpPr/>
      </dsp:nvSpPr>
      <dsp:spPr>
        <a:xfrm rot="16200000">
          <a:off x="602144" y="2959356"/>
          <a:ext cx="859895" cy="2211429"/>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021" tIns="84939" rIns="117021" bIns="84939" numCol="1" spcCol="1270" anchor="ctr" anchorCtr="0">
          <a:noAutofit/>
        </a:bodyPr>
        <a:lstStyle/>
        <a:p>
          <a:pPr marL="0" lvl="0" indent="0" algn="ctr" defTabSz="800100">
            <a:lnSpc>
              <a:spcPct val="90000"/>
            </a:lnSpc>
            <a:spcBef>
              <a:spcPct val="0"/>
            </a:spcBef>
            <a:spcAft>
              <a:spcPct val="35000"/>
            </a:spcAft>
            <a:buFont typeface="Wingdings" panose="05000000000000000000" pitchFamily="2" charset="2"/>
            <a:buNone/>
          </a:pPr>
          <a:r>
            <a:rPr lang="zh-CN" altLang="en-US" sz="1800" b="1" kern="1200" dirty="0">
              <a:solidFill>
                <a:schemeClr val="bg1"/>
              </a:solidFill>
              <a:latin typeface="微软雅黑" panose="020B0503020204020204" pitchFamily="34" charset="-122"/>
              <a:ea typeface="微软雅黑" panose="020B0503020204020204" pitchFamily="34" charset="-122"/>
            </a:rPr>
            <a:t>安全可信技术创新</a:t>
          </a:r>
          <a:endParaRPr lang="zh-CN" altLang="en-US" sz="1800" kern="1200" dirty="0">
            <a:solidFill>
              <a:schemeClr val="bg1"/>
            </a:solidFill>
          </a:endParaRPr>
        </a:p>
      </dsp:txBody>
      <dsp:txXfrm rot="5400000">
        <a:off x="-48437" y="3660308"/>
        <a:ext cx="2186244" cy="809525"/>
      </dsp:txXfrm>
    </dsp:sp>
    <dsp:sp modelId="{C3CA288D-06A8-4427-A061-C81D106FA789}">
      <dsp:nvSpPr>
        <dsp:cNvPr id="0" name=""/>
        <dsp:cNvSpPr/>
      </dsp:nvSpPr>
      <dsp:spPr>
        <a:xfrm rot="5400000">
          <a:off x="6075433" y="509912"/>
          <a:ext cx="859895" cy="8956290"/>
        </a:xfrm>
        <a:prstGeom prst="round2SameRect">
          <a:avLst>
            <a:gd name="adj1" fmla="val 15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021" tIns="84939" rIns="117021" bIns="84939" numCol="1" spcCol="1270" anchor="ctr" anchorCtr="0">
          <a:noAutofit/>
        </a:bodyPr>
        <a:lstStyle/>
        <a:p>
          <a:pPr marL="0" lvl="0" indent="0" algn="l" defTabSz="800100">
            <a:lnSpc>
              <a:spcPct val="90000"/>
            </a:lnSpc>
            <a:spcBef>
              <a:spcPct val="0"/>
            </a:spcBef>
            <a:spcAft>
              <a:spcPct val="35000"/>
            </a:spcAft>
            <a:buFont typeface="Wingdings" panose="05000000000000000000" pitchFamily="2" charset="2"/>
            <a:buNone/>
          </a:pPr>
          <a:r>
            <a:rPr lang="zh-CN" altLang="en-US" sz="1800" b="1" kern="1200" dirty="0">
              <a:solidFill>
                <a:schemeClr val="bg1"/>
              </a:solidFill>
              <a:latin typeface="微软雅黑" panose="020B0503020204020204" pitchFamily="34" charset="-122"/>
              <a:ea typeface="微软雅黑" panose="020B0503020204020204" pitchFamily="34" charset="-122"/>
            </a:rPr>
            <a:t>共享协同技术创新</a:t>
          </a:r>
          <a:endParaRPr lang="zh-CN" altLang="en-US" sz="1800" kern="1200" dirty="0">
            <a:solidFill>
              <a:schemeClr val="bg1"/>
            </a:solidFill>
          </a:endParaRPr>
        </a:p>
      </dsp:txBody>
      <dsp:txXfrm rot="16200000">
        <a:off x="-48437" y="4583294"/>
        <a:ext cx="2186244" cy="809525"/>
      </dsp:txXfrm>
    </dsp:sp>
    <dsp:sp modelId="{677F1592-44C9-4317-8AEF-C07AA30EDBB4}">
      <dsp:nvSpPr>
        <dsp:cNvPr id="0" name=""/>
        <dsp:cNvSpPr/>
      </dsp:nvSpPr>
      <dsp:spPr>
        <a:xfrm>
          <a:off x="2165406" y="4502482"/>
          <a:ext cx="8845719" cy="859895"/>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87234" tIns="84939" rIns="187234" bIns="84939" numCol="1" spcCol="1270" anchor="ctr" anchorCtr="0">
          <a:noAutofit/>
        </a:bodyPr>
        <a:lstStyle/>
        <a:p>
          <a:pPr marL="0" lvl="0" indent="0" algn="l" defTabSz="711200">
            <a:lnSpc>
              <a:spcPct val="90000"/>
            </a:lnSpc>
            <a:spcBef>
              <a:spcPct val="0"/>
            </a:spcBef>
            <a:spcAft>
              <a:spcPct val="35000"/>
            </a:spcAft>
            <a:buNone/>
          </a:pPr>
          <a:endParaRPr lang="en-US" altLang="zh-CN" sz="1600" kern="1200" dirty="0">
            <a:latin typeface="微软雅黑" panose="020B0503020204020204" pitchFamily="34" charset="-122"/>
            <a:ea typeface="微软雅黑" panose="020B0503020204020204" pitchFamily="34" charset="-122"/>
          </a:endParaRPr>
        </a:p>
        <a:p>
          <a:pPr marL="0" lvl="0" indent="0" algn="l" defTabSz="711200">
            <a:lnSpc>
              <a:spcPct val="900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立安全、高效、合规的数据共享机制，打破“数据孤岛”，实现多机构、跨区域数据协同创新，提升数据资源利用效率。</a:t>
          </a:r>
          <a:endParaRPr lang="zh-CN" altLang="en-US" sz="1600" kern="1200" dirty="0">
            <a:solidFill>
              <a:schemeClr val="bg1"/>
            </a:solidFill>
          </a:endParaRPr>
        </a:p>
        <a:p>
          <a:pPr marL="0" lvl="0" indent="0" algn="l" defTabSz="711200">
            <a:lnSpc>
              <a:spcPct val="90000"/>
            </a:lnSpc>
            <a:spcBef>
              <a:spcPct val="0"/>
            </a:spcBef>
            <a:spcAft>
              <a:spcPct val="35000"/>
            </a:spcAft>
            <a:buNone/>
          </a:pPr>
          <a:endParaRPr lang="zh-CN" altLang="en-US" sz="1600" kern="1200" dirty="0">
            <a:solidFill>
              <a:schemeClr val="bg1"/>
            </a:solidFill>
          </a:endParaRPr>
        </a:p>
      </dsp:txBody>
      <dsp:txXfrm>
        <a:off x="2165406" y="4502482"/>
        <a:ext cx="8845719" cy="859895"/>
      </dsp:txXfrm>
    </dsp:sp>
    <dsp:sp modelId="{144A26D8-1921-4370-BB86-AD748A588074}">
      <dsp:nvSpPr>
        <dsp:cNvPr id="0" name=""/>
        <dsp:cNvSpPr/>
      </dsp:nvSpPr>
      <dsp:spPr>
        <a:xfrm rot="16200000">
          <a:off x="602144" y="3882342"/>
          <a:ext cx="859895" cy="2211429"/>
        </a:xfrm>
        <a:prstGeom prst="round2SameRect">
          <a:avLst>
            <a:gd name="adj1" fmla="val 1000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7021" tIns="84939" rIns="117021" bIns="84939" numCol="1" spcCol="1270" anchor="ctr" anchorCtr="0">
          <a:noAutofit/>
        </a:bodyPr>
        <a:lstStyle/>
        <a:p>
          <a:pPr marL="0" lvl="0" indent="0" algn="l" defTabSz="800100">
            <a:lnSpc>
              <a:spcPct val="90000"/>
            </a:lnSpc>
            <a:spcBef>
              <a:spcPct val="0"/>
            </a:spcBef>
            <a:spcAft>
              <a:spcPct val="35000"/>
            </a:spcAft>
            <a:buFont typeface="Wingdings" panose="05000000000000000000" pitchFamily="2" charset="2"/>
            <a:buNone/>
          </a:pPr>
          <a:r>
            <a:rPr lang="zh-CN" altLang="en-US" sz="1800" b="1" kern="1200" dirty="0">
              <a:solidFill>
                <a:schemeClr val="bg1"/>
              </a:solidFill>
              <a:latin typeface="微软雅黑" panose="020B0503020204020204" pitchFamily="34" charset="-122"/>
              <a:ea typeface="微软雅黑" panose="020B0503020204020204" pitchFamily="34" charset="-122"/>
            </a:rPr>
            <a:t>共享协同技术创新</a:t>
          </a:r>
          <a:endParaRPr lang="zh-CN" altLang="en-US" sz="1800" kern="1200" dirty="0">
            <a:solidFill>
              <a:schemeClr val="bg1"/>
            </a:solidFill>
          </a:endParaRPr>
        </a:p>
      </dsp:txBody>
      <dsp:txXfrm rot="5400000">
        <a:off x="-48437" y="4583294"/>
        <a:ext cx="2186244" cy="809525"/>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24/layout/VerticalActionList#4">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parTxLTRAlign" val="l"/>
            <dgm:param type="parTxRTLAlign" val="r"/>
            <dgm:param type="shpTxLTRAlignCh" val="l"/>
            <dgm:param type="shpTxRTLAlignCh" val="r"/>
            <dgm:param type="stBulletLvl" val="0"/>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24/layout/VerticalActionList#5">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parTxLTRAlign" val="l"/>
            <dgm:param type="parTxRTLAlign" val="r"/>
            <dgm:param type="shpTxLTRAlignCh" val="l"/>
            <dgm:param type="shpTxRTLAlignCh" val="r"/>
            <dgm:param type="stBulletLvl" val="0"/>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24/layout/VerticalActionList#6">
  <dgm:title val=""/>
  <dgm:desc val=""/>
  <dgm:catLst>
    <dgm:cat type="list" pri="82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T"/>
          <dgm:param type="nodeHorzAlign" val="l"/>
        </dgm:alg>
      </dgm:if>
      <dgm:else name="dirRev">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alg type="composite"/>
        <dgm:shape xmlns:r="http://schemas.openxmlformats.org/officeDocument/2006/relationships" r:blip="">
          <dgm:adjLst/>
        </dgm:shape>
        <dgm:presOf/>
        <dgm:choose name="compositeDir">
          <dgm:if name="compositeNorm" func="var" arg="dir" op="equ" val="norm">
            <dgm:constrLst>
              <dgm:constr type="l" for="ch" forName="bgOutline" refType="w" fact="0.19"/>
              <dgm:constr type="t" for="ch" forName="bgOutline"/>
              <dgm:constr type="w" for="ch" forName="bgOutline" refType="w" fact="0.81"/>
              <dgm:constr type="h" for="ch" forName="bgOutline" refType="h"/>
              <dgm:constr type="l" for="ch" forName="parentText"/>
              <dgm:constr type="t" for="ch" forName="parentText"/>
              <dgm:constr type="w" for="ch" forName="parentText" refType="w" fact="0.2"/>
              <dgm:constr type="h" for="ch" forName="parentText" refType="h"/>
              <dgm:constr type="l" for="ch" forName="descendantText" refType="w" fact="0.2"/>
              <dgm:constr type="t" for="ch" forName="descendantText"/>
              <dgm:constr type="w" for="ch" forName="descendantText" refType="w" fact="0.8"/>
              <dgm:constr type="h" for="ch" forName="descendantText" refType="h"/>
            </dgm:constrLst>
          </dgm:if>
          <dgm:else name="compositeRev">
            <dgm:constrLst>
              <dgm:constr type="l" for="ch" forName="bgOutline"/>
              <dgm:constr type="t" for="ch" forName="bgOutline"/>
              <dgm:constr type="w" for="ch" forName="bgOutline" refType="w" fact="0.81"/>
              <dgm:constr type="h" for="ch" forName="bgOutline" refType="h"/>
              <dgm:constr type="l" for="ch" forName="parentText" refType="w" fact="0.8"/>
              <dgm:constr type="t" for="ch" forName="parentText"/>
              <dgm:constr type="w" for="ch" forName="parentText" refType="w" fact="0.2"/>
              <dgm:constr type="h" for="ch" forName="parentText" refType="h"/>
              <dgm:constr type="l" for="ch" forName="descendantText"/>
              <dgm:constr type="t" for="ch" forName="descendantText"/>
              <dgm:constr type="w" for="ch" forName="descendantText" refType="w" fact="0.8"/>
              <dgm:constr type="h" for="ch" forName="descendantText" refType="h"/>
            </dgm:constrLst>
          </dgm:else>
        </dgm:choose>
        <dgm:ruleLst/>
        <dgm:layoutNode name="bgOutline" styleLbl="fgAcc1">
          <dgm:alg type="sp"/>
          <dgm:choose name="bgOutlineDir">
            <dgm:if name="bgOutlineNorm" func="var" arg="dir" op="equ" val="norm">
              <dgm:shape xmlns:r="http://schemas.openxmlformats.org/officeDocument/2006/relationships" rot="90" type="round2SameRect" r:blip="">
                <dgm:adjLst>
                  <dgm:adj idx="1" val="0.15"/>
                  <dgm:adj idx="2" val="0"/>
                </dgm:adjLst>
              </dgm:shape>
            </dgm:if>
            <dgm:else name="bgOutlineRev">
              <dgm:shape xmlns:r="http://schemas.openxmlformats.org/officeDocument/2006/relationships" rot="-90" type="round2SameRect" r:blip="">
                <dgm:adjLst>
                  <dgm:adj idx="1" val="0.15"/>
                  <dgm:adj idx="2" val="0"/>
                </dgm:adjLst>
              </dgm:shape>
            </dgm:else>
          </dgm:choose>
          <dgm:presOf axis="self"/>
          <dgm:constrLst/>
          <dgm:ruleLst/>
        </dgm:layoutNode>
        <dgm:layoutNode name="parentText" styleLbl="alignNode1">
          <dgm:varLst>
            <dgm:chMax val="1"/>
            <dgm:bulletEnabled/>
          </dgm:varLst>
          <dgm:alg type="tx">
            <dgm:param type="parTxLTRAlign" val="l"/>
            <dgm:param type="parTxRTLAlign" val="r"/>
          </dgm:alg>
          <dgm:choose name="parentShapeDir">
            <dgm:if name="parentShapeNorm" func="var" arg="dir" op="equ" val="norm">
              <dgm:shape xmlns:r="http://schemas.openxmlformats.org/officeDocument/2006/relationships" rot="-90" type="round2SameRect" r:blip="" zOrderOff="3">
                <dgm:adjLst>
                  <dgm:adj idx="1" val="0.1"/>
                </dgm:adjLst>
              </dgm:shape>
            </dgm:if>
            <dgm:else name="parentShapeRev">
              <dgm:shape xmlns:r="http://schemas.openxmlformats.org/officeDocument/2006/relationships" rot="90" type="round2SameRect" r:blip="" zOrderOff="3">
                <dgm:adjLst>
                  <dgm:adj idx="1" val="0.1"/>
                </dgm:adjLst>
              </dgm:shape>
            </dgm:else>
          </dgm:choose>
          <dgm:presOf axis="self" ptType="node"/>
          <dgm:constrLst>
            <dgm:constr type="tMarg" refType="h" fact="0.28"/>
            <dgm:constr type="bMarg" refType="h" fact="0.28"/>
            <dgm:constr type="lMarg" refType="w" fact="0.15"/>
            <dgm:constr type="rMarg" refType="w" fact="0.15"/>
          </dgm:constrLst>
          <dgm:ruleLst>
            <dgm:rule type="primFontSz" val="8" fact="NaN" max="NaN"/>
          </dgm:ruleLst>
        </dgm:layoutNode>
        <dgm:layoutNode name="descendantText" styleLbl="revTx">
          <dgm:varLst>
            <dgm:bulletEnabled/>
          </dgm:varLst>
          <dgm:alg type="tx">
            <dgm:param type="parTxLTRAlign" val="l"/>
            <dgm:param type="parTxRTLAlign" val="r"/>
            <dgm:param type="shpTxLTRAlignCh" val="l"/>
            <dgm:param type="shpTxRTLAlignCh" val="r"/>
            <dgm:param type="stBulletLvl" val="0"/>
          </dgm:alg>
          <dgm:shape xmlns:r="http://schemas.openxmlformats.org/officeDocument/2006/relationships" type="rect" r:blip="" hideGeom="1">
            <dgm:adjLst/>
          </dgm:shape>
          <dgm:presOf axis="des" ptType="node"/>
          <dgm:constrLst>
            <dgm:constr type="primFontSz" val="24"/>
            <dgm:constr type="lMarg" refType="w" fact="0.06"/>
            <dgm:constr type="rMarg" refType="w" fact="0.06"/>
            <dgm:constr type="tMarg" refType="h" fact="0.28"/>
            <dgm:constr type="bMarg" refType="h" fact="0.28"/>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4">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3">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2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4A7F67-F846-46EA-8082-9F67FA8D1C07}" type="datetimeFigureOut">
              <a:rPr lang="zh-CN" altLang="en-US" smtClean="0"/>
              <a:t>2026/10/3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34C8A-2AB3-44AC-84FE-44DD1F17321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7334C8A-2AB3-44AC-84FE-44DD1F173216}"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334C8A-2AB3-44AC-84FE-44DD1F173216}" type="slidenum">
              <a:rPr lang="zh-CN" altLang="en-US" smtClean="0"/>
              <a:t>11</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7334C8A-2AB3-44AC-84FE-44DD1F173216}" type="slidenum">
              <a:rPr lang="zh-CN" altLang="en-US" smtClean="0"/>
              <a:t>26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334C8A-2AB3-44AC-84FE-44DD1F173216}" type="slidenum">
              <a:rPr lang="zh-CN" altLang="en-US" smtClean="0"/>
              <a:t>28</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7334C8A-2AB3-44AC-84FE-44DD1F173216}" type="slidenum">
              <a:rPr lang="zh-CN" altLang="en-US" smtClean="0"/>
              <a:t>30</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7334C8A-2AB3-44AC-84FE-44DD1F173216}"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矩形 1"/>
          <p:cNvSpPr/>
          <p:nvPr userDrawn="1"/>
        </p:nvSpPr>
        <p:spPr>
          <a:xfrm>
            <a:off x="838200" y="342209"/>
            <a:ext cx="11029950" cy="662780"/>
          </a:xfrm>
          <a:prstGeom prst="rect">
            <a:avLst/>
          </a:prstGeom>
          <a:gradFill>
            <a:gsLst>
              <a:gs pos="0">
                <a:schemeClr val="accent1">
                  <a:alpha val="0"/>
                </a:schemeClr>
              </a:gs>
              <a:gs pos="100000">
                <a:schemeClr val="accent1">
                  <a:alpha val="20000"/>
                </a:schemeClr>
              </a:gs>
            </a:gsLst>
            <a:lin ang="10800000" scaled="1"/>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344484" y="295599"/>
            <a:ext cx="756000" cy="756000"/>
          </a:xfrm>
          <a:prstGeom prst="ellipse">
            <a:avLst/>
          </a:prstGeom>
          <a:solidFill>
            <a:schemeClr val="bg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
        <p:nvSpPr>
          <p:cNvPr id="19" name="标题 18"/>
          <p:cNvSpPr>
            <a:spLocks noGrp="1"/>
          </p:cNvSpPr>
          <p:nvPr>
            <p:ph type="title"/>
          </p:nvPr>
        </p:nvSpPr>
        <p:spPr>
          <a:xfrm>
            <a:off x="1211398" y="350383"/>
            <a:ext cx="9674317" cy="662780"/>
          </a:xfrm>
        </p:spPr>
        <p:txBody>
          <a:bodyPr>
            <a:normAutofit/>
          </a:bodyPr>
          <a:lstStyle>
            <a:lvl1pPr>
              <a:defRPr sz="3000" b="1" spc="100" baseline="0">
                <a:solidFill>
                  <a:schemeClr val="accent1"/>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椭圆 2"/>
          <p:cNvSpPr/>
          <p:nvPr userDrawn="1"/>
        </p:nvSpPr>
        <p:spPr>
          <a:xfrm>
            <a:off x="344484" y="295599"/>
            <a:ext cx="756000" cy="756000"/>
          </a:xfrm>
          <a:prstGeom prst="ellipse">
            <a:avLst/>
          </a:prstGeom>
          <a:gradFill>
            <a:gsLst>
              <a:gs pos="0">
                <a:schemeClr val="accent1">
                  <a:alpha val="70000"/>
                </a:schemeClr>
              </a:gs>
              <a:gs pos="100000">
                <a:schemeClr val="accent1"/>
              </a:gs>
            </a:gsLst>
            <a:lin ang="10800000" scaled="1"/>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pic>
        <p:nvPicPr>
          <p:cNvPr id="10" name="图片 9"/>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3110" t="1683" r="3735" b="3824"/>
          <a:stretch>
            <a:fillRect/>
          </a:stretch>
        </p:blipFill>
        <p:spPr>
          <a:xfrm>
            <a:off x="10960424" y="191715"/>
            <a:ext cx="1003692" cy="98011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
        <p:nvSpPr>
          <p:cNvPr id="7" name="标题 1"/>
          <p:cNvSpPr txBox="1"/>
          <p:nvPr userDrawn="1"/>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单击此处编辑母版标题样式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2" name="矩形 1"/>
          <p:cNvSpPr/>
          <p:nvPr userDrawn="1"/>
        </p:nvSpPr>
        <p:spPr>
          <a:xfrm>
            <a:off x="838200" y="342209"/>
            <a:ext cx="11029950" cy="662780"/>
          </a:xfrm>
          <a:prstGeom prst="rect">
            <a:avLst/>
          </a:prstGeom>
          <a:gradFill>
            <a:gsLst>
              <a:gs pos="0">
                <a:schemeClr val="accent1">
                  <a:alpha val="0"/>
                </a:schemeClr>
              </a:gs>
              <a:gs pos="100000">
                <a:schemeClr val="accent1">
                  <a:alpha val="20000"/>
                </a:schemeClr>
              </a:gs>
            </a:gsLst>
            <a:lin ang="10800000" scaled="1"/>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344484" y="295599"/>
            <a:ext cx="756000" cy="756000"/>
          </a:xfrm>
          <a:prstGeom prst="ellipse">
            <a:avLst/>
          </a:prstGeom>
          <a:solidFill>
            <a:schemeClr val="bg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a:xfrm>
            <a:off x="11079639" y="416409"/>
            <a:ext cx="576000" cy="576000"/>
          </a:xfrm>
          <a:prstGeom prst="rect">
            <a:avLst/>
          </a:prstGeom>
        </p:spPr>
      </p:pic>
      <p:sp>
        <p:nvSpPr>
          <p:cNvPr id="19" name="标题 18"/>
          <p:cNvSpPr>
            <a:spLocks noGrp="1"/>
          </p:cNvSpPr>
          <p:nvPr>
            <p:ph type="title"/>
          </p:nvPr>
        </p:nvSpPr>
        <p:spPr>
          <a:xfrm>
            <a:off x="1211398" y="350383"/>
            <a:ext cx="9674317" cy="662780"/>
          </a:xfrm>
        </p:spPr>
        <p:txBody>
          <a:bodyPr>
            <a:normAutofit/>
          </a:bodyPr>
          <a:lstStyle>
            <a:lvl1pPr>
              <a:defRPr sz="3000" b="1" spc="100" baseline="0">
                <a:solidFill>
                  <a:schemeClr val="accent1"/>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椭圆 2"/>
          <p:cNvSpPr/>
          <p:nvPr userDrawn="1"/>
        </p:nvSpPr>
        <p:spPr>
          <a:xfrm>
            <a:off x="344484" y="295599"/>
            <a:ext cx="756000" cy="756000"/>
          </a:xfrm>
          <a:prstGeom prst="ellipse">
            <a:avLst/>
          </a:prstGeom>
          <a:gradFill>
            <a:gsLst>
              <a:gs pos="0">
                <a:schemeClr val="accent1">
                  <a:alpha val="70000"/>
                </a:schemeClr>
              </a:gs>
              <a:gs pos="100000">
                <a:schemeClr val="accent1"/>
              </a:gs>
            </a:gsLst>
            <a:lin ang="10800000" scaled="1"/>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矩形 1"/>
          <p:cNvSpPr/>
          <p:nvPr userDrawn="1"/>
        </p:nvSpPr>
        <p:spPr>
          <a:xfrm>
            <a:off x="838200" y="342209"/>
            <a:ext cx="11029950" cy="662780"/>
          </a:xfrm>
          <a:prstGeom prst="rect">
            <a:avLst/>
          </a:prstGeom>
          <a:gradFill>
            <a:gsLst>
              <a:gs pos="0">
                <a:schemeClr val="accent1">
                  <a:alpha val="0"/>
                </a:schemeClr>
              </a:gs>
              <a:gs pos="100000">
                <a:schemeClr val="accent1">
                  <a:alpha val="20000"/>
                </a:schemeClr>
              </a:gs>
            </a:gsLst>
            <a:lin ang="10800000" scaled="1"/>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344484" y="295599"/>
            <a:ext cx="756000" cy="756000"/>
          </a:xfrm>
          <a:prstGeom prst="ellipse">
            <a:avLst/>
          </a:prstGeom>
          <a:solidFill>
            <a:schemeClr val="bg1"/>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
        <p:nvSpPr>
          <p:cNvPr id="19" name="标题 18"/>
          <p:cNvSpPr>
            <a:spLocks noGrp="1"/>
          </p:cNvSpPr>
          <p:nvPr>
            <p:ph type="title"/>
          </p:nvPr>
        </p:nvSpPr>
        <p:spPr>
          <a:xfrm>
            <a:off x="1211398" y="350383"/>
            <a:ext cx="9674317" cy="662780"/>
          </a:xfrm>
        </p:spPr>
        <p:txBody>
          <a:bodyPr>
            <a:normAutofit/>
          </a:bodyPr>
          <a:lstStyle>
            <a:lvl1pPr>
              <a:defRPr sz="3000" b="1" spc="100" baseline="0">
                <a:solidFill>
                  <a:schemeClr val="accent1"/>
                </a:solidFill>
                <a:latin typeface="微软雅黑" panose="020B0503020204020204" pitchFamily="34" charset="-122"/>
                <a:ea typeface="微软雅黑" panose="020B0503020204020204" pitchFamily="34" charset="-122"/>
              </a:defRPr>
            </a:lvl1pPr>
          </a:lstStyle>
          <a:p>
            <a:r>
              <a:rPr lang="zh-CN" altLang="en-US"/>
              <a:t>单击此处编辑母版标题样式</a:t>
            </a:r>
          </a:p>
        </p:txBody>
      </p:sp>
      <p:sp>
        <p:nvSpPr>
          <p:cNvPr id="3" name="椭圆 2"/>
          <p:cNvSpPr/>
          <p:nvPr userDrawn="1"/>
        </p:nvSpPr>
        <p:spPr>
          <a:xfrm>
            <a:off x="344484" y="295599"/>
            <a:ext cx="756000" cy="756000"/>
          </a:xfrm>
          <a:prstGeom prst="ellipse">
            <a:avLst/>
          </a:prstGeom>
          <a:gradFill>
            <a:gsLst>
              <a:gs pos="0">
                <a:schemeClr val="accent1">
                  <a:alpha val="70000"/>
                </a:schemeClr>
              </a:gs>
              <a:gs pos="100000">
                <a:schemeClr val="accent1"/>
              </a:gs>
            </a:gsLst>
            <a:lin ang="10800000" scaled="1"/>
          </a:gradFill>
          <a:ln w="508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pic>
        <p:nvPicPr>
          <p:cNvPr id="10" name="图片 9"/>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l="3110" t="1683" r="3735" b="3824"/>
          <a:stretch>
            <a:fillRect/>
          </a:stretch>
        </p:blipFill>
        <p:spPr>
          <a:xfrm>
            <a:off x="10960424" y="191715"/>
            <a:ext cx="1003692" cy="980116"/>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
        <p:nvSpPr>
          <p:cNvPr id="7" name="标题 1"/>
          <p:cNvSpPr txBox="1"/>
          <p:nvPr userDrawn="1"/>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a:t>单击此处编辑母版标题样式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D059E5-3D9A-4CB3-B922-6CA2C0162BE4}"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D059E5-3D9A-4CB3-B922-6CA2C0162BE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D059E5-3D9A-4CB3-B922-6CA2C0162BE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CDBA34-7A7E-4808-AB87-0F41496EB64D}" type="datetimeFigureOut">
              <a:rPr lang="zh-CN" altLang="en-US" smtClean="0"/>
              <a:t>2026/10/3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D059E5-3D9A-4CB3-B922-6CA2C0162BE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8" Type="http://schemas.openxmlformats.org/officeDocument/2006/relationships/tags" Target="../tags/tag29.xml"/><Relationship Id="rId13" Type="http://schemas.openxmlformats.org/officeDocument/2006/relationships/tags" Target="../tags/tag34.xml"/><Relationship Id="rId18" Type="http://schemas.openxmlformats.org/officeDocument/2006/relationships/tags" Target="../tags/tag39.xml"/><Relationship Id="rId3" Type="http://schemas.openxmlformats.org/officeDocument/2006/relationships/tags" Target="../tags/tag24.xml"/><Relationship Id="rId21" Type="http://schemas.openxmlformats.org/officeDocument/2006/relationships/tags" Target="../tags/tag42.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5" Type="http://schemas.openxmlformats.org/officeDocument/2006/relationships/tags" Target="../tags/tag26.xml"/><Relationship Id="rId15" Type="http://schemas.openxmlformats.org/officeDocument/2006/relationships/tags" Target="../tags/tag36.xml"/><Relationship Id="rId10" Type="http://schemas.openxmlformats.org/officeDocument/2006/relationships/tags" Target="../tags/tag31.xml"/><Relationship Id="rId19" Type="http://schemas.openxmlformats.org/officeDocument/2006/relationships/tags" Target="../tags/tag40.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3" Type="http://schemas.openxmlformats.org/officeDocument/2006/relationships/tags" Target="../tags/tag55.xml"/><Relationship Id="rId18" Type="http://schemas.openxmlformats.org/officeDocument/2006/relationships/tags" Target="../tags/tag60.xml"/><Relationship Id="rId26" Type="http://schemas.openxmlformats.org/officeDocument/2006/relationships/tags" Target="../tags/tag68.xml"/><Relationship Id="rId3" Type="http://schemas.openxmlformats.org/officeDocument/2006/relationships/tags" Target="../tags/tag45.xml"/><Relationship Id="rId21" Type="http://schemas.openxmlformats.org/officeDocument/2006/relationships/tags" Target="../tags/tag63.xml"/><Relationship Id="rId7" Type="http://schemas.openxmlformats.org/officeDocument/2006/relationships/tags" Target="../tags/tag49.xml"/><Relationship Id="rId12" Type="http://schemas.openxmlformats.org/officeDocument/2006/relationships/tags" Target="../tags/tag54.xml"/><Relationship Id="rId17" Type="http://schemas.openxmlformats.org/officeDocument/2006/relationships/tags" Target="../tags/tag59.xml"/><Relationship Id="rId25" Type="http://schemas.openxmlformats.org/officeDocument/2006/relationships/tags" Target="../tags/tag67.xml"/><Relationship Id="rId33" Type="http://schemas.openxmlformats.org/officeDocument/2006/relationships/image" Target="../media/image10.svg"/><Relationship Id="rId2" Type="http://schemas.openxmlformats.org/officeDocument/2006/relationships/tags" Target="../tags/tag44.xml"/><Relationship Id="rId16" Type="http://schemas.openxmlformats.org/officeDocument/2006/relationships/tags" Target="../tags/tag58.xml"/><Relationship Id="rId20" Type="http://schemas.openxmlformats.org/officeDocument/2006/relationships/tags" Target="../tags/tag62.xml"/><Relationship Id="rId29"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24" Type="http://schemas.openxmlformats.org/officeDocument/2006/relationships/tags" Target="../tags/tag66.xml"/><Relationship Id="rId32" Type="http://schemas.openxmlformats.org/officeDocument/2006/relationships/image" Target="../media/image9.svg"/><Relationship Id="rId5" Type="http://schemas.openxmlformats.org/officeDocument/2006/relationships/tags" Target="../tags/tag47.xml"/><Relationship Id="rId15" Type="http://schemas.openxmlformats.org/officeDocument/2006/relationships/tags" Target="../tags/tag57.xml"/><Relationship Id="rId23" Type="http://schemas.openxmlformats.org/officeDocument/2006/relationships/tags" Target="../tags/tag65.xml"/><Relationship Id="rId28" Type="http://schemas.openxmlformats.org/officeDocument/2006/relationships/tags" Target="../tags/tag70.xml"/><Relationship Id="rId10" Type="http://schemas.openxmlformats.org/officeDocument/2006/relationships/tags" Target="../tags/tag52.xml"/><Relationship Id="rId19" Type="http://schemas.openxmlformats.org/officeDocument/2006/relationships/tags" Target="../tags/tag61.xml"/><Relationship Id="rId31" Type="http://schemas.openxmlformats.org/officeDocument/2006/relationships/image" Target="../media/image8.svg"/><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tags" Target="../tags/tag56.xml"/><Relationship Id="rId22" Type="http://schemas.openxmlformats.org/officeDocument/2006/relationships/tags" Target="../tags/tag64.xml"/><Relationship Id="rId27" Type="http://schemas.openxmlformats.org/officeDocument/2006/relationships/tags" Target="../tags/tag69.xml"/><Relationship Id="rId30" Type="http://schemas.openxmlformats.org/officeDocument/2006/relationships/image" Target="../media/image7.svg"/><Relationship Id="rId8" Type="http://schemas.openxmlformats.org/officeDocument/2006/relationships/tags" Target="../tags/tag5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tags" Target="../tags/tag78.xml"/><Relationship Id="rId13" Type="http://schemas.openxmlformats.org/officeDocument/2006/relationships/tags" Target="../tags/tag83.xml"/><Relationship Id="rId18" Type="http://schemas.openxmlformats.org/officeDocument/2006/relationships/tags" Target="../tags/tag88.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tags" Target="../tags/tag82.xml"/><Relationship Id="rId17" Type="http://schemas.openxmlformats.org/officeDocument/2006/relationships/tags" Target="../tags/tag87.xml"/><Relationship Id="rId2" Type="http://schemas.openxmlformats.org/officeDocument/2006/relationships/tags" Target="../tags/tag72.xml"/><Relationship Id="rId16" Type="http://schemas.openxmlformats.org/officeDocument/2006/relationships/tags" Target="../tags/tag86.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tags" Target="../tags/tag81.xml"/><Relationship Id="rId5" Type="http://schemas.openxmlformats.org/officeDocument/2006/relationships/tags" Target="../tags/tag75.xml"/><Relationship Id="rId15" Type="http://schemas.openxmlformats.org/officeDocument/2006/relationships/tags" Target="../tags/tag85.xml"/><Relationship Id="rId10" Type="http://schemas.openxmlformats.org/officeDocument/2006/relationships/tags" Target="../tags/tag80.xml"/><Relationship Id="rId19" Type="http://schemas.openxmlformats.org/officeDocument/2006/relationships/slideLayout" Target="../slideLayouts/slideLayout1.xml"/><Relationship Id="rId4" Type="http://schemas.openxmlformats.org/officeDocument/2006/relationships/tags" Target="../tags/tag74.xml"/><Relationship Id="rId9" Type="http://schemas.openxmlformats.org/officeDocument/2006/relationships/tags" Target="../tags/tag79.xml"/><Relationship Id="rId14" Type="http://schemas.openxmlformats.org/officeDocument/2006/relationships/tags" Target="../tags/tag84.xml"/></Relationships>
</file>

<file path=ppt/slides/_rels/slide2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96.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notesSlide" Target="../notesSlides/notesSlide5.xml"/><Relationship Id="rId5" Type="http://schemas.openxmlformats.org/officeDocument/2006/relationships/tags" Target="../tags/tag93.xml"/><Relationship Id="rId10" Type="http://schemas.openxmlformats.org/officeDocument/2006/relationships/slideLayout" Target="../slideLayouts/slideLayout1.xml"/><Relationship Id="rId4" Type="http://schemas.openxmlformats.org/officeDocument/2006/relationships/tags" Target="../tags/tag92.xml"/><Relationship Id="rId9" Type="http://schemas.openxmlformats.org/officeDocument/2006/relationships/tags" Target="../tags/tag97.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2.xml.rels><?xml version="1.0" encoding="UTF-8" standalone="yes"?>
<Relationships xmlns="http://schemas.openxmlformats.org/package/2006/relationships"><Relationship Id="rId8" Type="http://schemas.openxmlformats.org/officeDocument/2006/relationships/tags" Target="../tags/tag105.xml"/><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image" Target="../media/image17.sv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image" Target="../media/image12.svg"/><Relationship Id="rId5" Type="http://schemas.openxmlformats.org/officeDocument/2006/relationships/tags" Target="../tags/tag102.xml"/><Relationship Id="rId10" Type="http://schemas.openxmlformats.org/officeDocument/2006/relationships/slideLayout" Target="../slideLayouts/slideLayout1.xml"/><Relationship Id="rId4" Type="http://schemas.openxmlformats.org/officeDocument/2006/relationships/tags" Target="../tags/tag101.xml"/><Relationship Id="rId9" Type="http://schemas.openxmlformats.org/officeDocument/2006/relationships/tags" Target="../tags/tag10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9000"/>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83820" y="2720975"/>
            <a:ext cx="12014200" cy="706755"/>
          </a:xfrm>
          <a:prstGeom prst="rect">
            <a:avLst/>
          </a:prstGeom>
          <a:noFill/>
        </p:spPr>
        <p:txBody>
          <a:bodyPr wrap="square">
            <a:spAutoFit/>
          </a:bodyPr>
          <a:lstStyle/>
          <a:p>
            <a:pPr algn="ctr"/>
            <a:r>
              <a:rPr lang="zh-CN" altLang="en-US" sz="4000" b="1" i="0" dirty="0">
                <a:solidFill>
                  <a:schemeClr val="bg1"/>
                </a:solidFill>
                <a:effectLst/>
                <a:latin typeface="微软雅黑" panose="020B0503020204020204" pitchFamily="34" charset="-122"/>
                <a:ea typeface="微软雅黑" panose="020B0503020204020204" pitchFamily="34" charset="-122"/>
              </a:rPr>
              <a:t>《中医药人工智能高质量数据集建设专家共识》解读</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40360" y="3914140"/>
            <a:ext cx="11757660" cy="768350"/>
          </a:xfrm>
          <a:prstGeom prst="rect">
            <a:avLst/>
          </a:prstGeom>
          <a:noFill/>
        </p:spPr>
        <p:txBody>
          <a:bodyPr wrap="square">
            <a:spAutoFit/>
          </a:bodyPr>
          <a:lstStyle/>
          <a:p>
            <a:pPr algn="ctr"/>
            <a:r>
              <a:rPr lang="zh-CN" altLang="en-US" sz="2200" b="1" i="0" dirty="0">
                <a:solidFill>
                  <a:schemeClr val="bg1"/>
                </a:solidFill>
                <a:effectLst/>
                <a:latin typeface="微软雅黑" panose="020B0503020204020204" pitchFamily="34" charset="-122"/>
                <a:ea typeface="微软雅黑" panose="020B0503020204020204" pitchFamily="34" charset="-122"/>
              </a:rPr>
              <a:t>中国中医药信息学会临床研究分会</a:t>
            </a:r>
            <a:r>
              <a:rPr lang="en-US" altLang="zh-CN" sz="2200" b="1" i="0" dirty="0">
                <a:solidFill>
                  <a:schemeClr val="bg1"/>
                </a:solidFill>
                <a:effectLst/>
                <a:latin typeface="微软雅黑" panose="020B0503020204020204" pitchFamily="34" charset="-122"/>
                <a:ea typeface="微软雅黑" panose="020B0503020204020204" pitchFamily="34" charset="-122"/>
              </a:rPr>
              <a:t> </a:t>
            </a:r>
            <a:r>
              <a:rPr lang="zh-CN" altLang="en-US" sz="2200" b="1" i="0" dirty="0">
                <a:solidFill>
                  <a:schemeClr val="bg1"/>
                </a:solidFill>
                <a:effectLst/>
                <a:latin typeface="微软雅黑" panose="020B0503020204020204" pitchFamily="34" charset="-122"/>
                <a:ea typeface="微软雅黑" panose="020B0503020204020204" pitchFamily="34" charset="-122"/>
              </a:rPr>
              <a:t>中国生物医学工程学会医学人工智能分会中医药学组</a:t>
            </a:r>
          </a:p>
          <a:p>
            <a:pPr algn="ctr"/>
            <a:endParaRPr lang="zh-CN" altLang="en-US" sz="2200" b="1" i="0" dirty="0">
              <a:solidFill>
                <a:schemeClr val="bg1"/>
              </a:solidFill>
              <a:effectLst/>
              <a:latin typeface="微软雅黑" panose="020B0503020204020204" pitchFamily="34" charset="-122"/>
              <a:ea typeface="微软雅黑" panose="020B0503020204020204"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2995241" y="5395456"/>
            <a:ext cx="6370970" cy="403446"/>
            <a:chOff x="3216576" y="5395456"/>
            <a:chExt cx="6370970" cy="403446"/>
          </a:xfrm>
        </p:grpSpPr>
        <p:grpSp>
          <p:nvGrpSpPr>
            <p:cNvPr id="13" name="组合 12"/>
            <p:cNvGrpSpPr/>
            <p:nvPr/>
          </p:nvGrpSpPr>
          <p:grpSpPr>
            <a:xfrm>
              <a:off x="3216576" y="5400122"/>
              <a:ext cx="2285120" cy="398780"/>
              <a:chOff x="3216576" y="5400122"/>
              <a:chExt cx="2285120" cy="398780"/>
            </a:xfrm>
          </p:grpSpPr>
          <p:sp>
            <p:nvSpPr>
              <p:cNvPr id="11" name="文本框 10"/>
              <p:cNvSpPr txBox="1"/>
              <p:nvPr/>
            </p:nvSpPr>
            <p:spPr>
              <a:xfrm>
                <a:off x="3540816" y="5400122"/>
                <a:ext cx="1960880" cy="398780"/>
              </a:xfrm>
              <a:prstGeom prst="rect">
                <a:avLst/>
              </a:prstGeom>
              <a:noFill/>
            </p:spPr>
            <p:txBody>
              <a:bodyPr wrap="none" rtlCol="0">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汇报人：尤良震</a:t>
                </a:r>
              </a:p>
            </p:txBody>
          </p:sp>
          <p:pic>
            <p:nvPicPr>
              <p:cNvPr id="5" name="图形 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16576" y="5400122"/>
                <a:ext cx="360000" cy="360000"/>
              </a:xfrm>
              <a:prstGeom prst="rect">
                <a:avLst/>
              </a:prstGeom>
            </p:spPr>
          </p:pic>
        </p:grpSp>
        <p:grpSp>
          <p:nvGrpSpPr>
            <p:cNvPr id="7" name="组合 6"/>
            <p:cNvGrpSpPr/>
            <p:nvPr/>
          </p:nvGrpSpPr>
          <p:grpSpPr>
            <a:xfrm>
              <a:off x="5966762" y="5395456"/>
              <a:ext cx="3620784" cy="398780"/>
              <a:chOff x="5946136" y="5403776"/>
              <a:chExt cx="3620784" cy="398780"/>
            </a:xfrm>
          </p:grpSpPr>
          <p:sp>
            <p:nvSpPr>
              <p:cNvPr id="12" name="文本框 11"/>
              <p:cNvSpPr txBox="1"/>
              <p:nvPr/>
            </p:nvSpPr>
            <p:spPr>
              <a:xfrm>
                <a:off x="6254125" y="5403776"/>
                <a:ext cx="3312795" cy="398780"/>
              </a:xfrm>
              <a:prstGeom prst="rect">
                <a:avLst/>
              </a:prstGeom>
              <a:noFill/>
            </p:spPr>
            <p:txBody>
              <a:bodyPr wrap="none" rtlCol="0">
                <a:spAutoFit/>
              </a:bodyPr>
              <a:lstStyle/>
              <a:p>
                <a:pPr algn="ct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汇报时间：</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2026</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9</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月</a:t>
                </a:r>
                <a:r>
                  <a:rPr lang="en-US" altLang="zh-CN" sz="2000" b="1" dirty="0">
                    <a:solidFill>
                      <a:schemeClr val="tx1">
                        <a:lumMod val="95000"/>
                        <a:lumOff val="5000"/>
                      </a:schemeClr>
                    </a:solidFill>
                    <a:latin typeface="微软雅黑" panose="020B0503020204020204" pitchFamily="34" charset="-122"/>
                    <a:ea typeface="微软雅黑" panose="020B0503020204020204" pitchFamily="34" charset="-122"/>
                  </a:rPr>
                  <a:t>11</a:t>
                </a: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日</a:t>
                </a:r>
              </a:p>
            </p:txBody>
          </p:sp>
          <p:pic>
            <p:nvPicPr>
              <p:cNvPr id="6" name="图形 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46136" y="5409491"/>
                <a:ext cx="360045" cy="360045"/>
              </a:xfrm>
              <a:prstGeom prst="rect">
                <a:avLst/>
              </a:prstGeom>
            </p:spPr>
          </p:pic>
        </p:grpSp>
      </p:grpSp>
      <p:pic>
        <p:nvPicPr>
          <p:cNvPr id="17" name="图片 16"/>
          <p:cNvPicPr>
            <a:picLocks noChangeAspect="1"/>
          </p:cNvPicPr>
          <p:nvPr/>
        </p:nvPicPr>
        <p:blipFill>
          <a:blip r:embed="rId4" cstate="print">
            <a:extLst>
              <a:ext uri="{28A0092B-C50C-407E-A947-70E740481C1C}">
                <a14:useLocalDpi xmlns:a14="http://schemas.microsoft.com/office/drawing/2010/main" val="0"/>
              </a:ext>
            </a:extLst>
          </a:blip>
          <a:srcRect l="3110" t="1683" r="3735" b="3824"/>
          <a:stretch>
            <a:fillRect/>
          </a:stretch>
        </p:blipFill>
        <p:spPr>
          <a:xfrm>
            <a:off x="116205" y="337820"/>
            <a:ext cx="1275715" cy="1245870"/>
          </a:xfrm>
          <a:prstGeom prst="rect">
            <a:avLst/>
          </a:prstGeom>
        </p:spPr>
      </p:pic>
      <p:sp>
        <p:nvSpPr>
          <p:cNvPr id="15" name="文本框 14"/>
          <p:cNvSpPr txBox="1"/>
          <p:nvPr/>
        </p:nvSpPr>
        <p:spPr>
          <a:xfrm>
            <a:off x="1529715" y="570230"/>
            <a:ext cx="10662285" cy="645160"/>
          </a:xfrm>
          <a:prstGeom prst="rect">
            <a:avLst/>
          </a:prstGeom>
          <a:noFill/>
        </p:spPr>
        <p:txBody>
          <a:bodyPr wrap="square">
            <a:spAutoFit/>
          </a:bodyPr>
          <a:lstStyle/>
          <a:p>
            <a:pPr algn="l"/>
            <a:r>
              <a:rPr lang="zh-CN" altLang="en-US" sz="3600" b="1" i="0" dirty="0">
                <a:solidFill>
                  <a:srgbClr val="FF0000"/>
                </a:solidFill>
                <a:effectLst/>
                <a:latin typeface="微软雅黑" panose="020B0503020204020204" pitchFamily="34" charset="-122"/>
                <a:ea typeface="微软雅黑" panose="020B0503020204020204" pitchFamily="34" charset="-122"/>
              </a:rPr>
              <a:t>深圳市</a:t>
            </a:r>
            <a:r>
              <a:rPr lang="en-US" altLang="zh-CN" sz="3600" b="1" i="0" dirty="0">
                <a:solidFill>
                  <a:srgbClr val="FF0000"/>
                </a:solidFill>
                <a:effectLst/>
                <a:latin typeface="微软雅黑" panose="020B0503020204020204" pitchFamily="34" charset="-122"/>
                <a:ea typeface="微软雅黑" panose="020B0503020204020204" pitchFamily="34" charset="-122"/>
              </a:rPr>
              <a:t>“</a:t>
            </a:r>
            <a:r>
              <a:rPr lang="zh-CN" altLang="en-US" sz="3600" b="1" i="0" dirty="0">
                <a:solidFill>
                  <a:srgbClr val="FF0000"/>
                </a:solidFill>
                <a:effectLst/>
                <a:latin typeface="微软雅黑" panose="020B0503020204020204" pitchFamily="34" charset="-122"/>
                <a:ea typeface="微软雅黑" panose="020B0503020204020204" pitchFamily="34" charset="-122"/>
              </a:rPr>
              <a:t>三名工程</a:t>
            </a:r>
            <a:r>
              <a:rPr lang="en-US" altLang="zh-CN" sz="3600" b="1" i="0" dirty="0">
                <a:solidFill>
                  <a:srgbClr val="FF0000"/>
                </a:solidFill>
                <a:effectLst/>
                <a:latin typeface="微软雅黑" panose="020B0503020204020204" pitchFamily="34" charset="-122"/>
                <a:ea typeface="微软雅黑" panose="020B0503020204020204" pitchFamily="34" charset="-122"/>
              </a:rPr>
              <a:t>”</a:t>
            </a:r>
            <a:r>
              <a:rPr lang="zh-CN" altLang="en-US" sz="3600" b="1" i="0" dirty="0">
                <a:solidFill>
                  <a:srgbClr val="FF0000"/>
                </a:solidFill>
                <a:effectLst/>
                <a:latin typeface="微软雅黑" panose="020B0503020204020204" pitchFamily="34" charset="-122"/>
                <a:ea typeface="微软雅黑" panose="020B0503020204020204" pitchFamily="34" charset="-122"/>
              </a:rPr>
              <a:t>高层次医学团队学术交流会</a:t>
            </a:r>
            <a:r>
              <a:rPr lang="zh-CN" altLang="en-US" sz="3600" b="1" i="0" dirty="0">
                <a:solidFill>
                  <a:schemeClr val="bg1"/>
                </a:solidFill>
                <a:effectLst/>
                <a:latin typeface="微软雅黑" panose="020B0503020204020204" pitchFamily="34" charset="-122"/>
                <a:ea typeface="微软雅黑" panose="020B0503020204020204" pitchFamily="34" charset="-122"/>
              </a:rPr>
              <a:t>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2390507" y="690325"/>
            <a:ext cx="757755" cy="700769"/>
          </a:xfrm>
          <a:prstGeom prst="rect">
            <a:avLst/>
          </a:prstGeom>
          <a:noFill/>
        </p:spPr>
        <p:txBody>
          <a:bodyPr wrap="square" rtlCol="0">
            <a:spAutoFit/>
          </a:bodyPr>
          <a:lstStyle/>
          <a:p>
            <a:pPr algn="ctr">
              <a:lnSpc>
                <a:spcPct val="120000"/>
              </a:lnSpc>
            </a:pPr>
            <a:r>
              <a:rPr lang="en-US" altLang="zh-CN" sz="3600" b="1" dirty="0">
                <a:solidFill>
                  <a:srgbClr val="1F5FA0"/>
                </a:solidFill>
                <a:latin typeface="微软雅黑" panose="020B0503020204020204" pitchFamily="34" charset="-122"/>
                <a:ea typeface="微软雅黑" panose="020B0503020204020204" pitchFamily="34" charset="-122"/>
              </a:rPr>
              <a:t>01</a:t>
            </a:r>
            <a:endParaRPr lang="zh-CN" altLang="en-US" sz="3600" b="1" dirty="0">
              <a:solidFill>
                <a:srgbClr val="1F5FA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2"/>
            </p:custDataLst>
          </p:nvPr>
        </p:nvSpPr>
        <p:spPr>
          <a:xfrm>
            <a:off x="2390510" y="1519804"/>
            <a:ext cx="757755" cy="700769"/>
          </a:xfrm>
          <a:prstGeom prst="rect">
            <a:avLst/>
          </a:prstGeom>
          <a:noFill/>
        </p:spPr>
        <p:txBody>
          <a:bodyPr wrap="square" rtlCol="0">
            <a:spAutoFit/>
          </a:bodyPr>
          <a:lstStyle/>
          <a:p>
            <a:pPr algn="ctr">
              <a:lnSpc>
                <a:spcPct val="120000"/>
              </a:lnSpc>
            </a:pPr>
            <a:r>
              <a:rPr lang="en-US" altLang="zh-CN" sz="3600" b="1" dirty="0">
                <a:solidFill>
                  <a:srgbClr val="1F5FA0"/>
                </a:solidFill>
                <a:latin typeface="微软雅黑" panose="020B0503020204020204" pitchFamily="34" charset="-122"/>
                <a:ea typeface="微软雅黑" panose="020B0503020204020204" pitchFamily="34" charset="-122"/>
              </a:rPr>
              <a:t>02</a:t>
            </a:r>
            <a:endParaRPr lang="zh-CN" altLang="en-US" sz="3600" b="1" dirty="0">
              <a:solidFill>
                <a:srgbClr val="1F5FA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3"/>
            </p:custDataLst>
          </p:nvPr>
        </p:nvSpPr>
        <p:spPr>
          <a:xfrm>
            <a:off x="2390510" y="2324887"/>
            <a:ext cx="757755" cy="700769"/>
          </a:xfrm>
          <a:prstGeom prst="rect">
            <a:avLst/>
          </a:prstGeom>
          <a:noFill/>
        </p:spPr>
        <p:txBody>
          <a:bodyPr wrap="square" rtlCol="0">
            <a:spAutoFit/>
          </a:bodyPr>
          <a:lstStyle/>
          <a:p>
            <a:pPr algn="ctr">
              <a:lnSpc>
                <a:spcPct val="120000"/>
              </a:lnSpc>
            </a:pPr>
            <a:r>
              <a:rPr lang="en-US" altLang="zh-CN" sz="3600" b="1" dirty="0">
                <a:solidFill>
                  <a:srgbClr val="1F5FA0"/>
                </a:solidFill>
                <a:latin typeface="微软雅黑" panose="020B0503020204020204" pitchFamily="34" charset="-122"/>
                <a:ea typeface="微软雅黑" panose="020B0503020204020204" pitchFamily="34" charset="-122"/>
              </a:rPr>
              <a:t>03</a:t>
            </a:r>
            <a:endParaRPr lang="zh-CN" altLang="en-US" sz="3600" b="1" dirty="0">
              <a:solidFill>
                <a:srgbClr val="1F5FA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4"/>
            </p:custDataLst>
          </p:nvPr>
        </p:nvSpPr>
        <p:spPr>
          <a:xfrm>
            <a:off x="2392732" y="3147913"/>
            <a:ext cx="757755" cy="700769"/>
          </a:xfrm>
          <a:prstGeom prst="rect">
            <a:avLst/>
          </a:prstGeom>
          <a:noFill/>
        </p:spPr>
        <p:txBody>
          <a:bodyPr wrap="square" rtlCol="0">
            <a:spAutoFit/>
          </a:bodyPr>
          <a:lstStyle/>
          <a:p>
            <a:pPr algn="ctr">
              <a:lnSpc>
                <a:spcPct val="120000"/>
              </a:lnSpc>
            </a:pPr>
            <a:r>
              <a:rPr lang="en-US" altLang="zh-CN" sz="3600" b="1" dirty="0">
                <a:solidFill>
                  <a:srgbClr val="1F5FA0"/>
                </a:solidFill>
                <a:latin typeface="微软雅黑" panose="020B0503020204020204" pitchFamily="34" charset="-122"/>
                <a:ea typeface="微软雅黑" panose="020B0503020204020204" pitchFamily="34" charset="-122"/>
              </a:rPr>
              <a:t>04</a:t>
            </a:r>
            <a:endParaRPr lang="zh-CN" altLang="en-US" sz="3600" b="1">
              <a:solidFill>
                <a:srgbClr val="1F5FA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5"/>
            </p:custDataLst>
          </p:nvPr>
        </p:nvSpPr>
        <p:spPr>
          <a:xfrm>
            <a:off x="3492422" y="757907"/>
            <a:ext cx="8067700" cy="565604"/>
          </a:xfrm>
          <a:prstGeom prst="rect">
            <a:avLst/>
          </a:prstGeom>
          <a:noFill/>
        </p:spPr>
        <p:txBody>
          <a:bodyPr wrap="square" rtlCol="0">
            <a:spAutoFit/>
          </a:bodyPr>
          <a:lstStyle/>
          <a:p>
            <a:pPr>
              <a:lnSpc>
                <a:spcPct val="120000"/>
              </a:lnSpc>
            </a:pPr>
            <a:r>
              <a:rPr lang="zh-CN" altLang="en-US" sz="2800" b="1" spc="300" dirty="0">
                <a:solidFill>
                  <a:srgbClr val="1F5FA0"/>
                </a:solidFill>
                <a:latin typeface="微软雅黑" panose="020B0503020204020204" pitchFamily="34" charset="-122"/>
                <a:ea typeface="微软雅黑" panose="020B0503020204020204" pitchFamily="34" charset="-122"/>
              </a:rPr>
              <a:t>中医药高质量数据集建设的背景与意义</a:t>
            </a:r>
          </a:p>
        </p:txBody>
      </p:sp>
      <p:sp>
        <p:nvSpPr>
          <p:cNvPr id="14" name="文本框 13"/>
          <p:cNvSpPr txBox="1"/>
          <p:nvPr>
            <p:custDataLst>
              <p:tags r:id="rId6"/>
            </p:custDataLst>
          </p:nvPr>
        </p:nvSpPr>
        <p:spPr>
          <a:xfrm>
            <a:off x="3492425" y="1587386"/>
            <a:ext cx="8212077" cy="565604"/>
          </a:xfrm>
          <a:prstGeom prst="rect">
            <a:avLst/>
          </a:prstGeom>
          <a:noFill/>
        </p:spPr>
        <p:txBody>
          <a:bodyPr wrap="square" rtlCol="0">
            <a:spAutoFit/>
          </a:bodyPr>
          <a:lstStyle>
            <a:defPPr>
              <a:defRPr lang="zh-CN"/>
            </a:defPPr>
            <a:lvl1pPr>
              <a:lnSpc>
                <a:spcPct val="120000"/>
              </a:lnSpc>
              <a:defRPr sz="22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800" spc="300" dirty="0">
                <a:solidFill>
                  <a:srgbClr val="1F5FA0"/>
                </a:solidFill>
              </a:rPr>
              <a:t>中医药高质量数据集建设现状与挑战</a:t>
            </a:r>
          </a:p>
        </p:txBody>
      </p:sp>
      <p:sp>
        <p:nvSpPr>
          <p:cNvPr id="17" name="文本框 16"/>
          <p:cNvSpPr txBox="1"/>
          <p:nvPr>
            <p:custDataLst>
              <p:tags r:id="rId7"/>
            </p:custDataLst>
          </p:nvPr>
        </p:nvSpPr>
        <p:spPr>
          <a:xfrm>
            <a:off x="3494646" y="2392469"/>
            <a:ext cx="6982637" cy="565604"/>
          </a:xfrm>
          <a:prstGeom prst="rect">
            <a:avLst/>
          </a:prstGeom>
          <a:noFill/>
        </p:spPr>
        <p:txBody>
          <a:bodyPr wrap="square" rtlCol="0">
            <a:spAutoFit/>
          </a:bodyPr>
          <a:lstStyle>
            <a:defPPr>
              <a:defRPr lang="zh-CN"/>
            </a:defPPr>
            <a:lvl1pPr>
              <a:lnSpc>
                <a:spcPct val="120000"/>
              </a:lnSpc>
              <a:defRPr sz="22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800" spc="300" dirty="0">
                <a:solidFill>
                  <a:srgbClr val="1F5FA0"/>
                </a:solidFill>
              </a:rPr>
              <a:t>中医药高质量数据集建设目标 </a:t>
            </a:r>
          </a:p>
        </p:txBody>
      </p:sp>
      <p:sp>
        <p:nvSpPr>
          <p:cNvPr id="20" name="文本框 19"/>
          <p:cNvSpPr txBox="1"/>
          <p:nvPr>
            <p:custDataLst>
              <p:tags r:id="rId8"/>
            </p:custDataLst>
          </p:nvPr>
        </p:nvSpPr>
        <p:spPr>
          <a:xfrm>
            <a:off x="3496868" y="3215495"/>
            <a:ext cx="8209855" cy="607695"/>
          </a:xfrm>
          <a:prstGeom prst="rect">
            <a:avLst/>
          </a:prstGeom>
          <a:noFill/>
        </p:spPr>
        <p:txBody>
          <a:bodyPr wrap="square" rtlCol="0">
            <a:spAutoFit/>
          </a:bodyPr>
          <a:lstStyle>
            <a:defPPr>
              <a:defRPr lang="zh-CN"/>
            </a:defPPr>
            <a:lvl1pPr>
              <a:lnSpc>
                <a:spcPct val="120000"/>
              </a:lnSpc>
              <a:defRPr sz="22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800" spc="300" dirty="0">
                <a:solidFill>
                  <a:srgbClr val="1F5FA0"/>
                </a:solidFill>
              </a:rPr>
              <a:t>中医药高质量数据集特征</a:t>
            </a:r>
          </a:p>
        </p:txBody>
      </p:sp>
      <p:sp>
        <p:nvSpPr>
          <p:cNvPr id="22" name="文本框 21"/>
          <p:cNvSpPr txBox="1"/>
          <p:nvPr>
            <p:custDataLst>
              <p:tags r:id="rId9"/>
            </p:custDataLst>
          </p:nvPr>
        </p:nvSpPr>
        <p:spPr>
          <a:xfrm>
            <a:off x="2266638" y="3940085"/>
            <a:ext cx="1005500" cy="700769"/>
          </a:xfrm>
          <a:prstGeom prst="rect">
            <a:avLst/>
          </a:prstGeom>
          <a:noFill/>
        </p:spPr>
        <p:txBody>
          <a:bodyPr wrap="square" rtlCol="0">
            <a:spAutoFit/>
          </a:bodyPr>
          <a:lstStyle/>
          <a:p>
            <a:pPr algn="ctr">
              <a:lnSpc>
                <a:spcPct val="120000"/>
              </a:lnSpc>
            </a:pPr>
            <a:r>
              <a:rPr lang="en-US" altLang="zh-CN" sz="3600" b="1" dirty="0">
                <a:solidFill>
                  <a:schemeClr val="accent1"/>
                </a:solidFill>
                <a:latin typeface="微软雅黑" panose="020B0503020204020204" pitchFamily="34" charset="-122"/>
                <a:ea typeface="微软雅黑" panose="020B0503020204020204" pitchFamily="34" charset="-122"/>
              </a:rPr>
              <a:t>05</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sp>
        <p:nvSpPr>
          <p:cNvPr id="24" name="文本框 23"/>
          <p:cNvSpPr txBox="1"/>
          <p:nvPr>
            <p:custDataLst>
              <p:tags r:id="rId10"/>
            </p:custDataLst>
          </p:nvPr>
        </p:nvSpPr>
        <p:spPr>
          <a:xfrm>
            <a:off x="3494646" y="4007667"/>
            <a:ext cx="8065477" cy="565604"/>
          </a:xfrm>
          <a:prstGeom prst="rect">
            <a:avLst/>
          </a:prstGeom>
          <a:noFill/>
        </p:spPr>
        <p:txBody>
          <a:bodyPr wrap="square" rtlCol="0">
            <a:spAutoFit/>
          </a:bodyPr>
          <a:lstStyle>
            <a:defPPr>
              <a:defRPr lang="zh-CN"/>
            </a:defPPr>
            <a:lvl1pPr>
              <a:lnSpc>
                <a:spcPct val="120000"/>
              </a:lnSpc>
              <a:defRPr sz="22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800" spc="300" dirty="0">
                <a:solidFill>
                  <a:srgbClr val="1F5FA0"/>
                </a:solidFill>
              </a:rPr>
              <a:t>中医药高质量数据集分级分类</a:t>
            </a:r>
          </a:p>
        </p:txBody>
      </p:sp>
      <p:sp>
        <p:nvSpPr>
          <p:cNvPr id="26" name="文本框 25"/>
          <p:cNvSpPr txBox="1"/>
          <p:nvPr>
            <p:custDataLst>
              <p:tags r:id="rId11"/>
            </p:custDataLst>
          </p:nvPr>
        </p:nvSpPr>
        <p:spPr>
          <a:xfrm>
            <a:off x="2390510" y="4763111"/>
            <a:ext cx="757755" cy="700769"/>
          </a:xfrm>
          <a:prstGeom prst="rect">
            <a:avLst/>
          </a:prstGeom>
          <a:noFill/>
        </p:spPr>
        <p:txBody>
          <a:bodyPr wrap="square" rtlCol="0">
            <a:spAutoFit/>
          </a:bodyPr>
          <a:lstStyle/>
          <a:p>
            <a:pPr algn="ctr">
              <a:lnSpc>
                <a:spcPct val="120000"/>
              </a:lnSpc>
            </a:pPr>
            <a:r>
              <a:rPr lang="en-US" altLang="zh-CN" sz="3600" b="1" dirty="0">
                <a:solidFill>
                  <a:srgbClr val="1F5FA0"/>
                </a:solidFill>
                <a:latin typeface="微软雅黑" panose="020B0503020204020204" pitchFamily="34" charset="-122"/>
                <a:ea typeface="微软雅黑" panose="020B0503020204020204" pitchFamily="34" charset="-122"/>
              </a:rPr>
              <a:t>06</a:t>
            </a:r>
            <a:endParaRPr lang="zh-CN" altLang="en-US" sz="3600" b="1" dirty="0">
              <a:solidFill>
                <a:srgbClr val="1F5FA0"/>
              </a:solidFill>
              <a:latin typeface="微软雅黑" panose="020B0503020204020204" pitchFamily="34" charset="-122"/>
              <a:ea typeface="微软雅黑" panose="020B0503020204020204" pitchFamily="34" charset="-122"/>
            </a:endParaRPr>
          </a:p>
        </p:txBody>
      </p:sp>
      <p:sp>
        <p:nvSpPr>
          <p:cNvPr id="28" name="文本框 27"/>
          <p:cNvSpPr txBox="1"/>
          <p:nvPr>
            <p:custDataLst>
              <p:tags r:id="rId12"/>
            </p:custDataLst>
          </p:nvPr>
        </p:nvSpPr>
        <p:spPr>
          <a:xfrm>
            <a:off x="3494647" y="4830693"/>
            <a:ext cx="8065475" cy="565604"/>
          </a:xfrm>
          <a:prstGeom prst="rect">
            <a:avLst/>
          </a:prstGeom>
          <a:noFill/>
        </p:spPr>
        <p:txBody>
          <a:bodyPr wrap="square" rtlCol="0">
            <a:spAutoFit/>
          </a:bodyPr>
          <a:lstStyle>
            <a:defPPr>
              <a:defRPr lang="zh-CN"/>
            </a:defPPr>
            <a:lvl1pPr>
              <a:lnSpc>
                <a:spcPct val="120000"/>
              </a:lnSpc>
              <a:defRPr sz="22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800" spc="300" dirty="0">
                <a:solidFill>
                  <a:srgbClr val="1F5FA0"/>
                </a:solidFill>
              </a:rPr>
              <a:t>中医药高质量数据集建设模式与路径</a:t>
            </a:r>
          </a:p>
        </p:txBody>
      </p:sp>
      <p:cxnSp>
        <p:nvCxnSpPr>
          <p:cNvPr id="30" name="直接连接符 29"/>
          <p:cNvCxnSpPr/>
          <p:nvPr>
            <p:custDataLst>
              <p:tags r:id="rId13"/>
            </p:custDataLst>
          </p:nvPr>
        </p:nvCxnSpPr>
        <p:spPr>
          <a:xfrm>
            <a:off x="3281041" y="788709"/>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custDataLst>
              <p:tags r:id="rId14"/>
            </p:custDataLst>
          </p:nvPr>
        </p:nvCxnSpPr>
        <p:spPr>
          <a:xfrm>
            <a:off x="3281044" y="1618188"/>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custDataLst>
              <p:tags r:id="rId15"/>
            </p:custDataLst>
          </p:nvPr>
        </p:nvCxnSpPr>
        <p:spPr>
          <a:xfrm>
            <a:off x="3274359" y="2423271"/>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custDataLst>
              <p:tags r:id="rId16"/>
            </p:custDataLst>
          </p:nvPr>
        </p:nvCxnSpPr>
        <p:spPr>
          <a:xfrm>
            <a:off x="3283266" y="3246297"/>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17"/>
            </p:custDataLst>
          </p:nvPr>
        </p:nvCxnSpPr>
        <p:spPr>
          <a:xfrm>
            <a:off x="3274024" y="4038469"/>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18"/>
            </p:custDataLst>
          </p:nvPr>
        </p:nvCxnSpPr>
        <p:spPr>
          <a:xfrm>
            <a:off x="3281044" y="4861495"/>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5" name="文本框 4"/>
          <p:cNvSpPr txBox="1"/>
          <p:nvPr>
            <p:custDataLst>
              <p:tags r:id="rId19"/>
            </p:custDataLst>
          </p:nvPr>
        </p:nvSpPr>
        <p:spPr>
          <a:xfrm>
            <a:off x="2390510" y="5555283"/>
            <a:ext cx="757755" cy="700769"/>
          </a:xfrm>
          <a:prstGeom prst="rect">
            <a:avLst/>
          </a:prstGeom>
          <a:noFill/>
        </p:spPr>
        <p:txBody>
          <a:bodyPr wrap="square" rtlCol="0">
            <a:spAutoFit/>
          </a:bodyPr>
          <a:lstStyle/>
          <a:p>
            <a:pPr algn="ctr">
              <a:lnSpc>
                <a:spcPct val="120000"/>
              </a:lnSpc>
            </a:pPr>
            <a:r>
              <a:rPr lang="en-US" altLang="zh-CN" sz="3600" b="1" dirty="0">
                <a:solidFill>
                  <a:srgbClr val="1F5FA0"/>
                </a:solidFill>
                <a:latin typeface="微软雅黑" panose="020B0503020204020204" pitchFamily="34" charset="-122"/>
                <a:ea typeface="微软雅黑" panose="020B0503020204020204" pitchFamily="34" charset="-122"/>
              </a:rPr>
              <a:t>07</a:t>
            </a:r>
            <a:endParaRPr lang="zh-CN" altLang="en-US" sz="3600" b="1" dirty="0">
              <a:solidFill>
                <a:srgbClr val="1F5FA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20"/>
            </p:custDataLst>
          </p:nvPr>
        </p:nvSpPr>
        <p:spPr>
          <a:xfrm>
            <a:off x="3494647" y="5622865"/>
            <a:ext cx="8065475" cy="565604"/>
          </a:xfrm>
          <a:prstGeom prst="rect">
            <a:avLst/>
          </a:prstGeom>
          <a:noFill/>
        </p:spPr>
        <p:txBody>
          <a:bodyPr wrap="square" rtlCol="0">
            <a:spAutoFit/>
          </a:bodyPr>
          <a:lstStyle>
            <a:defPPr>
              <a:defRPr lang="zh-CN"/>
            </a:defPPr>
            <a:lvl1pPr>
              <a:lnSpc>
                <a:spcPct val="120000"/>
              </a:lnSpc>
              <a:defRPr sz="2200" b="1">
                <a:solidFill>
                  <a:schemeClr val="tx1">
                    <a:lumMod val="95000"/>
                    <a:lumOff val="5000"/>
                  </a:schemeClr>
                </a:solidFill>
                <a:latin typeface="微软雅黑" panose="020B0503020204020204" pitchFamily="34" charset="-122"/>
                <a:ea typeface="微软雅黑" panose="020B0503020204020204" pitchFamily="34" charset="-122"/>
              </a:defRPr>
            </a:lvl1pPr>
          </a:lstStyle>
          <a:p>
            <a:r>
              <a:rPr lang="zh-CN" altLang="en-US" sz="2800" spc="300" dirty="0">
                <a:solidFill>
                  <a:srgbClr val="1F5FA0"/>
                </a:solidFill>
              </a:rPr>
              <a:t>展望和建议</a:t>
            </a:r>
          </a:p>
        </p:txBody>
      </p:sp>
      <p:cxnSp>
        <p:nvCxnSpPr>
          <p:cNvPr id="12" name="直接连接符 11"/>
          <p:cNvCxnSpPr/>
          <p:nvPr>
            <p:custDataLst>
              <p:tags r:id="rId21"/>
            </p:custDataLst>
          </p:nvPr>
        </p:nvCxnSpPr>
        <p:spPr>
          <a:xfrm>
            <a:off x="3281044" y="5653667"/>
            <a:ext cx="0" cy="504000"/>
          </a:xfrm>
          <a:prstGeom prst="line">
            <a:avLst/>
          </a:prstGeom>
          <a:ln w="15875">
            <a:solidFill>
              <a:schemeClr val="accent1">
                <a:alpha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0" y="0"/>
            <a:ext cx="2064142" cy="6858000"/>
          </a:xfrm>
          <a:prstGeom prst="rect">
            <a:avLst/>
          </a:prstGeom>
          <a:gradFill flip="none" rotWithShape="1">
            <a:gsLst>
              <a:gs pos="0">
                <a:schemeClr val="accent1">
                  <a:alpha val="50000"/>
                </a:schemeClr>
              </a:gs>
              <a:gs pos="100000">
                <a:schemeClr val="accent1"/>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46883" y="2533979"/>
            <a:ext cx="1997246" cy="1863725"/>
          </a:xfrm>
          <a:prstGeom prst="rect">
            <a:avLst/>
          </a:prstGeom>
          <a:noFill/>
        </p:spPr>
        <p:txBody>
          <a:bodyPr wrap="square" rtlCol="0">
            <a:spAutoFit/>
          </a:bodyPr>
          <a:lstStyle/>
          <a:p>
            <a:pPr algn="ctr">
              <a:lnSpc>
                <a:spcPct val="120000"/>
              </a:lnSpc>
            </a:pPr>
            <a:r>
              <a:rPr lang="zh-CN" altLang="en-US" sz="4800" b="1" dirty="0">
                <a:solidFill>
                  <a:schemeClr val="bg1"/>
                </a:solidFill>
                <a:latin typeface="微软雅黑" panose="020B0503020204020204" pitchFamily="34" charset="-122"/>
                <a:ea typeface="微软雅黑" panose="020B0503020204020204" pitchFamily="34" charset="-122"/>
              </a:rPr>
              <a:t>共识内容</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7886"/>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中医药高质量数据集建设的背景与意义</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01</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圆角 31"/>
          <p:cNvSpPr/>
          <p:nvPr/>
        </p:nvSpPr>
        <p:spPr>
          <a:xfrm>
            <a:off x="8597465" y="1674192"/>
            <a:ext cx="3121435" cy="4833425"/>
          </a:xfrm>
          <a:prstGeom prst="roundRect">
            <a:avLst>
              <a:gd name="adj" fmla="val 2890"/>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圆角 30"/>
          <p:cNvSpPr/>
          <p:nvPr/>
        </p:nvSpPr>
        <p:spPr>
          <a:xfrm>
            <a:off x="600476" y="5003321"/>
            <a:ext cx="7637590" cy="1504296"/>
          </a:xfrm>
          <a:prstGeom prst="roundRect">
            <a:avLst>
              <a:gd name="adj" fmla="val 4249"/>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p:txBody>
          <a:bodyPr/>
          <a:lstStyle/>
          <a:p>
            <a:r>
              <a:rPr lang="zh-CN" altLang="en-US" dirty="0"/>
              <a:t>中医药数据相关概念及基本特征</a:t>
            </a:r>
          </a:p>
        </p:txBody>
      </p:sp>
      <p:sp>
        <p:nvSpPr>
          <p:cNvPr id="15" name="矩形: 圆角 14"/>
          <p:cNvSpPr/>
          <p:nvPr/>
        </p:nvSpPr>
        <p:spPr>
          <a:xfrm>
            <a:off x="600477" y="1674193"/>
            <a:ext cx="7637590" cy="2856184"/>
          </a:xfrm>
          <a:prstGeom prst="roundRect">
            <a:avLst>
              <a:gd name="adj" fmla="val 5828"/>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600476" y="1750955"/>
            <a:ext cx="7677440" cy="2738827"/>
          </a:xfrm>
          <a:prstGeom prst="rect">
            <a:avLst/>
          </a:prstGeom>
          <a:noFill/>
        </p:spPr>
        <p:txBody>
          <a:bodyPr wrap="square">
            <a:spAutoFit/>
          </a:bodyPr>
          <a:lstStyle/>
          <a:p>
            <a:pPr marL="285750" indent="-285750" algn="l">
              <a:lnSpc>
                <a:spcPct val="120000"/>
              </a:lnSpc>
              <a:spcAft>
                <a:spcPts val="600"/>
              </a:spcAft>
              <a:buFont typeface="Wingdings" panose="05000000000000000000" pitchFamily="2" charset="2"/>
              <a:buChar char="Ø"/>
            </a:pPr>
            <a:r>
              <a:rPr lang="zh-CN" altLang="en-US" sz="1600" b="1" i="0" dirty="0">
                <a:solidFill>
                  <a:srgbClr val="C00000"/>
                </a:solidFill>
                <a:effectLst/>
                <a:latin typeface="微软雅黑" panose="020B0503020204020204" pitchFamily="34" charset="-122"/>
                <a:ea typeface="微软雅黑" panose="020B0503020204020204" pitchFamily="34" charset="-122"/>
              </a:rPr>
              <a:t>数据</a:t>
            </a:r>
            <a:r>
              <a:rPr lang="zh-CN" altLang="en-US" sz="1600" b="0" i="0" dirty="0">
                <a:solidFill>
                  <a:srgbClr val="000000"/>
                </a:solidFill>
                <a:effectLst/>
                <a:latin typeface="微软雅黑" panose="020B0503020204020204" pitchFamily="34" charset="-122"/>
                <a:ea typeface="微软雅黑" panose="020B0503020204020204" pitchFamily="34" charset="-122"/>
              </a:rPr>
              <a:t>是指任何以电子或其他方式对信息的记录。</a:t>
            </a:r>
            <a:endParaRPr lang="en-US" altLang="zh-CN" sz="1600" b="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spcAft>
                <a:spcPts val="600"/>
              </a:spcAft>
              <a:buFont typeface="Wingdings" panose="05000000000000000000" pitchFamily="2" charset="2"/>
              <a:buChar char="Ø"/>
            </a:pPr>
            <a:r>
              <a:rPr lang="zh-CN" altLang="en-US" sz="1600" b="1" i="0" dirty="0">
                <a:solidFill>
                  <a:srgbClr val="C00000"/>
                </a:solidFill>
                <a:effectLst/>
                <a:latin typeface="微软雅黑" panose="020B0503020204020204" pitchFamily="34" charset="-122"/>
                <a:ea typeface="微软雅黑" panose="020B0503020204020204" pitchFamily="34" charset="-122"/>
              </a:rPr>
              <a:t>中医药数据</a:t>
            </a:r>
            <a:r>
              <a:rPr lang="zh-CN" altLang="en-US" sz="1600" b="0" i="0" dirty="0">
                <a:solidFill>
                  <a:srgbClr val="000000"/>
                </a:solidFill>
                <a:effectLst/>
                <a:latin typeface="微软雅黑" panose="020B0503020204020204" pitchFamily="34" charset="-122"/>
                <a:ea typeface="微软雅黑" panose="020B0503020204020204" pitchFamily="34" charset="-122"/>
              </a:rPr>
              <a:t>是指任何以电子或其他方式对中医药领域各类信息所做的记录。</a:t>
            </a:r>
            <a:endParaRPr lang="en-US" altLang="zh-CN" sz="1600" b="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spcAft>
                <a:spcPts val="600"/>
              </a:spcAft>
              <a:buFont typeface="Wingdings" panose="05000000000000000000" pitchFamily="2" charset="2"/>
              <a:buChar char="Ø"/>
            </a:pPr>
            <a:r>
              <a:rPr lang="zh-CN" altLang="en-US" sz="1600" b="1" i="0" dirty="0">
                <a:solidFill>
                  <a:srgbClr val="C00000"/>
                </a:solidFill>
                <a:effectLst/>
                <a:latin typeface="微软雅黑" panose="020B0503020204020204" pitchFamily="34" charset="-122"/>
                <a:ea typeface="微软雅黑" panose="020B0503020204020204" pitchFamily="34" charset="-122"/>
              </a:rPr>
              <a:t>中医药原始数据</a:t>
            </a:r>
            <a:r>
              <a:rPr lang="zh-CN" altLang="en-US" sz="1600" b="0" i="0" dirty="0">
                <a:solidFill>
                  <a:srgbClr val="000000"/>
                </a:solidFill>
                <a:effectLst/>
                <a:latin typeface="微软雅黑" panose="020B0503020204020204" pitchFamily="34" charset="-122"/>
                <a:ea typeface="微软雅黑" panose="020B0503020204020204" pitchFamily="34" charset="-122"/>
              </a:rPr>
              <a:t>是指中医药领域中初次产生或源头收集的、未经任何加工处理的数据，是构成中医药信息的基本单元。</a:t>
            </a:r>
            <a:endParaRPr lang="en-US" altLang="zh-CN" sz="1600" b="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spcAft>
                <a:spcPts val="600"/>
              </a:spcAft>
              <a:buFont typeface="Wingdings" panose="05000000000000000000" pitchFamily="2" charset="2"/>
              <a:buChar char="Ø"/>
            </a:pPr>
            <a:r>
              <a:rPr lang="zh-CN" altLang="en-US" sz="1600" b="1" i="0" dirty="0">
                <a:solidFill>
                  <a:srgbClr val="C00000"/>
                </a:solidFill>
                <a:effectLst/>
                <a:latin typeface="微软雅黑" panose="020B0503020204020204" pitchFamily="34" charset="-122"/>
                <a:ea typeface="微软雅黑" panose="020B0503020204020204" pitchFamily="34" charset="-122"/>
              </a:rPr>
              <a:t>中医药数据资源</a:t>
            </a:r>
            <a:r>
              <a:rPr lang="zh-CN" altLang="en-US" sz="1600" b="0" i="0" dirty="0">
                <a:solidFill>
                  <a:srgbClr val="000000"/>
                </a:solidFill>
                <a:effectLst/>
                <a:latin typeface="微软雅黑" panose="020B0503020204020204" pitchFamily="34" charset="-122"/>
                <a:ea typeface="微软雅黑" panose="020B0503020204020204" pitchFamily="34" charset="-122"/>
              </a:rPr>
              <a:t>是指中医药领域内具有价值创造潜力、以电子化形式记录和保存、可机器读取、可供社会化再利用的数据集合，是支撑中医药领域数字化的基础。</a:t>
            </a:r>
            <a:endParaRPr lang="en-US" altLang="zh-CN" sz="1600" b="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spcAft>
                <a:spcPts val="600"/>
              </a:spcAft>
              <a:buFont typeface="Wingdings" panose="05000000000000000000" pitchFamily="2" charset="2"/>
              <a:buChar char="Ø"/>
            </a:pPr>
            <a:r>
              <a:rPr lang="zh-CN" altLang="en-US" sz="1600" b="1" i="0" dirty="0">
                <a:solidFill>
                  <a:srgbClr val="C00000"/>
                </a:solidFill>
                <a:effectLst/>
                <a:latin typeface="微软雅黑" panose="020B0503020204020204" pitchFamily="34" charset="-122"/>
                <a:ea typeface="微软雅黑" panose="020B0503020204020204" pitchFamily="34" charset="-122"/>
              </a:rPr>
              <a:t>中医药数据要素</a:t>
            </a:r>
            <a:r>
              <a:rPr lang="zh-CN" altLang="en-US" sz="1600" b="0" i="0" dirty="0">
                <a:solidFill>
                  <a:srgbClr val="000000"/>
                </a:solidFill>
                <a:effectLst/>
                <a:latin typeface="微软雅黑" panose="020B0503020204020204" pitchFamily="34" charset="-122"/>
                <a:ea typeface="微软雅黑" panose="020B0503020204020204" pitchFamily="34" charset="-122"/>
              </a:rPr>
              <a:t>是中医药领域内可被投入到生产经营活动中、直接或间接参与价值创造的数据资源，是驱动中医药现代化与数智化转型的新型生产要素。</a:t>
            </a:r>
          </a:p>
        </p:txBody>
      </p:sp>
      <p:sp>
        <p:nvSpPr>
          <p:cNvPr id="20" name="文本框 19"/>
          <p:cNvSpPr txBox="1"/>
          <p:nvPr/>
        </p:nvSpPr>
        <p:spPr>
          <a:xfrm>
            <a:off x="627476" y="4948405"/>
            <a:ext cx="7320198" cy="1577868"/>
          </a:xfrm>
          <a:prstGeom prst="rect">
            <a:avLst/>
          </a:prstGeom>
          <a:noFill/>
        </p:spPr>
        <p:txBody>
          <a:bodyPr wrap="square">
            <a:spAutoFit/>
          </a:bodyPr>
          <a:lstStyle/>
          <a:p>
            <a:pPr marL="285750" indent="-285750" algn="l">
              <a:lnSpc>
                <a:spcPct val="120000"/>
              </a:lnSpc>
              <a:spcAft>
                <a:spcPts val="400"/>
              </a:spcAft>
              <a:buFont typeface="Wingdings" panose="05000000000000000000" pitchFamily="2" charset="2"/>
              <a:buChar char="Ø"/>
            </a:pPr>
            <a:r>
              <a:rPr lang="zh-CN" altLang="en-US" sz="1600" b="1" i="0" dirty="0">
                <a:solidFill>
                  <a:srgbClr val="000000"/>
                </a:solidFill>
                <a:effectLst/>
                <a:latin typeface="微软雅黑" panose="020B0503020204020204" pitchFamily="34" charset="-122"/>
                <a:ea typeface="微软雅黑" panose="020B0503020204020204" pitchFamily="34" charset="-122"/>
              </a:rPr>
              <a:t>领域专属性</a:t>
            </a:r>
            <a:endParaRPr lang="en-US" altLang="zh-CN" sz="1600" b="1"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00000"/>
              </a:lnSpc>
              <a:spcAft>
                <a:spcPts val="400"/>
              </a:spcAft>
              <a:buFont typeface="Wingdings" panose="05000000000000000000" pitchFamily="2" charset="2"/>
              <a:buChar char="Ø"/>
            </a:pPr>
            <a:r>
              <a:rPr lang="zh-CN" altLang="en-US" sz="1600" b="1" i="0" dirty="0">
                <a:solidFill>
                  <a:srgbClr val="000000"/>
                </a:solidFill>
                <a:effectLst/>
                <a:latin typeface="微软雅黑" panose="020B0503020204020204" pitchFamily="34" charset="-122"/>
                <a:ea typeface="微软雅黑" panose="020B0503020204020204" pitchFamily="34" charset="-122"/>
              </a:rPr>
              <a:t>多模态交叉属性</a:t>
            </a:r>
            <a:endParaRPr lang="en-US" altLang="zh-CN" sz="1600" b="1"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00000"/>
              </a:lnSpc>
              <a:spcAft>
                <a:spcPts val="400"/>
              </a:spcAft>
              <a:buFont typeface="Wingdings" panose="05000000000000000000" pitchFamily="2" charset="2"/>
              <a:buChar char="Ø"/>
            </a:pPr>
            <a:r>
              <a:rPr lang="zh-CN" altLang="en-US" sz="1600" b="1" i="0" dirty="0">
                <a:solidFill>
                  <a:srgbClr val="000000"/>
                </a:solidFill>
                <a:effectLst/>
                <a:latin typeface="微软雅黑" panose="020B0503020204020204" pitchFamily="34" charset="-122"/>
                <a:ea typeface="微软雅黑" panose="020B0503020204020204" pitchFamily="34" charset="-122"/>
              </a:rPr>
              <a:t>源广泛、形态多样，结构化、半结构化与非结构化数据并存</a:t>
            </a:r>
            <a:endParaRPr lang="en-US" altLang="zh-CN" sz="1600" b="1"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00000"/>
              </a:lnSpc>
              <a:spcAft>
                <a:spcPts val="400"/>
              </a:spcAft>
              <a:buFont typeface="Wingdings" panose="05000000000000000000" pitchFamily="2" charset="2"/>
              <a:buChar char="Ø"/>
            </a:pPr>
            <a:r>
              <a:rPr lang="zh-CN" altLang="en-US" sz="1600" b="1" i="0" dirty="0">
                <a:solidFill>
                  <a:srgbClr val="000000"/>
                </a:solidFill>
                <a:effectLst/>
                <a:latin typeface="微软雅黑" panose="020B0503020204020204" pitchFamily="34" charset="-122"/>
                <a:ea typeface="微软雅黑" panose="020B0503020204020204" pitchFamily="34" charset="-122"/>
              </a:rPr>
              <a:t>强语义依赖性与知识关联性</a:t>
            </a:r>
            <a:endParaRPr lang="en-US" altLang="zh-CN" sz="1600" b="1"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00000"/>
              </a:lnSpc>
              <a:spcAft>
                <a:spcPts val="400"/>
              </a:spcAft>
              <a:buFont typeface="Wingdings" panose="05000000000000000000" pitchFamily="2" charset="2"/>
              <a:buChar char="Ø"/>
            </a:pPr>
            <a:r>
              <a:rPr lang="zh-CN" altLang="en-US" sz="1600" b="1" i="0" dirty="0">
                <a:solidFill>
                  <a:srgbClr val="000000"/>
                </a:solidFill>
                <a:effectLst/>
                <a:latin typeface="微软雅黑" panose="020B0503020204020204" pitchFamily="34" charset="-122"/>
                <a:ea typeface="微软雅黑" panose="020B0503020204020204" pitchFamily="34" charset="-122"/>
              </a:rPr>
              <a:t>海量碎片化</a:t>
            </a:r>
          </a:p>
        </p:txBody>
      </p:sp>
      <p:sp>
        <p:nvSpPr>
          <p:cNvPr id="30" name="文本框 29"/>
          <p:cNvSpPr txBox="1"/>
          <p:nvPr/>
        </p:nvSpPr>
        <p:spPr>
          <a:xfrm>
            <a:off x="8693778" y="2120126"/>
            <a:ext cx="2897746" cy="1526187"/>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教育机构、研究机构、医疗机构、商业机构、政府机构、国际组织、学会</a:t>
            </a:r>
            <a:r>
              <a:rPr lang="en-US" altLang="zh-CN" sz="1600" b="0" i="0" dirty="0">
                <a:solidFill>
                  <a:srgbClr val="000000"/>
                </a:solidFill>
                <a:effectLst/>
                <a:latin typeface="微软雅黑" panose="020B0503020204020204" pitchFamily="34" charset="-122"/>
                <a:ea typeface="微软雅黑" panose="020B0503020204020204" pitchFamily="34" charset="-122"/>
              </a:rPr>
              <a:t>/</a:t>
            </a:r>
            <a:r>
              <a:rPr lang="zh-CN" altLang="en-US" sz="1600" b="0" i="0" dirty="0">
                <a:solidFill>
                  <a:srgbClr val="000000"/>
                </a:solidFill>
                <a:effectLst/>
                <a:latin typeface="微软雅黑" panose="020B0503020204020204" pitchFamily="34" charset="-122"/>
                <a:ea typeface="微软雅黑" panose="020B0503020204020204" pitchFamily="34" charset="-122"/>
              </a:rPr>
              <a:t>协会、出版机构、个人、其他等</a:t>
            </a:r>
          </a:p>
        </p:txBody>
      </p:sp>
      <p:grpSp>
        <p:nvGrpSpPr>
          <p:cNvPr id="3" name="组合 2"/>
          <p:cNvGrpSpPr/>
          <p:nvPr/>
        </p:nvGrpSpPr>
        <p:grpSpPr>
          <a:xfrm>
            <a:off x="600476" y="1247188"/>
            <a:ext cx="5219478" cy="430374"/>
            <a:chOff x="554756" y="1295181"/>
            <a:chExt cx="5219478" cy="430374"/>
          </a:xfrm>
        </p:grpSpPr>
        <p:sp>
          <p:nvSpPr>
            <p:cNvPr id="16" name="文本框 15"/>
            <p:cNvSpPr txBox="1"/>
            <p:nvPr/>
          </p:nvSpPr>
          <p:spPr>
            <a:xfrm>
              <a:off x="651069" y="1295181"/>
              <a:ext cx="5123165" cy="430374"/>
            </a:xfrm>
            <a:prstGeom prst="rect">
              <a:avLst/>
            </a:prstGeom>
            <a:noFill/>
          </p:spPr>
          <p:txBody>
            <a:bodyPr wrap="square" rtlCol="0">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中医药数据相关概念 </a:t>
              </a:r>
            </a:p>
          </p:txBody>
        </p:sp>
        <p:sp>
          <p:nvSpPr>
            <p:cNvPr id="2" name="矩形 1"/>
            <p:cNvSpPr/>
            <p:nvPr/>
          </p:nvSpPr>
          <p:spPr>
            <a:xfrm>
              <a:off x="554756" y="1404466"/>
              <a:ext cx="540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5"/>
          <p:cNvGrpSpPr/>
          <p:nvPr/>
        </p:nvGrpSpPr>
        <p:grpSpPr>
          <a:xfrm>
            <a:off x="600476" y="4530377"/>
            <a:ext cx="4161305" cy="430374"/>
            <a:chOff x="600476" y="3954943"/>
            <a:chExt cx="4161305" cy="430374"/>
          </a:xfrm>
        </p:grpSpPr>
        <p:sp>
          <p:nvSpPr>
            <p:cNvPr id="19" name="文本框 18"/>
            <p:cNvSpPr txBox="1"/>
            <p:nvPr/>
          </p:nvSpPr>
          <p:spPr>
            <a:xfrm>
              <a:off x="688949" y="3954943"/>
              <a:ext cx="4072832" cy="430374"/>
            </a:xfrm>
            <a:prstGeom prst="rect">
              <a:avLst/>
            </a:prstGeom>
            <a:noFill/>
          </p:spPr>
          <p:txBody>
            <a:bodyPr wrap="square" rtlCol="0">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中医药数据特征 </a:t>
              </a:r>
            </a:p>
          </p:txBody>
        </p:sp>
        <p:sp>
          <p:nvSpPr>
            <p:cNvPr id="5" name="矩形 4"/>
            <p:cNvSpPr/>
            <p:nvPr/>
          </p:nvSpPr>
          <p:spPr>
            <a:xfrm>
              <a:off x="600476" y="4056830"/>
              <a:ext cx="540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8597465" y="1243818"/>
            <a:ext cx="2817828" cy="430374"/>
            <a:chOff x="554756" y="1295181"/>
            <a:chExt cx="2817828" cy="430374"/>
          </a:xfrm>
        </p:grpSpPr>
        <p:sp>
          <p:nvSpPr>
            <p:cNvPr id="11" name="文本框 10"/>
            <p:cNvSpPr txBox="1"/>
            <p:nvPr/>
          </p:nvSpPr>
          <p:spPr>
            <a:xfrm>
              <a:off x="651069" y="1295181"/>
              <a:ext cx="2721515" cy="430374"/>
            </a:xfrm>
            <a:prstGeom prst="rect">
              <a:avLst/>
            </a:prstGeom>
            <a:noFill/>
          </p:spPr>
          <p:txBody>
            <a:bodyPr wrap="square" rtlCol="0">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中医药数据集分类 </a:t>
              </a:r>
            </a:p>
          </p:txBody>
        </p:sp>
        <p:sp>
          <p:nvSpPr>
            <p:cNvPr id="12" name="矩形 11"/>
            <p:cNvSpPr/>
            <p:nvPr/>
          </p:nvSpPr>
          <p:spPr>
            <a:xfrm>
              <a:off x="554756" y="1404466"/>
              <a:ext cx="540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3"/>
          <p:cNvSpPr txBox="1"/>
          <p:nvPr/>
        </p:nvSpPr>
        <p:spPr>
          <a:xfrm>
            <a:off x="8693778" y="1774828"/>
            <a:ext cx="2420338"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按数据创建者类型</a:t>
            </a:r>
          </a:p>
        </p:txBody>
      </p:sp>
      <p:sp>
        <p:nvSpPr>
          <p:cNvPr id="21" name="文本框 20"/>
          <p:cNvSpPr txBox="1"/>
          <p:nvPr/>
        </p:nvSpPr>
        <p:spPr>
          <a:xfrm>
            <a:off x="8693778" y="4052971"/>
            <a:ext cx="2897746" cy="787523"/>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历史文献、学术出版物、原始记录、其他</a:t>
            </a:r>
          </a:p>
        </p:txBody>
      </p:sp>
      <p:sp>
        <p:nvSpPr>
          <p:cNvPr id="22" name="文本框 21"/>
          <p:cNvSpPr txBox="1"/>
          <p:nvPr/>
        </p:nvSpPr>
        <p:spPr>
          <a:xfrm>
            <a:off x="8693778" y="3656388"/>
            <a:ext cx="2223419"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按数据来源类型</a:t>
            </a:r>
          </a:p>
        </p:txBody>
      </p:sp>
      <p:sp>
        <p:nvSpPr>
          <p:cNvPr id="8" name="文本框 7"/>
          <p:cNvSpPr txBox="1"/>
          <p:nvPr/>
        </p:nvSpPr>
        <p:spPr>
          <a:xfrm>
            <a:off x="8693778" y="5250131"/>
            <a:ext cx="2897746" cy="1156855"/>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中医药事业管理、中医、中药、针灸、中医药少数民族医药、其他，及各类型下细分数据</a:t>
            </a:r>
          </a:p>
        </p:txBody>
      </p:sp>
      <p:sp>
        <p:nvSpPr>
          <p:cNvPr id="13" name="文本框 12"/>
          <p:cNvSpPr txBox="1"/>
          <p:nvPr/>
        </p:nvSpPr>
        <p:spPr>
          <a:xfrm>
            <a:off x="8693778" y="4853548"/>
            <a:ext cx="2223419"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按数据主题类型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中医药高质量数据集基本概念</a:t>
            </a:r>
            <a:endParaRPr lang="zh-CN" altLang="en-US" b="1" dirty="0">
              <a:solidFill>
                <a:srgbClr val="000000"/>
              </a:solidFill>
              <a:latin typeface="微软雅黑" panose="020B0503020204020204" pitchFamily="34" charset="-122"/>
              <a:ea typeface="微软雅黑" panose="020B0503020204020204" pitchFamily="34" charset="-122"/>
              <a:sym typeface="+mn-ea"/>
            </a:endParaRP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254635" y="1155065"/>
            <a:ext cx="5296535" cy="1345565"/>
          </a:xfrm>
          <a:prstGeom prst="rect">
            <a:avLst/>
          </a:prstGeom>
          <a:noFill/>
        </p:spPr>
        <p:txBody>
          <a:bodyPr wrap="square" rtlCol="0">
            <a:spAutoFit/>
          </a:bodyPr>
          <a:lstStyle/>
          <a:p>
            <a:pPr algn="just">
              <a:lnSpc>
                <a:spcPct val="120000"/>
              </a:lnSpc>
            </a:pPr>
            <a:r>
              <a:rPr kumimoji="1" lang="en-US" altLang="zh-CN" sz="17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2024 </a:t>
            </a:r>
            <a:r>
              <a:rPr kumimoji="1" lang="zh-CN" altLang="en-US" sz="17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年，国家发展改革委员会等部门印发</a:t>
            </a:r>
            <a:r>
              <a:rPr kumimoji="1" lang="en-US" altLang="zh-CN" sz="1700" b="1" dirty="0">
                <a:solidFill>
                  <a:srgbClr val="003F88"/>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700" b="1" dirty="0">
                <a:solidFill>
                  <a:srgbClr val="003F88"/>
                </a:solidFill>
                <a:latin typeface="微软雅黑" panose="020B0503020204020204" pitchFamily="34" charset="-122"/>
                <a:ea typeface="微软雅黑" panose="020B0503020204020204" pitchFamily="34" charset="-122"/>
                <a:cs typeface="Open Sans" panose="020B0606030504020204" pitchFamily="34" charset="0"/>
              </a:rPr>
              <a:t>关于促进数据产业高质量发展的指导意见</a:t>
            </a:r>
            <a:r>
              <a:rPr kumimoji="1" lang="en-US" altLang="zh-CN" sz="1700" b="1" dirty="0">
                <a:solidFill>
                  <a:srgbClr val="003F88"/>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700" b="1"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700" b="1" dirty="0">
                <a:solidFill>
                  <a:srgbClr val="C00000"/>
                </a:solidFill>
                <a:latin typeface="微软雅黑" panose="020B0503020204020204" pitchFamily="34" charset="-122"/>
                <a:ea typeface="微软雅黑" panose="020B0503020204020204" pitchFamily="34" charset="-122"/>
                <a:cs typeface="Open Sans" panose="020B0606030504020204" pitchFamily="34" charset="0"/>
              </a:rPr>
              <a:t>首次明确提出高质量数据集建设是推动 </a:t>
            </a:r>
            <a:r>
              <a:rPr kumimoji="1" lang="en-US" altLang="zh-CN" sz="1700" b="1" dirty="0">
                <a:solidFill>
                  <a:srgbClr val="C00000"/>
                </a:solidFill>
                <a:latin typeface="微软雅黑" panose="020B0503020204020204" pitchFamily="34" charset="-122"/>
                <a:ea typeface="微软雅黑" panose="020B0503020204020204" pitchFamily="34" charset="-122"/>
                <a:cs typeface="Open Sans" panose="020B0606030504020204" pitchFamily="34" charset="0"/>
              </a:rPr>
              <a:t>AI </a:t>
            </a:r>
            <a:r>
              <a:rPr kumimoji="1" lang="zh-CN" altLang="en-US" sz="1700" b="1" dirty="0">
                <a:solidFill>
                  <a:srgbClr val="C00000"/>
                </a:solidFill>
                <a:latin typeface="微软雅黑" panose="020B0503020204020204" pitchFamily="34" charset="-122"/>
                <a:ea typeface="微软雅黑" panose="020B0503020204020204" pitchFamily="34" charset="-122"/>
                <a:cs typeface="Open Sans" panose="020B0606030504020204" pitchFamily="34" charset="0"/>
              </a:rPr>
              <a:t>与实体经济深度融合的重要基础。</a:t>
            </a:r>
          </a:p>
        </p:txBody>
      </p:sp>
      <p:sp>
        <p:nvSpPr>
          <p:cNvPr id="35" name="文本框 34"/>
          <p:cNvSpPr txBox="1"/>
          <p:nvPr/>
        </p:nvSpPr>
        <p:spPr>
          <a:xfrm>
            <a:off x="5854065" y="1155065"/>
            <a:ext cx="5784215" cy="1345565"/>
          </a:xfrm>
          <a:prstGeom prst="rect">
            <a:avLst/>
          </a:prstGeom>
          <a:noFill/>
        </p:spPr>
        <p:txBody>
          <a:bodyPr wrap="square" rtlCol="0">
            <a:spAutoFit/>
          </a:bodyPr>
          <a:lstStyle/>
          <a:p>
            <a:pPr algn="just">
              <a:lnSpc>
                <a:spcPct val="120000"/>
              </a:lnSpc>
            </a:pPr>
            <a:r>
              <a:rPr kumimoji="1" lang="en-US" altLang="zh-CN" sz="17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2025</a:t>
            </a:r>
            <a:r>
              <a:rPr kumimoji="1" lang="zh-CN" altLang="en-US" sz="17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年，国家数据局等部门联合发布</a:t>
            </a:r>
            <a:r>
              <a:rPr kumimoji="1" lang="en-US" altLang="zh-CN" sz="1700" b="1" dirty="0">
                <a:solidFill>
                  <a:srgbClr val="003F88"/>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700" b="1" dirty="0">
                <a:solidFill>
                  <a:srgbClr val="003F88"/>
                </a:solidFill>
                <a:latin typeface="微软雅黑" panose="020B0503020204020204" pitchFamily="34" charset="-122"/>
                <a:ea typeface="微软雅黑" panose="020B0503020204020204" pitchFamily="34" charset="-122"/>
                <a:cs typeface="Open Sans" panose="020B0606030504020204" pitchFamily="34" charset="0"/>
              </a:rPr>
              <a:t>高质量数据集建设指引</a:t>
            </a:r>
            <a:r>
              <a:rPr kumimoji="1" lang="en-US" altLang="zh-CN" sz="1700" b="1" dirty="0">
                <a:solidFill>
                  <a:srgbClr val="003F88"/>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7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700" b="1" dirty="0">
                <a:solidFill>
                  <a:srgbClr val="C00000"/>
                </a:solidFill>
                <a:latin typeface="微软雅黑" panose="020B0503020204020204" pitchFamily="34" charset="-122"/>
                <a:ea typeface="微软雅黑" panose="020B0503020204020204" pitchFamily="34" charset="-122"/>
                <a:cs typeface="Open Sans" panose="020B0606030504020204" pitchFamily="34" charset="0"/>
              </a:rPr>
              <a:t>进一步提出高质量数据集是经规范化采集、加工、治理和质量评测后，可直接用于</a:t>
            </a:r>
            <a:r>
              <a:rPr kumimoji="1" lang="en-US" altLang="zh-CN" sz="1700" b="1" dirty="0">
                <a:solidFill>
                  <a:srgbClr val="C00000"/>
                </a:solidFill>
                <a:latin typeface="微软雅黑" panose="020B0503020204020204" pitchFamily="34" charset="-122"/>
                <a:ea typeface="微软雅黑" panose="020B0503020204020204" pitchFamily="34" charset="-122"/>
                <a:cs typeface="Open Sans" panose="020B0606030504020204" pitchFamily="34" charset="0"/>
              </a:rPr>
              <a:t>AI</a:t>
            </a:r>
            <a:r>
              <a:rPr kumimoji="1" lang="zh-CN" altLang="en-US" sz="1700" b="1" dirty="0">
                <a:solidFill>
                  <a:srgbClr val="C00000"/>
                </a:solidFill>
                <a:latin typeface="微软雅黑" panose="020B0503020204020204" pitchFamily="34" charset="-122"/>
                <a:ea typeface="微软雅黑" panose="020B0503020204020204" pitchFamily="34" charset="-122"/>
                <a:cs typeface="Open Sans" panose="020B0606030504020204" pitchFamily="34" charset="0"/>
              </a:rPr>
              <a:t>模型训练、验证、评测与应用开发，并能提升模型性能和应用效果的数据集合。</a:t>
            </a:r>
          </a:p>
        </p:txBody>
      </p:sp>
      <p:sp>
        <p:nvSpPr>
          <p:cNvPr id="15" name="天蝎PPT原创©7"/>
          <p:cNvSpPr/>
          <p:nvPr/>
        </p:nvSpPr>
        <p:spPr>
          <a:xfrm>
            <a:off x="175895" y="3401695"/>
            <a:ext cx="12016105" cy="3243580"/>
          </a:xfrm>
          <a:prstGeom prst="roundRect">
            <a:avLst>
              <a:gd name="adj" fmla="val 1606"/>
            </a:avLst>
          </a:prstGeom>
          <a:solidFill>
            <a:schemeClr val="bg1"/>
          </a:solidFill>
          <a:ln w="76200">
            <a:noFill/>
            <a:prstDash val="soli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92405" y="3475355"/>
            <a:ext cx="11794490" cy="3169285"/>
          </a:xfrm>
          <a:prstGeom prst="rect">
            <a:avLst/>
          </a:prstGeom>
          <a:noFill/>
        </p:spPr>
        <p:txBody>
          <a:bodyPr wrap="square">
            <a:spAutoFit/>
          </a:bodyPr>
          <a:lstStyle/>
          <a:p>
            <a:pPr indent="0" algn="l">
              <a:lnSpc>
                <a:spcPct val="100000"/>
              </a:lnSpc>
              <a:spcBef>
                <a:spcPts val="600"/>
              </a:spcBef>
              <a:spcAft>
                <a:spcPts val="600"/>
              </a:spcAft>
              <a:buFont typeface="Wingdings" panose="05000000000000000000" pitchFamily="2" charset="2"/>
              <a:buNone/>
            </a:pPr>
            <a:r>
              <a:rPr lang="zh-CN" altLang="en-US" sz="2000" b="1" dirty="0">
                <a:solidFill>
                  <a:srgbClr val="C00000"/>
                </a:solidFill>
                <a:latin typeface="微软雅黑" panose="020B0503020204020204" pitchFamily="34" charset="-122"/>
                <a:ea typeface="微软雅黑" panose="020B0503020204020204" pitchFamily="34" charset="-122"/>
                <a:sym typeface="+mn-ea"/>
              </a:rPr>
              <a:t>《共识》认为：</a:t>
            </a:r>
            <a:r>
              <a:rPr lang="zh-CN" altLang="en-US" sz="2000" b="1" dirty="0">
                <a:solidFill>
                  <a:schemeClr val="accent1"/>
                </a:solidFill>
                <a:latin typeface="微软雅黑" panose="020B0503020204020204" pitchFamily="34" charset="-122"/>
                <a:ea typeface="微软雅黑" panose="020B0503020204020204" pitchFamily="34" charset="-122"/>
              </a:rPr>
              <a:t>中医药人工智能高质量数据集以中医药理论体系和实践规律为依据，面向特定</a:t>
            </a:r>
            <a:r>
              <a:rPr lang="en-US" altLang="zh-CN" sz="2000" b="1" dirty="0">
                <a:solidFill>
                  <a:schemeClr val="accent1"/>
                </a:solidFill>
                <a:latin typeface="微软雅黑" panose="020B0503020204020204" pitchFamily="34" charset="-122"/>
                <a:ea typeface="微软雅黑" panose="020B0503020204020204" pitchFamily="34" charset="-122"/>
              </a:rPr>
              <a:t>AI</a:t>
            </a:r>
            <a:r>
              <a:rPr lang="zh-CN" altLang="en-US" sz="2000" b="1" dirty="0">
                <a:solidFill>
                  <a:schemeClr val="accent1"/>
                </a:solidFill>
                <a:latin typeface="微软雅黑" panose="020B0503020204020204" pitchFamily="34" charset="-122"/>
                <a:ea typeface="微软雅黑" panose="020B0503020204020204" pitchFamily="34" charset="-122"/>
              </a:rPr>
              <a:t>任务或应用场景，对中医药相关数据进行规范采集、标准化治理、专业标注、质量评价和合规管理后形成的，可直接支持模型训练、验证、评测或应用开发，并有效提升模型专业性、可靠性、可解释性和场景适配性的数据集合。</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marL="342900" indent="-342900" algn="just">
              <a:lnSpc>
                <a:spcPct val="100000"/>
              </a:lnSpc>
              <a:spcBef>
                <a:spcPts val="600"/>
              </a:spcBef>
              <a:spcAft>
                <a:spcPts val="600"/>
              </a:spcAft>
              <a:buFont typeface="Wingdings" panose="05000000000000000000" charset="0"/>
              <a:buChar char="Ø"/>
            </a:pPr>
            <a:r>
              <a:rPr lang="zh-CN" altLang="en-US" sz="2000" b="1" dirty="0">
                <a:solidFill>
                  <a:srgbClr val="C00000"/>
                </a:solidFill>
                <a:latin typeface="微软雅黑" panose="020B0503020204020204" pitchFamily="34" charset="-122"/>
                <a:ea typeface="微软雅黑" panose="020B0503020204020204" pitchFamily="34" charset="-122"/>
              </a:rPr>
              <a:t>“高质量”</a:t>
            </a:r>
            <a:r>
              <a:rPr lang="zh-CN" altLang="en-US" sz="2000" b="1" dirty="0">
                <a:solidFill>
                  <a:srgbClr val="000000"/>
                </a:solidFill>
                <a:latin typeface="微软雅黑" panose="020B0503020204020204" pitchFamily="34" charset="-122"/>
                <a:ea typeface="微软雅黑" panose="020B0503020204020204" pitchFamily="34" charset="-122"/>
              </a:rPr>
              <a:t>不仅体现为</a:t>
            </a:r>
            <a:r>
              <a:rPr lang="zh-CN" altLang="en-US" sz="2000" b="1" dirty="0">
                <a:solidFill>
                  <a:schemeClr val="tx1"/>
                </a:solidFill>
                <a:latin typeface="微软雅黑" panose="020B0503020204020204" pitchFamily="34" charset="-122"/>
                <a:ea typeface="微软雅黑" panose="020B0503020204020204" pitchFamily="34" charset="-122"/>
              </a:rPr>
              <a:t>数据规模、格式规范、字段完整和缺失率控制，更体现为中医药语义表达准确、专业标注可靠、质量评价可验证、全流程可追溯以及与 </a:t>
            </a:r>
            <a:r>
              <a:rPr lang="en-US" altLang="zh-CN" sz="2000" b="1" dirty="0">
                <a:solidFill>
                  <a:schemeClr val="tx1"/>
                </a:solidFill>
                <a:latin typeface="微软雅黑" panose="020B0503020204020204" pitchFamily="34" charset="-122"/>
                <a:ea typeface="微软雅黑" panose="020B0503020204020204" pitchFamily="34" charset="-122"/>
              </a:rPr>
              <a:t>AI </a:t>
            </a:r>
            <a:r>
              <a:rPr lang="zh-CN" altLang="en-US" sz="2000" b="1" dirty="0">
                <a:solidFill>
                  <a:schemeClr val="tx1"/>
                </a:solidFill>
                <a:latin typeface="微软雅黑" panose="020B0503020204020204" pitchFamily="34" charset="-122"/>
                <a:ea typeface="微软雅黑" panose="020B0503020204020204" pitchFamily="34" charset="-122"/>
              </a:rPr>
              <a:t>应用场景高度适配。</a:t>
            </a:r>
          </a:p>
          <a:p>
            <a:pPr marL="342900" indent="-342900" algn="just">
              <a:lnSpc>
                <a:spcPct val="100000"/>
              </a:lnSpc>
              <a:spcBef>
                <a:spcPts val="600"/>
              </a:spcBef>
              <a:spcAft>
                <a:spcPts val="600"/>
              </a:spcAft>
              <a:buFont typeface="Wingdings" panose="05000000000000000000" charset="0"/>
              <a:buChar char="Ø"/>
            </a:pPr>
            <a:r>
              <a:rPr lang="zh-CN" altLang="en-US" sz="2000" b="1" dirty="0">
                <a:solidFill>
                  <a:srgbClr val="C00000"/>
                </a:solidFill>
                <a:latin typeface="微软雅黑" panose="020B0503020204020204" pitchFamily="34" charset="-122"/>
                <a:ea typeface="微软雅黑" panose="020B0503020204020204" pitchFamily="34" charset="-122"/>
              </a:rPr>
              <a:t>与一般中医药数据集相比，</a:t>
            </a:r>
            <a:r>
              <a:rPr lang="zh-CN" altLang="en-US" sz="2000" b="1" dirty="0">
                <a:solidFill>
                  <a:schemeClr val="tx1"/>
                </a:solidFill>
                <a:latin typeface="微软雅黑" panose="020B0503020204020204" pitchFamily="34" charset="-122"/>
                <a:ea typeface="微软雅黑" panose="020B0503020204020204" pitchFamily="34" charset="-122"/>
              </a:rPr>
              <a:t>中医药 </a:t>
            </a:r>
            <a:r>
              <a:rPr lang="en-US" altLang="zh-CN" sz="2000" b="1" dirty="0">
                <a:solidFill>
                  <a:schemeClr val="tx1"/>
                </a:solidFill>
                <a:latin typeface="微软雅黑" panose="020B0503020204020204" pitchFamily="34" charset="-122"/>
                <a:ea typeface="微软雅黑" panose="020B0503020204020204" pitchFamily="34" charset="-122"/>
              </a:rPr>
              <a:t>AI </a:t>
            </a:r>
            <a:r>
              <a:rPr lang="zh-CN" altLang="en-US" sz="2000" b="1" dirty="0">
                <a:solidFill>
                  <a:schemeClr val="tx1"/>
                </a:solidFill>
                <a:latin typeface="微软雅黑" panose="020B0503020204020204" pitchFamily="34" charset="-122"/>
                <a:ea typeface="微软雅黑" panose="020B0503020204020204" pitchFamily="34" charset="-122"/>
              </a:rPr>
              <a:t>高质量数据集更强调面向模型研发与应用落地的任务导向、质量控制和持续迭代；</a:t>
            </a:r>
            <a:r>
              <a:rPr lang="zh-CN" altLang="en-US" sz="2000" b="1" dirty="0">
                <a:solidFill>
                  <a:srgbClr val="C00000"/>
                </a:solidFill>
                <a:latin typeface="微软雅黑" panose="020B0503020204020204" pitchFamily="34" charset="-122"/>
                <a:ea typeface="微软雅黑" panose="020B0503020204020204" pitchFamily="34" charset="-122"/>
              </a:rPr>
              <a:t>与一般医学高质量数据集相比，</a:t>
            </a:r>
            <a:r>
              <a:rPr lang="zh-CN" altLang="en-US" sz="2000" b="1" dirty="0">
                <a:solidFill>
                  <a:schemeClr val="tx1"/>
                </a:solidFill>
                <a:latin typeface="微软雅黑" panose="020B0503020204020204" pitchFamily="34" charset="-122"/>
                <a:ea typeface="微软雅黑" panose="020B0503020204020204" pitchFamily="34" charset="-122"/>
              </a:rPr>
              <a:t>其更强调辨证论治、病机推演、方药配伍和疗效反馈等中医药特色知识逻辑的结构化表达。</a:t>
            </a:r>
          </a:p>
        </p:txBody>
      </p:sp>
      <p:sp>
        <p:nvSpPr>
          <p:cNvPr id="5" name="箭头: 燕尾形 4"/>
          <p:cNvSpPr/>
          <p:nvPr/>
        </p:nvSpPr>
        <p:spPr>
          <a:xfrm>
            <a:off x="254000" y="2437765"/>
            <a:ext cx="11383645" cy="862330"/>
          </a:xfrm>
          <a:prstGeom prst="notchedRightArrow">
            <a:avLst/>
          </a:prstGeom>
          <a:solidFill>
            <a:schemeClr val="bg2"/>
          </a:solidFill>
          <a:ln w="101600">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nvSpPr>
        <p:spPr>
          <a:xfrm>
            <a:off x="2020364" y="2692020"/>
            <a:ext cx="986167" cy="369332"/>
          </a:xfrm>
          <a:prstGeom prst="rect">
            <a:avLst/>
          </a:prstGeom>
          <a:noFill/>
        </p:spPr>
        <p:txBody>
          <a:bodyPr wrap="none" rtlCol="0">
            <a:spAutoFit/>
          </a:bodyPr>
          <a:lstStyle/>
          <a:p>
            <a:r>
              <a:rPr kumimoji="1" lang="en-US" altLang="zh-CN" b="1" dirty="0">
                <a:solidFill>
                  <a:srgbClr val="003F88"/>
                </a:solidFill>
                <a:latin typeface="微软雅黑" panose="020B0503020204020204" pitchFamily="34" charset="-122"/>
                <a:ea typeface="微软雅黑" panose="020B0503020204020204" pitchFamily="34" charset="-122"/>
              </a:rPr>
              <a:t>2024</a:t>
            </a:r>
            <a:r>
              <a:rPr kumimoji="1" lang="zh-CN" altLang="en-US" b="1" dirty="0">
                <a:solidFill>
                  <a:srgbClr val="003F88"/>
                </a:solidFill>
                <a:latin typeface="微软雅黑" panose="020B0503020204020204" pitchFamily="34" charset="-122"/>
                <a:ea typeface="微软雅黑" panose="020B0503020204020204" pitchFamily="34" charset="-122"/>
              </a:rPr>
              <a:t>年</a:t>
            </a:r>
          </a:p>
        </p:txBody>
      </p:sp>
      <p:sp>
        <p:nvSpPr>
          <p:cNvPr id="26" name="文本框 25"/>
          <p:cNvSpPr txBox="1"/>
          <p:nvPr/>
        </p:nvSpPr>
        <p:spPr>
          <a:xfrm>
            <a:off x="8867158" y="2704720"/>
            <a:ext cx="986167" cy="369332"/>
          </a:xfrm>
          <a:prstGeom prst="rect">
            <a:avLst/>
          </a:prstGeom>
          <a:noFill/>
        </p:spPr>
        <p:txBody>
          <a:bodyPr wrap="none" rtlCol="0">
            <a:spAutoFit/>
          </a:bodyPr>
          <a:lstStyle/>
          <a:p>
            <a:r>
              <a:rPr kumimoji="1" lang="en-US" altLang="zh-CN" b="1" dirty="0">
                <a:solidFill>
                  <a:srgbClr val="003F88"/>
                </a:solidFill>
                <a:latin typeface="微软雅黑" panose="020B0503020204020204" pitchFamily="34" charset="-122"/>
                <a:ea typeface="微软雅黑" panose="020B0503020204020204" pitchFamily="34" charset="-122"/>
              </a:rPr>
              <a:t>2025</a:t>
            </a:r>
            <a:r>
              <a:rPr kumimoji="1" lang="zh-CN" altLang="en-US" b="1" dirty="0">
                <a:solidFill>
                  <a:srgbClr val="003F88"/>
                </a:solidFill>
                <a:latin typeface="微软雅黑" panose="020B0503020204020204" pitchFamily="34" charset="-122"/>
                <a:ea typeface="微软雅黑" panose="020B0503020204020204" pitchFamily="34" charset="-122"/>
              </a:rPr>
              <a:t>年</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pc="300" dirty="0">
                <a:solidFill>
                  <a:srgbClr val="1F5FA0"/>
                </a:solidFill>
                <a:sym typeface="+mn-ea"/>
              </a:rPr>
              <a:t>中医药高质量数据集建设的背景</a:t>
            </a:r>
            <a:endParaRPr lang="zh-CN" altLang="en-US" dirty="0"/>
          </a:p>
        </p:txBody>
      </p:sp>
      <p:sp>
        <p:nvSpPr>
          <p:cNvPr id="7" name="天蝎PPT原创©8"/>
          <p:cNvSpPr/>
          <p:nvPr>
            <p:custDataLst>
              <p:tags r:id="rId1"/>
            </p:custDataLst>
          </p:nvPr>
        </p:nvSpPr>
        <p:spPr>
          <a:xfrm>
            <a:off x="431008" y="1463511"/>
            <a:ext cx="6850557" cy="1620000"/>
          </a:xfrm>
          <a:prstGeom prst="roundRect">
            <a:avLst>
              <a:gd name="adj" fmla="val 8179"/>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kumimoji="1"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天蝎PPT原创©9"/>
          <p:cNvSpPr/>
          <p:nvPr>
            <p:custDataLst>
              <p:tags r:id="rId2"/>
            </p:custDataLst>
          </p:nvPr>
        </p:nvSpPr>
        <p:spPr>
          <a:xfrm>
            <a:off x="431008" y="1463511"/>
            <a:ext cx="6850557" cy="432000"/>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天蝎PPT原创©10"/>
          <p:cNvSpPr/>
          <p:nvPr>
            <p:custDataLst>
              <p:tags r:id="rId3"/>
            </p:custDataLst>
          </p:nvPr>
        </p:nvSpPr>
        <p:spPr>
          <a:xfrm>
            <a:off x="431008" y="3289193"/>
            <a:ext cx="6850557" cy="1620000"/>
          </a:xfrm>
          <a:prstGeom prst="roundRect">
            <a:avLst>
              <a:gd name="adj" fmla="val 6057"/>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kumimoji="1"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天蝎PPT原创©11"/>
          <p:cNvSpPr/>
          <p:nvPr>
            <p:custDataLst>
              <p:tags r:id="rId4"/>
            </p:custDataLst>
          </p:nvPr>
        </p:nvSpPr>
        <p:spPr>
          <a:xfrm>
            <a:off x="431008" y="5140276"/>
            <a:ext cx="6850557" cy="1620000"/>
          </a:xfrm>
          <a:prstGeom prst="roundRect">
            <a:avLst>
              <a:gd name="adj" fmla="val 9452"/>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algn="ctr"/>
            <a:endParaRPr kumimoji="1"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天蝎PPT原创©16"/>
          <p:cNvSpPr txBox="1"/>
          <p:nvPr>
            <p:custDataLst>
              <p:tags r:id="rId5"/>
            </p:custDataLst>
          </p:nvPr>
        </p:nvSpPr>
        <p:spPr>
          <a:xfrm>
            <a:off x="546861" y="1482271"/>
            <a:ext cx="6090129" cy="369332"/>
          </a:xfrm>
          <a:prstGeom prst="rect">
            <a:avLst/>
          </a:prstGeom>
          <a:noFill/>
        </p:spPr>
        <p:txBody>
          <a:bodyPr wrap="none" rtlCol="0">
            <a:spAutoFit/>
          </a:bodyPr>
          <a:lstStyle/>
          <a:p>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关于促进和规范“</a:t>
            </a:r>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AI+</a:t>
            </a:r>
            <a:r>
              <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医疗卫生”应用发展的实施意见</a:t>
            </a:r>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天蝎PPT原创©18"/>
          <p:cNvSpPr/>
          <p:nvPr>
            <p:custDataLst>
              <p:tags r:id="rId6"/>
            </p:custDataLst>
          </p:nvPr>
        </p:nvSpPr>
        <p:spPr>
          <a:xfrm>
            <a:off x="431007" y="3289193"/>
            <a:ext cx="6850557" cy="432000"/>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天蝎PPT原创©21"/>
          <p:cNvSpPr/>
          <p:nvPr>
            <p:custDataLst>
              <p:tags r:id="rId7"/>
            </p:custDataLst>
          </p:nvPr>
        </p:nvSpPr>
        <p:spPr>
          <a:xfrm>
            <a:off x="431007" y="5138866"/>
            <a:ext cx="6850557" cy="432000"/>
          </a:xfrm>
          <a:prstGeom prst="rect">
            <a:avLst/>
          </a:prstGeom>
          <a:gradFill flip="none" rotWithShape="1">
            <a:gsLst>
              <a:gs pos="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文本框 13"/>
          <p:cNvSpPr txBox="1"/>
          <p:nvPr>
            <p:custDataLst>
              <p:tags r:id="rId8"/>
            </p:custDataLst>
          </p:nvPr>
        </p:nvSpPr>
        <p:spPr>
          <a:xfrm>
            <a:off x="557234" y="1954444"/>
            <a:ext cx="6381872" cy="1170305"/>
          </a:xfrm>
          <a:prstGeom prst="rect">
            <a:avLst/>
          </a:prstGeom>
          <a:noFill/>
        </p:spPr>
        <p:txBody>
          <a:bodyPr wrap="square">
            <a:spAutoFit/>
          </a:bodyPr>
          <a:lstStyle/>
          <a:p>
            <a:pPr>
              <a:lnSpc>
                <a:spcPct val="130000"/>
              </a:lnSpc>
            </a:pPr>
            <a:r>
              <a:rPr lang="zh-CN" altLang="en-US" b="1" i="0" dirty="0">
                <a:effectLst/>
                <a:latin typeface="微软雅黑" panose="020B0503020204020204" pitchFamily="34" charset="-122"/>
                <a:ea typeface="微软雅黑" panose="020B0503020204020204" pitchFamily="34" charset="-122"/>
              </a:rPr>
              <a:t>明确提出促进</a:t>
            </a:r>
            <a:r>
              <a:rPr lang="en-US" altLang="zh-CN" b="1" i="0" dirty="0">
                <a:effectLst/>
                <a:latin typeface="微软雅黑" panose="020B0503020204020204" pitchFamily="34" charset="-122"/>
                <a:ea typeface="微软雅黑" panose="020B0503020204020204" pitchFamily="34" charset="-122"/>
              </a:rPr>
              <a:t>AI</a:t>
            </a:r>
            <a:r>
              <a:rPr lang="zh-CN" altLang="en-US" b="1" i="0" dirty="0">
                <a:effectLst/>
                <a:latin typeface="微软雅黑" panose="020B0503020204020204" pitchFamily="34" charset="-122"/>
                <a:ea typeface="微软雅黑" panose="020B0503020204020204" pitchFamily="34" charset="-122"/>
              </a:rPr>
              <a:t>在医疗卫生领域的规范应用，</a:t>
            </a:r>
            <a:r>
              <a:rPr lang="zh-CN" altLang="en-US" b="1" i="0" dirty="0">
                <a:solidFill>
                  <a:srgbClr val="FF0000"/>
                </a:solidFill>
                <a:effectLst/>
                <a:latin typeface="微软雅黑" panose="020B0503020204020204" pitchFamily="34" charset="-122"/>
                <a:ea typeface="微软雅黑" panose="020B0503020204020204" pitchFamily="34" charset="-122"/>
              </a:rPr>
              <a:t>建立一批卫生健康行业高质量数据集，</a:t>
            </a:r>
            <a:r>
              <a:rPr lang="zh-CN" altLang="en-US" b="1" i="0" dirty="0">
                <a:effectLst/>
                <a:latin typeface="微软雅黑" panose="020B0503020204020204" pitchFamily="34" charset="-122"/>
                <a:ea typeface="微软雅黑" panose="020B0503020204020204" pitchFamily="34" charset="-122"/>
              </a:rPr>
              <a:t>打造更多高价值应用场景，为“</a:t>
            </a:r>
            <a:r>
              <a:rPr lang="en-US" altLang="zh-CN" b="1" i="0" dirty="0">
                <a:effectLst/>
                <a:latin typeface="微软雅黑" panose="020B0503020204020204" pitchFamily="34" charset="-122"/>
                <a:ea typeface="微软雅黑" panose="020B0503020204020204" pitchFamily="34" charset="-122"/>
              </a:rPr>
              <a:t>AI+</a:t>
            </a:r>
            <a:r>
              <a:rPr lang="zh-CN" altLang="en-US" b="1" i="0" dirty="0">
                <a:effectLst/>
                <a:latin typeface="微软雅黑" panose="020B0503020204020204" pitchFamily="34" charset="-122"/>
                <a:ea typeface="微软雅黑" panose="020B0503020204020204" pitchFamily="34" charset="-122"/>
              </a:rPr>
              <a:t>中医药”应用提出了具体的要求与发展方向。</a:t>
            </a:r>
          </a:p>
        </p:txBody>
      </p:sp>
      <p:sp>
        <p:nvSpPr>
          <p:cNvPr id="15" name="文本框 14"/>
          <p:cNvSpPr txBox="1"/>
          <p:nvPr>
            <p:custDataLst>
              <p:tags r:id="rId9"/>
            </p:custDataLst>
          </p:nvPr>
        </p:nvSpPr>
        <p:spPr>
          <a:xfrm>
            <a:off x="557234" y="3797742"/>
            <a:ext cx="6381872" cy="922020"/>
          </a:xfrm>
          <a:prstGeom prst="rect">
            <a:avLst/>
          </a:prstGeom>
          <a:noFill/>
        </p:spPr>
        <p:txBody>
          <a:bodyPr wrap="square">
            <a:spAutoFit/>
          </a:bodyPr>
          <a:lstStyle/>
          <a:p>
            <a:pPr>
              <a:lnSpc>
                <a:spcPct val="150000"/>
              </a:lnSpc>
            </a:pPr>
            <a:r>
              <a:rPr lang="zh-CN" altLang="en-US" sz="1800" b="1" i="0" dirty="0">
                <a:effectLst/>
                <a:latin typeface="微软雅黑" panose="020B0503020204020204" pitchFamily="34" charset="-122"/>
                <a:ea typeface="微软雅黑" panose="020B0503020204020204" pitchFamily="34" charset="-122"/>
              </a:rPr>
              <a:t>指出要发挥数据的基础资源作用和创新引擎作用，推动数据要素高水平应用，赋能经济社会发展。</a:t>
            </a:r>
            <a:endParaRPr lang="zh-CN" altLang="en-US" sz="1500" b="1" i="0" dirty="0">
              <a:effectLst/>
              <a:latin typeface="微软雅黑" panose="020B0503020204020204" pitchFamily="34" charset="-122"/>
              <a:ea typeface="微软雅黑" panose="020B0503020204020204" pitchFamily="34" charset="-122"/>
            </a:endParaRPr>
          </a:p>
        </p:txBody>
      </p:sp>
      <p:sp>
        <p:nvSpPr>
          <p:cNvPr id="16" name="文本框 15"/>
          <p:cNvSpPr txBox="1"/>
          <p:nvPr>
            <p:custDataLst>
              <p:tags r:id="rId10"/>
            </p:custDataLst>
          </p:nvPr>
        </p:nvSpPr>
        <p:spPr>
          <a:xfrm>
            <a:off x="546861" y="5589292"/>
            <a:ext cx="6381872" cy="922020"/>
          </a:xfrm>
          <a:prstGeom prst="rect">
            <a:avLst/>
          </a:prstGeom>
          <a:noFill/>
        </p:spPr>
        <p:txBody>
          <a:bodyPr wrap="square">
            <a:spAutoFit/>
          </a:bodyPr>
          <a:lstStyle/>
          <a:p>
            <a:pPr>
              <a:lnSpc>
                <a:spcPct val="150000"/>
              </a:lnSpc>
            </a:pPr>
            <a:r>
              <a:rPr lang="zh-CN" altLang="en-US" sz="1800" b="1" i="0" dirty="0">
                <a:effectLst/>
                <a:latin typeface="微软雅黑" panose="020B0503020204020204" pitchFamily="34" charset="-122"/>
                <a:ea typeface="微软雅黑" panose="020B0503020204020204" pitchFamily="34" charset="-122"/>
              </a:rPr>
              <a:t>明确要求发挥数据要素乘数效应、释放中医药数据价值，为高质量数据集建设提供政策指引。</a:t>
            </a:r>
          </a:p>
        </p:txBody>
      </p:sp>
      <p:sp>
        <p:nvSpPr>
          <p:cNvPr id="17" name="天蝎PPT原创©16"/>
          <p:cNvSpPr txBox="1"/>
          <p:nvPr>
            <p:custDataLst>
              <p:tags r:id="rId11"/>
            </p:custDataLst>
          </p:nvPr>
        </p:nvSpPr>
        <p:spPr>
          <a:xfrm>
            <a:off x="557234" y="3317774"/>
            <a:ext cx="6475688" cy="369332"/>
          </a:xfrm>
          <a:prstGeom prst="rect">
            <a:avLst/>
          </a:prstGeom>
          <a:noFill/>
        </p:spPr>
        <p:txBody>
          <a:bodyPr wrap="square" rtlCol="0">
            <a:spAutoFit/>
          </a:bodyPr>
          <a:lstStyle/>
          <a:p>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数据要素</a:t>
            </a:r>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三年行动计划（</a:t>
            </a:r>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2024—2026 </a:t>
            </a:r>
            <a:r>
              <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年）</a:t>
            </a:r>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天蝎PPT原创©16"/>
          <p:cNvSpPr txBox="1"/>
          <p:nvPr>
            <p:custDataLst>
              <p:tags r:id="rId12"/>
            </p:custDataLst>
          </p:nvPr>
        </p:nvSpPr>
        <p:spPr>
          <a:xfrm>
            <a:off x="652634" y="5171115"/>
            <a:ext cx="5254521" cy="369332"/>
          </a:xfrm>
          <a:prstGeom prst="rect">
            <a:avLst/>
          </a:prstGeom>
          <a:noFill/>
        </p:spPr>
        <p:txBody>
          <a:bodyPr wrap="square" rtlCol="0">
            <a:spAutoFit/>
          </a:bodyPr>
          <a:lstStyle/>
          <a:p>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r>
              <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关于促进数字中医药发展的若干意见</a:t>
            </a:r>
            <a:r>
              <a:rPr lang="en-US" altLang="zh-CN"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a:t>
            </a:r>
            <a:endParaRPr lang="zh-CN" altLang="en-US"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19" name="组合 18"/>
          <p:cNvGrpSpPr/>
          <p:nvPr>
            <p:custDataLst>
              <p:tags r:id="rId13"/>
            </p:custDataLst>
          </p:nvPr>
        </p:nvGrpSpPr>
        <p:grpSpPr>
          <a:xfrm>
            <a:off x="129779" y="1436073"/>
            <a:ext cx="545621" cy="540000"/>
            <a:chOff x="5939999" y="1234096"/>
            <a:chExt cx="545621" cy="540000"/>
          </a:xfrm>
        </p:grpSpPr>
        <p:sp>
          <p:nvSpPr>
            <p:cNvPr id="3" name="椭圆 2"/>
            <p:cNvSpPr/>
            <p:nvPr>
              <p:custDataLst>
                <p:tags r:id="rId20"/>
              </p:custDataLst>
            </p:nvPr>
          </p:nvSpPr>
          <p:spPr>
            <a:xfrm>
              <a:off x="5939999" y="1234096"/>
              <a:ext cx="540000" cy="540000"/>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custDataLst>
                <p:tags r:id="rId21"/>
              </p:custDataLst>
            </p:nvPr>
          </p:nvSpPr>
          <p:spPr>
            <a:xfrm>
              <a:off x="5941260" y="1308224"/>
              <a:ext cx="544360" cy="400110"/>
            </a:xfrm>
            <a:prstGeom prst="rect">
              <a:avLst/>
            </a:prstGeom>
            <a:noFill/>
          </p:spPr>
          <p:txBody>
            <a:bodyPr wrap="square">
              <a:spAutoFit/>
            </a:bodyPr>
            <a:lstStyle/>
            <a:p>
              <a:pPr algn="ctr">
                <a:spcBef>
                  <a:spcPts val="1050"/>
                </a:spcBef>
                <a:spcAft>
                  <a:spcPts val="600"/>
                </a:spcAft>
              </a:pPr>
              <a:r>
                <a:rPr lang="en-US" altLang="zh-CN" sz="2000" b="1" i="0" dirty="0">
                  <a:solidFill>
                    <a:schemeClr val="bg1"/>
                  </a:solidFill>
                  <a:effectLst/>
                  <a:latin typeface="微软雅黑" panose="020B0503020204020204" pitchFamily="34" charset="-122"/>
                  <a:ea typeface="微软雅黑" panose="020B0503020204020204" pitchFamily="34" charset="-122"/>
                </a:rPr>
                <a:t>01</a:t>
              </a:r>
              <a:endParaRPr lang="zh-CN" altLang="en-US" sz="2000" b="1" i="0">
                <a:solidFill>
                  <a:schemeClr val="bg1"/>
                </a:solidFill>
                <a:effectLst/>
                <a:latin typeface="微软雅黑" panose="020B0503020204020204" pitchFamily="34" charset="-122"/>
                <a:ea typeface="微软雅黑" panose="020B0503020204020204" pitchFamily="34" charset="-122"/>
              </a:endParaRPr>
            </a:p>
          </p:txBody>
        </p:sp>
      </p:grpSp>
      <p:grpSp>
        <p:nvGrpSpPr>
          <p:cNvPr id="20" name="组合 19"/>
          <p:cNvGrpSpPr/>
          <p:nvPr>
            <p:custDataLst>
              <p:tags r:id="rId14"/>
            </p:custDataLst>
          </p:nvPr>
        </p:nvGrpSpPr>
        <p:grpSpPr>
          <a:xfrm>
            <a:off x="129779" y="3293124"/>
            <a:ext cx="545621" cy="540000"/>
            <a:chOff x="5939999" y="1234096"/>
            <a:chExt cx="545621" cy="540000"/>
          </a:xfrm>
        </p:grpSpPr>
        <p:sp>
          <p:nvSpPr>
            <p:cNvPr id="21" name="椭圆 20"/>
            <p:cNvSpPr/>
            <p:nvPr>
              <p:custDataLst>
                <p:tags r:id="rId18"/>
              </p:custDataLst>
            </p:nvPr>
          </p:nvSpPr>
          <p:spPr>
            <a:xfrm>
              <a:off x="5939999" y="1234096"/>
              <a:ext cx="540000" cy="540000"/>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custDataLst>
                <p:tags r:id="rId19"/>
              </p:custDataLst>
            </p:nvPr>
          </p:nvSpPr>
          <p:spPr>
            <a:xfrm>
              <a:off x="5941260" y="1308224"/>
              <a:ext cx="544360" cy="400110"/>
            </a:xfrm>
            <a:prstGeom prst="rect">
              <a:avLst/>
            </a:prstGeom>
            <a:noFill/>
          </p:spPr>
          <p:txBody>
            <a:bodyPr wrap="square">
              <a:spAutoFit/>
            </a:bodyPr>
            <a:lstStyle/>
            <a:p>
              <a:pPr algn="ctr">
                <a:spcBef>
                  <a:spcPts val="1050"/>
                </a:spcBef>
                <a:spcAft>
                  <a:spcPts val="600"/>
                </a:spcAft>
              </a:pPr>
              <a:r>
                <a:rPr lang="en-US" altLang="zh-CN" sz="2000" b="1" i="0" dirty="0">
                  <a:solidFill>
                    <a:schemeClr val="bg1"/>
                  </a:solidFill>
                  <a:effectLst/>
                  <a:latin typeface="微软雅黑" panose="020B0503020204020204" pitchFamily="34" charset="-122"/>
                  <a:ea typeface="微软雅黑" panose="020B0503020204020204" pitchFamily="34" charset="-122"/>
                </a:rPr>
                <a:t>02</a:t>
              </a:r>
              <a:endParaRPr lang="zh-CN" altLang="en-US" sz="2000" b="1" i="0">
                <a:solidFill>
                  <a:schemeClr val="bg1"/>
                </a:solidFill>
                <a:effectLst/>
                <a:latin typeface="微软雅黑" panose="020B0503020204020204" pitchFamily="34" charset="-122"/>
                <a:ea typeface="微软雅黑" panose="020B0503020204020204" pitchFamily="34" charset="-122"/>
              </a:endParaRPr>
            </a:p>
          </p:txBody>
        </p:sp>
      </p:grpSp>
      <p:grpSp>
        <p:nvGrpSpPr>
          <p:cNvPr id="23" name="组合 22"/>
          <p:cNvGrpSpPr/>
          <p:nvPr>
            <p:custDataLst>
              <p:tags r:id="rId15"/>
            </p:custDataLst>
          </p:nvPr>
        </p:nvGrpSpPr>
        <p:grpSpPr>
          <a:xfrm>
            <a:off x="129779" y="5135970"/>
            <a:ext cx="545621" cy="540000"/>
            <a:chOff x="5939999" y="1234096"/>
            <a:chExt cx="545621" cy="540000"/>
          </a:xfrm>
        </p:grpSpPr>
        <p:sp>
          <p:nvSpPr>
            <p:cNvPr id="24" name="椭圆 23"/>
            <p:cNvSpPr/>
            <p:nvPr>
              <p:custDataLst>
                <p:tags r:id="rId16"/>
              </p:custDataLst>
            </p:nvPr>
          </p:nvSpPr>
          <p:spPr>
            <a:xfrm>
              <a:off x="5939999" y="1234096"/>
              <a:ext cx="540000" cy="540000"/>
            </a:xfrm>
            <a:prstGeom prst="ellipse">
              <a:avLst/>
            </a:prstGeom>
            <a:solidFill>
              <a:schemeClr val="accent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custDataLst>
                <p:tags r:id="rId17"/>
              </p:custDataLst>
            </p:nvPr>
          </p:nvSpPr>
          <p:spPr>
            <a:xfrm>
              <a:off x="5941260" y="1308224"/>
              <a:ext cx="544360" cy="400110"/>
            </a:xfrm>
            <a:prstGeom prst="rect">
              <a:avLst/>
            </a:prstGeom>
            <a:noFill/>
          </p:spPr>
          <p:txBody>
            <a:bodyPr wrap="square">
              <a:spAutoFit/>
            </a:bodyPr>
            <a:lstStyle/>
            <a:p>
              <a:pPr algn="ctr">
                <a:spcBef>
                  <a:spcPts val="1050"/>
                </a:spcBef>
                <a:spcAft>
                  <a:spcPts val="600"/>
                </a:spcAft>
              </a:pPr>
              <a:r>
                <a:rPr lang="en-US" altLang="zh-CN" sz="2000" b="1" i="0" dirty="0">
                  <a:solidFill>
                    <a:schemeClr val="bg1"/>
                  </a:solidFill>
                  <a:effectLst/>
                  <a:latin typeface="微软雅黑" panose="020B0503020204020204" pitchFamily="34" charset="-122"/>
                  <a:ea typeface="微软雅黑" panose="020B0503020204020204" pitchFamily="34" charset="-122"/>
                </a:rPr>
                <a:t>0</a:t>
              </a:r>
              <a:r>
                <a:rPr lang="en-US" altLang="zh-CN" sz="2000" b="1" dirty="0">
                  <a:solidFill>
                    <a:schemeClr val="bg1"/>
                  </a:solidFill>
                  <a:latin typeface="微软雅黑" panose="020B0503020204020204" pitchFamily="34" charset="-122"/>
                  <a:ea typeface="微软雅黑" panose="020B0503020204020204" pitchFamily="34" charset="-122"/>
                </a:rPr>
                <a:t>3</a:t>
              </a:r>
              <a:endParaRPr lang="zh-CN" altLang="en-US" sz="2000" b="1" i="0">
                <a:solidFill>
                  <a:schemeClr val="bg1"/>
                </a:solidFill>
                <a:effectLst/>
                <a:latin typeface="微软雅黑" panose="020B0503020204020204" pitchFamily="34" charset="-122"/>
                <a:ea typeface="微软雅黑" panose="020B0503020204020204" pitchFamily="34" charset="-122"/>
              </a:endParaRPr>
            </a:p>
          </p:txBody>
        </p:sp>
      </p:grpSp>
      <p:sp>
        <p:nvSpPr>
          <p:cNvPr id="6" name="文本框 5"/>
          <p:cNvSpPr txBox="1"/>
          <p:nvPr/>
        </p:nvSpPr>
        <p:spPr>
          <a:xfrm>
            <a:off x="397658" y="386876"/>
            <a:ext cx="655413" cy="607695"/>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7561580" y="1510030"/>
            <a:ext cx="4279265" cy="4865370"/>
          </a:xfrm>
          <a:prstGeom prst="rect">
            <a:avLst/>
          </a:prstGeom>
          <a:noFill/>
        </p:spPr>
        <p:txBody>
          <a:bodyPr wrap="square">
            <a:spAutoFit/>
          </a:bodyPr>
          <a:lstStyle/>
          <a:p>
            <a:pPr algn="l">
              <a:lnSpc>
                <a:spcPct val="120000"/>
              </a:lnSpc>
              <a:spcBef>
                <a:spcPts val="1200"/>
              </a:spcBef>
              <a:spcAft>
                <a:spcPts val="1200"/>
              </a:spcAft>
            </a:pPr>
            <a:r>
              <a:rPr lang="zh-CN" altLang="en-US" sz="2800" b="1" dirty="0">
                <a:solidFill>
                  <a:srgbClr val="003F88"/>
                </a:solidFill>
                <a:latin typeface="微软雅黑" panose="020B0503020204020204" pitchFamily="34" charset="-122"/>
                <a:ea typeface="微软雅黑" panose="020B0503020204020204" pitchFamily="34" charset="-122"/>
              </a:rPr>
              <a:t>中医药行业发展核心痛点</a:t>
            </a:r>
            <a:endParaRPr lang="en-US" altLang="zh-CN" sz="2800" b="1" i="0" dirty="0">
              <a:solidFill>
                <a:srgbClr val="003F88"/>
              </a:solidFill>
              <a:effectLst/>
              <a:latin typeface="微软雅黑" panose="020B0503020204020204" pitchFamily="34" charset="-122"/>
              <a:ea typeface="微软雅黑" panose="020B0503020204020204" pitchFamily="34" charset="-122"/>
            </a:endParaRPr>
          </a:p>
          <a:p>
            <a:pPr marL="285750" indent="-285750" algn="l">
              <a:lnSpc>
                <a:spcPct val="120000"/>
              </a:lnSpc>
              <a:spcBef>
                <a:spcPts val="1200"/>
              </a:spcBef>
              <a:spcAft>
                <a:spcPts val="1200"/>
              </a:spcAft>
              <a:buFont typeface="Wingdings" panose="05000000000000000000" pitchFamily="2" charset="2"/>
              <a:buChar char="Ø"/>
            </a:pPr>
            <a:r>
              <a:rPr lang="zh-CN" altLang="en-US" sz="1800" b="1" i="0" dirty="0">
                <a:effectLst/>
                <a:latin typeface="微软雅黑" panose="020B0503020204020204" pitchFamily="34" charset="-122"/>
                <a:ea typeface="微软雅黑" panose="020B0503020204020204" pitchFamily="34" charset="-122"/>
              </a:rPr>
              <a:t>高质量场景数据供给不足、数据标准与规范缺失、数据治理体系不健全</a:t>
            </a:r>
          </a:p>
          <a:p>
            <a:pPr marL="285750" indent="-285750" algn="l">
              <a:lnSpc>
                <a:spcPct val="120000"/>
              </a:lnSpc>
              <a:spcBef>
                <a:spcPts val="1200"/>
              </a:spcBef>
              <a:spcAft>
                <a:spcPts val="1200"/>
              </a:spcAft>
              <a:buFont typeface="Wingdings" panose="05000000000000000000" pitchFamily="2" charset="2"/>
              <a:buChar char="Ø"/>
            </a:pPr>
            <a:r>
              <a:rPr lang="zh-CN" altLang="en-US" sz="1800" b="1" i="0" dirty="0">
                <a:effectLst/>
                <a:latin typeface="微软雅黑" panose="020B0503020204020204" pitchFamily="34" charset="-122"/>
                <a:ea typeface="微软雅黑" panose="020B0503020204020204" pitchFamily="34" charset="-122"/>
              </a:rPr>
              <a:t>数据科学人才匮乏、数据价值提升存在瓶颈</a:t>
            </a:r>
          </a:p>
          <a:p>
            <a:pPr marL="285750" indent="-285750" algn="l">
              <a:lnSpc>
                <a:spcPct val="120000"/>
              </a:lnSpc>
              <a:spcBef>
                <a:spcPts val="1200"/>
              </a:spcBef>
              <a:spcAft>
                <a:spcPts val="1200"/>
              </a:spcAft>
              <a:buFont typeface="Wingdings" panose="05000000000000000000" pitchFamily="2" charset="2"/>
              <a:buChar char="Ø"/>
            </a:pPr>
            <a:r>
              <a:rPr lang="zh-CN" altLang="en-US" sz="1800" b="1" i="0" dirty="0">
                <a:effectLst/>
                <a:latin typeface="微软雅黑" panose="020B0503020204020204" pitchFamily="34" charset="-122"/>
                <a:ea typeface="微软雅黑" panose="020B0503020204020204" pitchFamily="34" charset="-122"/>
              </a:rPr>
              <a:t>高质量数据集建设路径模糊、方法与技术不足等问题，</a:t>
            </a:r>
          </a:p>
          <a:p>
            <a:pPr indent="0" algn="l">
              <a:lnSpc>
                <a:spcPct val="120000"/>
              </a:lnSpc>
              <a:spcBef>
                <a:spcPts val="1200"/>
              </a:spcBef>
              <a:spcAft>
                <a:spcPts val="1200"/>
              </a:spcAft>
              <a:buFont typeface="Wingdings" panose="05000000000000000000" pitchFamily="2" charset="2"/>
              <a:buNone/>
            </a:pPr>
            <a:r>
              <a:rPr lang="zh-CN" altLang="en-US" sz="2800" b="1" i="0" dirty="0">
                <a:solidFill>
                  <a:srgbClr val="FF0000"/>
                </a:solidFill>
                <a:effectLst/>
                <a:latin typeface="微软雅黑" panose="020B0503020204020204" pitchFamily="34" charset="-122"/>
                <a:ea typeface="微软雅黑" panose="020B0503020204020204" pitchFamily="34" charset="-122"/>
              </a:rPr>
              <a:t>制约了“</a:t>
            </a:r>
            <a:r>
              <a:rPr lang="en-US" altLang="zh-CN" sz="2800" b="1" i="0" dirty="0">
                <a:solidFill>
                  <a:srgbClr val="FF0000"/>
                </a:solidFill>
                <a:effectLst/>
                <a:latin typeface="微软雅黑" panose="020B0503020204020204" pitchFamily="34" charset="-122"/>
                <a:ea typeface="微软雅黑" panose="020B0503020204020204" pitchFamily="34" charset="-122"/>
              </a:rPr>
              <a:t>AI+</a:t>
            </a:r>
            <a:r>
              <a:rPr lang="zh-CN" altLang="en-US" sz="2800" b="1" i="0" dirty="0">
                <a:solidFill>
                  <a:srgbClr val="FF0000"/>
                </a:solidFill>
                <a:effectLst/>
                <a:latin typeface="微软雅黑" panose="020B0503020204020204" pitchFamily="34" charset="-122"/>
                <a:ea typeface="微软雅黑" panose="020B0503020204020204" pitchFamily="34" charset="-122"/>
              </a:rPr>
              <a:t>中医药”应用落地</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572224" y="1318355"/>
            <a:ext cx="11389738" cy="553858"/>
            <a:chOff x="572224" y="1318355"/>
            <a:chExt cx="4501391" cy="553858"/>
          </a:xfrm>
        </p:grpSpPr>
        <p:sp>
          <p:nvSpPr>
            <p:cNvPr id="22" name="矩形 3"/>
            <p:cNvSpPr/>
            <p:nvPr/>
          </p:nvSpPr>
          <p:spPr>
            <a:xfrm>
              <a:off x="586442" y="1318355"/>
              <a:ext cx="4487173" cy="553858"/>
            </a:xfrm>
            <a:prstGeom prst="rect">
              <a:avLst/>
            </a:prstGeom>
            <a:gradFill>
              <a:gsLst>
                <a:gs pos="0">
                  <a:schemeClr val="accent1">
                    <a:alpha val="20000"/>
                  </a:schemeClr>
                </a:gs>
                <a:gs pos="100000">
                  <a:schemeClr val="bg1">
                    <a:alpha val="40000"/>
                  </a:schemeClr>
                </a:gs>
              </a:gsLst>
              <a:lin ang="0" scaled="0"/>
            </a:gradFill>
            <a:ln w="12700">
              <a:miter lim="400000"/>
            </a:ln>
          </p:spPr>
          <p:txBody>
            <a:bodyPr lIns="0" tIns="0" rIns="0" bIns="0" anchor="ctr"/>
            <a:lstStyle/>
            <a:p>
              <a:pPr algn="ctr"/>
              <a:endParaRPr dirty="0">
                <a:solidFill>
                  <a:srgbClr val="02AE06">
                    <a:alpha val="20889"/>
                  </a:srgbClr>
                </a:solidFill>
                <a:latin typeface="微软雅黑" panose="020B0503020204020204" pitchFamily="34" charset="-122"/>
                <a:ea typeface="微软雅黑" panose="020B0503020204020204" pitchFamily="34" charset="-122"/>
              </a:endParaRPr>
            </a:p>
          </p:txBody>
        </p:sp>
        <p:sp>
          <p:nvSpPr>
            <p:cNvPr id="23" name="矩形"/>
            <p:cNvSpPr/>
            <p:nvPr/>
          </p:nvSpPr>
          <p:spPr>
            <a:xfrm>
              <a:off x="572224" y="1318355"/>
              <a:ext cx="235239" cy="553858"/>
            </a:xfrm>
            <a:prstGeom prst="rect">
              <a:avLst/>
            </a:prstGeom>
            <a:solidFill>
              <a:schemeClr val="accent1"/>
            </a:solidFill>
            <a:ln w="12700">
              <a:miter lim="400000"/>
            </a:ln>
          </p:spPr>
          <p:txBody>
            <a:bodyPr tIns="91439" bIns="91439" anchor="ctr"/>
            <a:lstStyle/>
            <a:p>
              <a:pPr defTabSz="1828800">
                <a:defRPr sz="3600"/>
              </a:pPr>
              <a:endParaRPr dirty="0">
                <a:latin typeface="微软雅黑" panose="020B0503020204020204" pitchFamily="34" charset="-122"/>
                <a:ea typeface="微软雅黑" panose="020B0503020204020204" pitchFamily="34" charset="-122"/>
              </a:endParaRPr>
            </a:p>
          </p:txBody>
        </p:sp>
      </p:grpSp>
      <p:sp>
        <p:nvSpPr>
          <p:cNvPr id="9" name="标题 8"/>
          <p:cNvSpPr>
            <a:spLocks noGrp="1"/>
          </p:cNvSpPr>
          <p:nvPr>
            <p:ph type="title"/>
          </p:nvPr>
        </p:nvSpPr>
        <p:spPr/>
        <p:txBody>
          <a:bodyPr>
            <a:normAutofit/>
          </a:bodyPr>
          <a:lstStyle/>
          <a:p>
            <a:r>
              <a:rPr lang="zh-CN" altLang="en-US" dirty="0"/>
              <a:t>中医药高质量数据集建设的意义</a:t>
            </a:r>
          </a:p>
        </p:txBody>
      </p:sp>
      <p:sp>
        <p:nvSpPr>
          <p:cNvPr id="2" name="文本框 1"/>
          <p:cNvSpPr txBox="1"/>
          <p:nvPr/>
        </p:nvSpPr>
        <p:spPr>
          <a:xfrm>
            <a:off x="1211580" y="1337945"/>
            <a:ext cx="9001760" cy="534035"/>
          </a:xfrm>
          <a:prstGeom prst="rect">
            <a:avLst/>
          </a:prstGeom>
          <a:noFill/>
        </p:spPr>
        <p:txBody>
          <a:bodyPr wrap="square" rtlCol="0">
            <a:spAutoFit/>
          </a:bodyPr>
          <a:lstStyle/>
          <a:p>
            <a:pPr>
              <a:lnSpc>
                <a:spcPct val="120000"/>
              </a:lnSpc>
            </a:pPr>
            <a:r>
              <a:rPr lang="zh-CN" altLang="en-US" sz="2400" b="1" dirty="0">
                <a:solidFill>
                  <a:srgbClr val="C00000"/>
                </a:solidFill>
                <a:latin typeface="微软雅黑" panose="020B0503020204020204" pitchFamily="34" charset="-122"/>
                <a:ea typeface="微软雅黑" panose="020B0503020204020204" pitchFamily="34" charset="-122"/>
              </a:rPr>
              <a:t>是深化“</a:t>
            </a:r>
            <a:r>
              <a:rPr lang="en-US" altLang="zh-CN" sz="2400" b="1" dirty="0">
                <a:solidFill>
                  <a:srgbClr val="C00000"/>
                </a:solidFill>
                <a:latin typeface="微软雅黑" panose="020B0503020204020204" pitchFamily="34" charset="-122"/>
                <a:ea typeface="微软雅黑" panose="020B0503020204020204" pitchFamily="34" charset="-122"/>
              </a:rPr>
              <a:t>AI+</a:t>
            </a:r>
            <a:r>
              <a:rPr lang="zh-CN" altLang="en-US" sz="2400" b="1" dirty="0">
                <a:solidFill>
                  <a:srgbClr val="C00000"/>
                </a:solidFill>
                <a:latin typeface="微软雅黑" panose="020B0503020204020204" pitchFamily="34" charset="-122"/>
                <a:ea typeface="微软雅黑" panose="020B0503020204020204" pitchFamily="34" charset="-122"/>
              </a:rPr>
              <a:t>中医药”行动的客观要求 </a:t>
            </a:r>
          </a:p>
        </p:txBody>
      </p:sp>
      <p:sp>
        <p:nvSpPr>
          <p:cNvPr id="3" name="矩形: 圆角 2"/>
          <p:cNvSpPr/>
          <p:nvPr/>
        </p:nvSpPr>
        <p:spPr>
          <a:xfrm>
            <a:off x="831720" y="2668357"/>
            <a:ext cx="3139581" cy="2448169"/>
          </a:xfrm>
          <a:prstGeom prst="roundRect">
            <a:avLst>
              <a:gd name="adj" fmla="val 8636"/>
            </a:avLst>
          </a:prstGeom>
          <a:noFill/>
          <a:ln w="15875">
            <a:solidFill>
              <a:schemeClr val="accent1">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903397" y="3713151"/>
            <a:ext cx="2996223" cy="881780"/>
          </a:xfrm>
          <a:prstGeom prst="rect">
            <a:avLst/>
          </a:prstGeom>
          <a:noFill/>
        </p:spPr>
        <p:txBody>
          <a:bodyPr wrap="square">
            <a:spAutoFit/>
          </a:bodyPr>
          <a:lstStyle/>
          <a:p>
            <a:pPr algn="ctr">
              <a:lnSpc>
                <a:spcPts val="2100"/>
              </a:lnSpc>
              <a:spcBef>
                <a:spcPts val="300"/>
              </a:spcBef>
            </a:pPr>
            <a:r>
              <a:rPr lang="zh-CN" altLang="en-US" sz="1600" b="0" i="0" dirty="0">
                <a:effectLst/>
                <a:latin typeface="微软雅黑" panose="020B0503020204020204" pitchFamily="34" charset="-122"/>
                <a:ea typeface="微软雅黑" panose="020B0503020204020204" pitchFamily="34" charset="-122"/>
              </a:rPr>
              <a:t>针对中医药复杂科学特性，需以结构化、关联化的高质量数据，支撑中医药深度智能发展。</a:t>
            </a:r>
          </a:p>
        </p:txBody>
      </p:sp>
      <p:sp>
        <p:nvSpPr>
          <p:cNvPr id="6" name="矩形: 圆角 5"/>
          <p:cNvSpPr/>
          <p:nvPr/>
        </p:nvSpPr>
        <p:spPr>
          <a:xfrm>
            <a:off x="4537302" y="2654020"/>
            <a:ext cx="3139580" cy="2448169"/>
          </a:xfrm>
          <a:prstGeom prst="roundRect">
            <a:avLst>
              <a:gd name="adj" fmla="val 9818"/>
            </a:avLst>
          </a:prstGeom>
          <a:noFill/>
          <a:ln w="15875">
            <a:solidFill>
              <a:schemeClr val="accent1">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837435" y="3771671"/>
            <a:ext cx="2539312" cy="881780"/>
          </a:xfrm>
          <a:prstGeom prst="rect">
            <a:avLst/>
          </a:prstGeom>
          <a:noFill/>
        </p:spPr>
        <p:txBody>
          <a:bodyPr wrap="square">
            <a:spAutoFit/>
          </a:bodyPr>
          <a:lstStyle/>
          <a:p>
            <a:pPr algn="ctr">
              <a:lnSpc>
                <a:spcPts val="2100"/>
              </a:lnSpc>
              <a:spcBef>
                <a:spcPts val="300"/>
              </a:spcBef>
            </a:pPr>
            <a:r>
              <a:rPr lang="zh-CN" altLang="en-US" sz="1600" b="0" i="0" dirty="0">
                <a:effectLst/>
                <a:latin typeface="微软雅黑" panose="020B0503020204020204" pitchFamily="34" charset="-122"/>
                <a:ea typeface="微软雅黑" panose="020B0503020204020204" pitchFamily="34" charset="-122"/>
              </a:rPr>
              <a:t>中医各类典型场景的</a:t>
            </a:r>
            <a:r>
              <a:rPr lang="en-US" altLang="zh-CN" sz="1600" b="0" i="0" dirty="0">
                <a:effectLst/>
                <a:latin typeface="微软雅黑" panose="020B0503020204020204" pitchFamily="34" charset="-122"/>
                <a:ea typeface="微软雅黑" panose="020B0503020204020204" pitchFamily="34" charset="-122"/>
              </a:rPr>
              <a:t>AI </a:t>
            </a:r>
            <a:r>
              <a:rPr lang="zh-CN" altLang="en-US" sz="1600" b="0" i="0" dirty="0">
                <a:effectLst/>
                <a:latin typeface="微软雅黑" panose="020B0503020204020204" pitchFamily="34" charset="-122"/>
                <a:ea typeface="微软雅黑" panose="020B0503020204020204" pitchFamily="34" charset="-122"/>
              </a:rPr>
              <a:t>构建与迭代，均高度依赖高质量数据开展训练。</a:t>
            </a:r>
          </a:p>
        </p:txBody>
      </p:sp>
      <p:sp>
        <p:nvSpPr>
          <p:cNvPr id="8" name="矩形: 圆角 7"/>
          <p:cNvSpPr/>
          <p:nvPr/>
        </p:nvSpPr>
        <p:spPr>
          <a:xfrm>
            <a:off x="8242883" y="2654020"/>
            <a:ext cx="3139580" cy="2448169"/>
          </a:xfrm>
          <a:prstGeom prst="roundRect">
            <a:avLst>
              <a:gd name="adj" fmla="val 8593"/>
            </a:avLst>
          </a:prstGeom>
          <a:noFill/>
          <a:ln w="15875">
            <a:solidFill>
              <a:schemeClr val="accent1">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414785" y="3713151"/>
            <a:ext cx="2967678" cy="1151084"/>
          </a:xfrm>
          <a:prstGeom prst="rect">
            <a:avLst/>
          </a:prstGeom>
          <a:noFill/>
        </p:spPr>
        <p:txBody>
          <a:bodyPr wrap="square">
            <a:spAutoFit/>
          </a:bodyPr>
          <a:lstStyle/>
          <a:p>
            <a:pPr algn="ctr">
              <a:lnSpc>
                <a:spcPts val="2100"/>
              </a:lnSpc>
              <a:spcBef>
                <a:spcPts val="300"/>
              </a:spcBef>
            </a:pPr>
            <a:r>
              <a:rPr lang="zh-CN" altLang="en-US" sz="1600" b="0" i="0" dirty="0">
                <a:effectLst/>
                <a:latin typeface="微软雅黑" panose="020B0503020204020204" pitchFamily="34" charset="-122"/>
                <a:ea typeface="微软雅黑" panose="020B0503020204020204" pitchFamily="34" charset="-122"/>
              </a:rPr>
              <a:t>以高质量数据集与先进模型为基础，推动中医药国际标准制订，有助于占据全球传统医学竞争制高点。</a:t>
            </a:r>
          </a:p>
        </p:txBody>
      </p:sp>
      <p:sp>
        <p:nvSpPr>
          <p:cNvPr id="15" name="文本框 14"/>
          <p:cNvSpPr txBox="1"/>
          <p:nvPr/>
        </p:nvSpPr>
        <p:spPr>
          <a:xfrm>
            <a:off x="846607" y="3093966"/>
            <a:ext cx="3069753" cy="361637"/>
          </a:xfrm>
          <a:prstGeom prst="rect">
            <a:avLst/>
          </a:prstGeom>
          <a:noFill/>
        </p:spPr>
        <p:txBody>
          <a:bodyPr wrap="square">
            <a:spAutoFit/>
          </a:bodyPr>
          <a:lstStyle/>
          <a:p>
            <a:pPr algn="ctr">
              <a:lnSpc>
                <a:spcPts val="2100"/>
              </a:lnSpc>
              <a:spcBef>
                <a:spcPts val="300"/>
              </a:spcBef>
            </a:pPr>
            <a:r>
              <a:rPr lang="zh-CN" altLang="en-US" b="1" i="0" dirty="0">
                <a:solidFill>
                  <a:schemeClr val="accent1"/>
                </a:solidFill>
                <a:effectLst/>
                <a:latin typeface="微软雅黑" panose="020B0503020204020204" pitchFamily="34" charset="-122"/>
                <a:ea typeface="微软雅黑" panose="020B0503020204020204" pitchFamily="34" charset="-122"/>
              </a:rPr>
              <a:t>破解中医药</a:t>
            </a:r>
            <a:r>
              <a:rPr lang="en-US" altLang="zh-CN" b="1" i="0" dirty="0">
                <a:solidFill>
                  <a:schemeClr val="accent1"/>
                </a:solidFill>
                <a:effectLst/>
                <a:latin typeface="微软雅黑" panose="020B0503020204020204" pitchFamily="34" charset="-122"/>
                <a:ea typeface="微软雅黑" panose="020B0503020204020204" pitchFamily="34" charset="-122"/>
              </a:rPr>
              <a:t>AI</a:t>
            </a:r>
            <a:r>
              <a:rPr lang="zh-CN" altLang="en-US" b="1" i="0" dirty="0">
                <a:solidFill>
                  <a:schemeClr val="accent1"/>
                </a:solidFill>
                <a:effectLst/>
                <a:latin typeface="微软雅黑" panose="020B0503020204020204" pitchFamily="34" charset="-122"/>
                <a:ea typeface="微软雅黑" panose="020B0503020204020204" pitchFamily="34" charset="-122"/>
              </a:rPr>
              <a:t>应用技术瓶颈</a:t>
            </a:r>
            <a:endParaRPr lang="en-US" altLang="zh-CN" b="1" i="0" dirty="0">
              <a:solidFill>
                <a:schemeClr val="accent1"/>
              </a:solidFill>
              <a:effectLst/>
              <a:latin typeface="微软雅黑" panose="020B0503020204020204" pitchFamily="34" charset="-122"/>
              <a:ea typeface="微软雅黑" panose="020B0503020204020204" pitchFamily="34" charset="-122"/>
            </a:endParaRPr>
          </a:p>
        </p:txBody>
      </p:sp>
      <p:sp>
        <p:nvSpPr>
          <p:cNvPr id="17" name="文本框 16"/>
          <p:cNvSpPr txBox="1"/>
          <p:nvPr/>
        </p:nvSpPr>
        <p:spPr>
          <a:xfrm>
            <a:off x="4935819" y="2957760"/>
            <a:ext cx="2342545" cy="630942"/>
          </a:xfrm>
          <a:prstGeom prst="rect">
            <a:avLst/>
          </a:prstGeom>
          <a:noFill/>
        </p:spPr>
        <p:txBody>
          <a:bodyPr wrap="square">
            <a:spAutoFit/>
          </a:bodyPr>
          <a:lstStyle/>
          <a:p>
            <a:pPr algn="ctr">
              <a:lnSpc>
                <a:spcPts val="2100"/>
              </a:lnSpc>
              <a:spcBef>
                <a:spcPts val="300"/>
              </a:spcBef>
            </a:pPr>
            <a:r>
              <a:rPr lang="zh-CN" altLang="en-US" b="1" i="0" dirty="0">
                <a:solidFill>
                  <a:schemeClr val="accent1"/>
                </a:solidFill>
                <a:effectLst/>
                <a:latin typeface="微软雅黑" panose="020B0503020204020204" pitchFamily="34" charset="-122"/>
                <a:ea typeface="微软雅黑" panose="020B0503020204020204" pitchFamily="34" charset="-122"/>
              </a:rPr>
              <a:t>  支撑“</a:t>
            </a:r>
            <a:r>
              <a:rPr lang="en-US" altLang="zh-CN" b="1" i="0" dirty="0">
                <a:solidFill>
                  <a:schemeClr val="accent1"/>
                </a:solidFill>
                <a:effectLst/>
                <a:latin typeface="微软雅黑" panose="020B0503020204020204" pitchFamily="34" charset="-122"/>
                <a:ea typeface="微软雅黑" panose="020B0503020204020204" pitchFamily="34" charset="-122"/>
              </a:rPr>
              <a:t>AI+</a:t>
            </a:r>
            <a:r>
              <a:rPr lang="zh-CN" altLang="en-US" b="1" i="0" dirty="0">
                <a:solidFill>
                  <a:schemeClr val="accent1"/>
                </a:solidFill>
                <a:effectLst/>
                <a:latin typeface="微软雅黑" panose="020B0503020204020204" pitchFamily="34" charset="-122"/>
                <a:ea typeface="微软雅黑" panose="020B0503020204020204" pitchFamily="34" charset="-122"/>
              </a:rPr>
              <a:t>中医药”核心场景落地应用</a:t>
            </a:r>
            <a:endParaRPr lang="en-US" altLang="zh-CN" b="1" i="0" dirty="0">
              <a:solidFill>
                <a:schemeClr val="accent1"/>
              </a:solidFill>
              <a:effectLst/>
              <a:latin typeface="微软雅黑" panose="020B0503020204020204" pitchFamily="34" charset="-122"/>
              <a:ea typeface="微软雅黑" panose="020B0503020204020204" pitchFamily="34" charset="-122"/>
            </a:endParaRPr>
          </a:p>
        </p:txBody>
      </p:sp>
      <p:sp>
        <p:nvSpPr>
          <p:cNvPr id="18" name="文本框 17"/>
          <p:cNvSpPr txBox="1"/>
          <p:nvPr/>
        </p:nvSpPr>
        <p:spPr>
          <a:xfrm>
            <a:off x="8546064" y="2957760"/>
            <a:ext cx="2533217" cy="630942"/>
          </a:xfrm>
          <a:prstGeom prst="rect">
            <a:avLst/>
          </a:prstGeom>
          <a:noFill/>
        </p:spPr>
        <p:txBody>
          <a:bodyPr wrap="square">
            <a:spAutoFit/>
          </a:bodyPr>
          <a:lstStyle/>
          <a:p>
            <a:pPr algn="ctr">
              <a:lnSpc>
                <a:spcPts val="2100"/>
              </a:lnSpc>
              <a:spcBef>
                <a:spcPts val="300"/>
              </a:spcBef>
            </a:pPr>
            <a:r>
              <a:rPr lang="zh-CN" altLang="en-US" b="1" i="0" dirty="0">
                <a:solidFill>
                  <a:schemeClr val="accent1"/>
                </a:solidFill>
                <a:effectLst/>
                <a:latin typeface="微软雅黑" panose="020B0503020204020204" pitchFamily="34" charset="-122"/>
                <a:ea typeface="微软雅黑" panose="020B0503020204020204" pitchFamily="34" charset="-122"/>
              </a:rPr>
              <a:t>抢占中医药国际竞争与标准制订高地</a:t>
            </a:r>
          </a:p>
        </p:txBody>
      </p:sp>
      <p:sp>
        <p:nvSpPr>
          <p:cNvPr id="13" name="文本框 12"/>
          <p:cNvSpPr txBox="1"/>
          <p:nvPr/>
        </p:nvSpPr>
        <p:spPr>
          <a:xfrm>
            <a:off x="397658" y="386876"/>
            <a:ext cx="655413" cy="607695"/>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14" name="箭头: 下 13"/>
          <p:cNvSpPr/>
          <p:nvPr/>
        </p:nvSpPr>
        <p:spPr>
          <a:xfrm rot="16200000">
            <a:off x="7789067" y="3747738"/>
            <a:ext cx="359534" cy="360000"/>
          </a:xfrm>
          <a:prstGeom prst="downArrow">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箭头: 下 18"/>
          <p:cNvSpPr/>
          <p:nvPr/>
        </p:nvSpPr>
        <p:spPr>
          <a:xfrm rot="16200000">
            <a:off x="4091584" y="3747739"/>
            <a:ext cx="359534" cy="360000"/>
          </a:xfrm>
          <a:prstGeom prst="downArrow">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572223" y="1386457"/>
            <a:ext cx="595219" cy="461665"/>
          </a:xfrm>
          <a:prstGeom prst="rect">
            <a:avLst/>
          </a:prstGeom>
          <a:noFill/>
        </p:spPr>
        <p:txBody>
          <a:bodyPr wrap="square">
            <a:spAutoFit/>
          </a:bodyPr>
          <a:lstStyle/>
          <a:p>
            <a:pPr algn="ctr"/>
            <a:r>
              <a:rPr lang="en-US" altLang="zh-CN" sz="2400" b="1" i="0" dirty="0">
                <a:solidFill>
                  <a:schemeClr val="bg1"/>
                </a:solidFill>
                <a:effectLst/>
                <a:latin typeface="Noto Sans SC Black" panose="020B0200000000000000" pitchFamily="34" charset="-122"/>
                <a:ea typeface="Noto Sans SC Black" panose="020B0200000000000000" pitchFamily="34" charset="-122"/>
              </a:rPr>
              <a:t>01</a:t>
            </a:r>
            <a:endParaRPr lang="zh-CN" altLang="en-US" sz="2400" b="1" i="0" dirty="0">
              <a:solidFill>
                <a:schemeClr val="bg1"/>
              </a:solidFill>
              <a:effectLst/>
              <a:latin typeface="Noto Sans SC Black" panose="020B0200000000000000" pitchFamily="34" charset="-122"/>
              <a:ea typeface="Noto Sans SC Black" panose="020B0200000000000000"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572224" y="1318355"/>
            <a:ext cx="11389738" cy="553858"/>
            <a:chOff x="572224" y="1318355"/>
            <a:chExt cx="4501391" cy="553858"/>
          </a:xfrm>
        </p:grpSpPr>
        <p:sp>
          <p:nvSpPr>
            <p:cNvPr id="22" name="矩形 3"/>
            <p:cNvSpPr/>
            <p:nvPr/>
          </p:nvSpPr>
          <p:spPr>
            <a:xfrm>
              <a:off x="586442" y="1318355"/>
              <a:ext cx="4487173" cy="553858"/>
            </a:xfrm>
            <a:prstGeom prst="rect">
              <a:avLst/>
            </a:prstGeom>
            <a:gradFill>
              <a:gsLst>
                <a:gs pos="0">
                  <a:schemeClr val="accent1">
                    <a:alpha val="20000"/>
                  </a:schemeClr>
                </a:gs>
                <a:gs pos="100000">
                  <a:schemeClr val="bg1">
                    <a:alpha val="40000"/>
                  </a:schemeClr>
                </a:gs>
              </a:gsLst>
              <a:lin ang="0" scaled="0"/>
            </a:gradFill>
            <a:ln w="12700">
              <a:miter lim="400000"/>
            </a:ln>
          </p:spPr>
          <p:txBody>
            <a:bodyPr lIns="0" tIns="0" rIns="0" bIns="0" anchor="ctr"/>
            <a:lstStyle/>
            <a:p>
              <a:pPr algn="ctr"/>
              <a:endParaRPr dirty="0">
                <a:solidFill>
                  <a:srgbClr val="02AE06">
                    <a:alpha val="20889"/>
                  </a:srgbClr>
                </a:solidFill>
                <a:latin typeface="微软雅黑" panose="020B0503020204020204" pitchFamily="34" charset="-122"/>
                <a:ea typeface="微软雅黑" panose="020B0503020204020204" pitchFamily="34" charset="-122"/>
              </a:endParaRPr>
            </a:p>
          </p:txBody>
        </p:sp>
        <p:sp>
          <p:nvSpPr>
            <p:cNvPr id="23" name="矩形"/>
            <p:cNvSpPr/>
            <p:nvPr/>
          </p:nvSpPr>
          <p:spPr>
            <a:xfrm>
              <a:off x="572224" y="1318355"/>
              <a:ext cx="235239" cy="553858"/>
            </a:xfrm>
            <a:prstGeom prst="rect">
              <a:avLst/>
            </a:prstGeom>
            <a:solidFill>
              <a:schemeClr val="accent1"/>
            </a:solidFill>
            <a:ln w="12700">
              <a:miter lim="400000"/>
            </a:ln>
          </p:spPr>
          <p:txBody>
            <a:bodyPr tIns="91439" bIns="91439" anchor="ctr"/>
            <a:lstStyle/>
            <a:p>
              <a:pPr defTabSz="1828800">
                <a:defRPr sz="3600"/>
              </a:pPr>
              <a:endParaRPr dirty="0">
                <a:latin typeface="微软雅黑" panose="020B0503020204020204" pitchFamily="34" charset="-122"/>
                <a:ea typeface="微软雅黑" panose="020B0503020204020204" pitchFamily="34" charset="-122"/>
              </a:endParaRPr>
            </a:p>
          </p:txBody>
        </p:sp>
      </p:grpSp>
      <p:sp>
        <p:nvSpPr>
          <p:cNvPr id="9" name="标题 8"/>
          <p:cNvSpPr>
            <a:spLocks noGrp="1"/>
          </p:cNvSpPr>
          <p:nvPr>
            <p:ph type="title"/>
          </p:nvPr>
        </p:nvSpPr>
        <p:spPr/>
        <p:txBody>
          <a:bodyPr>
            <a:normAutofit/>
          </a:bodyPr>
          <a:lstStyle/>
          <a:p>
            <a:r>
              <a:rPr lang="zh-CN" altLang="en-US" dirty="0"/>
              <a:t>中医药高质量数据集建设的意义</a:t>
            </a:r>
          </a:p>
        </p:txBody>
      </p:sp>
      <p:sp>
        <p:nvSpPr>
          <p:cNvPr id="2" name="文本框 1"/>
          <p:cNvSpPr txBox="1"/>
          <p:nvPr/>
        </p:nvSpPr>
        <p:spPr>
          <a:xfrm>
            <a:off x="1203325" y="1308735"/>
            <a:ext cx="9682480" cy="534035"/>
          </a:xfrm>
          <a:prstGeom prst="rect">
            <a:avLst/>
          </a:prstGeom>
          <a:noFill/>
        </p:spPr>
        <p:txBody>
          <a:bodyPr wrap="square" rtlCol="0">
            <a:spAutoFit/>
          </a:bodyPr>
          <a:lstStyle/>
          <a:p>
            <a:pPr>
              <a:lnSpc>
                <a:spcPct val="120000"/>
              </a:lnSpc>
            </a:pPr>
            <a:r>
              <a:rPr lang="zh-CN" altLang="en-US" sz="2400" b="1" dirty="0">
                <a:solidFill>
                  <a:srgbClr val="C00000"/>
                </a:solidFill>
                <a:latin typeface="微软雅黑" panose="020B0503020204020204" pitchFamily="34" charset="-122"/>
                <a:ea typeface="微软雅黑" panose="020B0503020204020204" pitchFamily="34" charset="-122"/>
              </a:rPr>
              <a:t>是释放中医药数据要素价值的内在需要</a:t>
            </a:r>
            <a:r>
              <a:rPr lang="zh-CN" altLang="en-US" b="1" dirty="0">
                <a:solidFill>
                  <a:schemeClr val="accent1"/>
                </a:solidFill>
                <a:latin typeface="微软雅黑" panose="020B0503020204020204" pitchFamily="34" charset="-122"/>
                <a:ea typeface="微软雅黑" panose="020B0503020204020204" pitchFamily="34" charset="-122"/>
              </a:rPr>
              <a:t> </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72223" y="1386457"/>
            <a:ext cx="595219" cy="461665"/>
          </a:xfrm>
          <a:prstGeom prst="rect">
            <a:avLst/>
          </a:prstGeom>
          <a:noFill/>
        </p:spPr>
        <p:txBody>
          <a:bodyPr wrap="square">
            <a:spAutoFit/>
          </a:bodyPr>
          <a:lstStyle/>
          <a:p>
            <a:pPr algn="ctr"/>
            <a:r>
              <a:rPr lang="en-US" altLang="zh-CN" sz="2400" b="1" i="0" dirty="0">
                <a:solidFill>
                  <a:schemeClr val="bg1"/>
                </a:solidFill>
                <a:effectLst/>
                <a:latin typeface="Noto Sans SC Black" panose="020B0200000000000000" pitchFamily="34" charset="-122"/>
                <a:ea typeface="Noto Sans SC Black" panose="020B0200000000000000" pitchFamily="34" charset="-122"/>
              </a:rPr>
              <a:t>02</a:t>
            </a:r>
            <a:endParaRPr lang="zh-CN" altLang="en-US" sz="2400" b="1" i="0" dirty="0">
              <a:solidFill>
                <a:schemeClr val="bg1"/>
              </a:solidFill>
              <a:effectLst/>
              <a:latin typeface="Noto Sans SC Black" panose="020B0200000000000000" pitchFamily="34" charset="-122"/>
              <a:ea typeface="Noto Sans SC Black" panose="020B0200000000000000" pitchFamily="34" charset="-122"/>
            </a:endParaRPr>
          </a:p>
        </p:txBody>
      </p:sp>
      <p:sp>
        <p:nvSpPr>
          <p:cNvPr id="10" name="文本框 9"/>
          <p:cNvSpPr txBox="1"/>
          <p:nvPr/>
        </p:nvSpPr>
        <p:spPr>
          <a:xfrm>
            <a:off x="725170" y="2390140"/>
            <a:ext cx="10713720" cy="1050925"/>
          </a:xfrm>
          <a:prstGeom prst="rect">
            <a:avLst/>
          </a:prstGeom>
          <a:noFill/>
        </p:spPr>
        <p:txBody>
          <a:bodyPr wrap="square">
            <a:spAutoFit/>
          </a:bodyPr>
          <a:lstStyle/>
          <a:p>
            <a:pPr marL="285750" indent="-285750">
              <a:lnSpc>
                <a:spcPct val="130000"/>
              </a:lnSpc>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中医药古籍文献、临床记录、科学实验、产业运营等原始数据，在自然状态下仅为</a:t>
            </a:r>
            <a:r>
              <a:rPr lang="zh-CN" altLang="en-US" sz="1600" b="1" i="0" dirty="0">
                <a:solidFill>
                  <a:srgbClr val="C00000"/>
                </a:solidFill>
                <a:effectLst/>
                <a:latin typeface="微软雅黑" panose="020B0503020204020204" pitchFamily="34" charset="-122"/>
                <a:ea typeface="微软雅黑" panose="020B0503020204020204" pitchFamily="34" charset="-122"/>
              </a:rPr>
              <a:t>离散资源</a:t>
            </a:r>
            <a:r>
              <a:rPr lang="zh-CN" altLang="en-US" sz="1600" b="0" i="0" dirty="0">
                <a:effectLst/>
                <a:latin typeface="微软雅黑" panose="020B0503020204020204" pitchFamily="34" charset="-122"/>
                <a:ea typeface="微软雅黑" panose="020B0503020204020204" pitchFamily="34" charset="-122"/>
              </a:rPr>
              <a:t>。</a:t>
            </a:r>
            <a:endParaRPr lang="en-US" altLang="zh-CN" sz="1600" b="0" i="0" dirty="0">
              <a:effectLst/>
              <a:latin typeface="微软雅黑" panose="020B0503020204020204" pitchFamily="34" charset="-122"/>
              <a:ea typeface="微软雅黑" panose="020B0503020204020204" pitchFamily="34" charset="-122"/>
            </a:endParaRPr>
          </a:p>
          <a:p>
            <a:pPr marL="285750" indent="-285750">
              <a:lnSpc>
                <a:spcPct val="130000"/>
              </a:lnSpc>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高质量数据集建设针对应用目标，通过规范设计、标准化采集、治理、标注与质量控制，将</a:t>
            </a:r>
            <a:r>
              <a:rPr lang="zh-CN" altLang="en-US" sz="1600" b="1" i="0" dirty="0">
                <a:solidFill>
                  <a:srgbClr val="C00000"/>
                </a:solidFill>
                <a:effectLst/>
                <a:latin typeface="微软雅黑" panose="020B0503020204020204" pitchFamily="34" charset="-122"/>
                <a:ea typeface="微软雅黑" panose="020B0503020204020204" pitchFamily="34" charset="-122"/>
              </a:rPr>
              <a:t>零散数据转化为算法可直接理解与处理的可用形态</a:t>
            </a:r>
            <a:r>
              <a:rPr lang="zh-CN" altLang="en-US" sz="1600" b="0" i="0" dirty="0">
                <a:effectLst/>
                <a:latin typeface="微软雅黑" panose="020B0503020204020204" pitchFamily="34" charset="-122"/>
                <a:ea typeface="微软雅黑" panose="020B0503020204020204" pitchFamily="34" charset="-122"/>
              </a:rPr>
              <a:t>，使其成为可用于生产、流通与交易的数据要素。</a:t>
            </a:r>
            <a:endParaRPr lang="en-US" altLang="zh-CN" sz="1600" b="0" i="0" dirty="0">
              <a:effectLst/>
              <a:latin typeface="微软雅黑" panose="020B0503020204020204" pitchFamily="34" charset="-122"/>
              <a:ea typeface="微软雅黑" panose="020B0503020204020204" pitchFamily="34" charset="-122"/>
            </a:endParaRPr>
          </a:p>
        </p:txBody>
      </p:sp>
      <p:sp>
        <p:nvSpPr>
          <p:cNvPr id="16" name="文本框 15"/>
          <p:cNvSpPr txBox="1"/>
          <p:nvPr/>
        </p:nvSpPr>
        <p:spPr>
          <a:xfrm>
            <a:off x="725364" y="1953994"/>
            <a:ext cx="5313127" cy="417358"/>
          </a:xfrm>
          <a:prstGeom prst="rect">
            <a:avLst/>
          </a:prstGeom>
          <a:noFill/>
        </p:spPr>
        <p:txBody>
          <a:bodyPr wrap="square">
            <a:spAutoFit/>
          </a:bodyPr>
          <a:lstStyle/>
          <a:p>
            <a:pPr>
              <a:lnSpc>
                <a:spcPct val="130000"/>
              </a:lnSpc>
            </a:pPr>
            <a:r>
              <a:rPr lang="zh-CN" altLang="en-US" b="1" i="0" dirty="0">
                <a:solidFill>
                  <a:srgbClr val="003F88"/>
                </a:solidFill>
                <a:effectLst/>
                <a:latin typeface="微软雅黑" panose="020B0503020204020204" pitchFamily="34" charset="-122"/>
                <a:ea typeface="微软雅黑" panose="020B0503020204020204" pitchFamily="34" charset="-122"/>
              </a:rPr>
              <a:t>实现中医药数据从“资源”到“要素”质变的需要</a:t>
            </a:r>
          </a:p>
        </p:txBody>
      </p:sp>
      <p:sp>
        <p:nvSpPr>
          <p:cNvPr id="4" name="文本框 3"/>
          <p:cNvSpPr txBox="1"/>
          <p:nvPr/>
        </p:nvSpPr>
        <p:spPr>
          <a:xfrm>
            <a:off x="651510" y="3919855"/>
            <a:ext cx="10060940" cy="1050925"/>
          </a:xfrm>
          <a:prstGeom prst="rect">
            <a:avLst/>
          </a:prstGeom>
          <a:noFill/>
        </p:spPr>
        <p:txBody>
          <a:bodyPr wrap="square">
            <a:spAutoFit/>
          </a:bodyPr>
          <a:lstStyle/>
          <a:p>
            <a:pPr>
              <a:lnSpc>
                <a:spcPct val="130000"/>
              </a:lnSpc>
            </a:pPr>
            <a:r>
              <a:rPr lang="zh-CN" altLang="en-US" sz="1600" b="0" i="0" dirty="0">
                <a:effectLst/>
                <a:latin typeface="微软雅黑" panose="020B0503020204020204" pitchFamily="34" charset="-122"/>
                <a:ea typeface="微软雅黑" panose="020B0503020204020204" pitchFamily="34" charset="-122"/>
              </a:rPr>
              <a:t>高质量数据集通过明确元信息、质量等级、安全分类与授权协议，为数据确权、评估、定价与交易提供技术支撑，</a:t>
            </a:r>
            <a:r>
              <a:rPr lang="zh-CN" altLang="en-US" sz="1600" b="1" i="0" dirty="0">
                <a:solidFill>
                  <a:srgbClr val="C00000"/>
                </a:solidFill>
                <a:effectLst/>
                <a:latin typeface="微软雅黑" panose="020B0503020204020204" pitchFamily="34" charset="-122"/>
                <a:ea typeface="微软雅黑" panose="020B0503020204020204" pitchFamily="34" charset="-122"/>
              </a:rPr>
              <a:t>有效破除各参与主体不愿共享、不敢获取、难以使用的数据流通壁垒</a:t>
            </a:r>
            <a:r>
              <a:rPr lang="zh-CN" altLang="en-US" sz="1600" b="0" i="0" dirty="0">
                <a:effectLst/>
                <a:latin typeface="微软雅黑" panose="020B0503020204020204" pitchFamily="34" charset="-122"/>
                <a:ea typeface="微软雅黑" panose="020B0503020204020204" pitchFamily="34" charset="-122"/>
              </a:rPr>
              <a:t>，实现跨机构、跨领域安全流通与聚合，激发网络化协同价值。 </a:t>
            </a:r>
            <a:endParaRPr lang="en-US" altLang="zh-CN" sz="1600" b="0" i="0" dirty="0">
              <a:effectLst/>
              <a:latin typeface="微软雅黑" panose="020B0503020204020204" pitchFamily="34" charset="-122"/>
              <a:ea typeface="微软雅黑" panose="020B0503020204020204" pitchFamily="34" charset="-122"/>
            </a:endParaRPr>
          </a:p>
        </p:txBody>
      </p:sp>
      <p:sp>
        <p:nvSpPr>
          <p:cNvPr id="6" name="文本框 5"/>
          <p:cNvSpPr txBox="1"/>
          <p:nvPr/>
        </p:nvSpPr>
        <p:spPr>
          <a:xfrm>
            <a:off x="725999" y="3502788"/>
            <a:ext cx="4136526" cy="417358"/>
          </a:xfrm>
          <a:prstGeom prst="rect">
            <a:avLst/>
          </a:prstGeom>
          <a:noFill/>
        </p:spPr>
        <p:txBody>
          <a:bodyPr wrap="square">
            <a:spAutoFit/>
          </a:bodyPr>
          <a:lstStyle/>
          <a:p>
            <a:pPr>
              <a:lnSpc>
                <a:spcPct val="130000"/>
              </a:lnSpc>
            </a:pPr>
            <a:r>
              <a:rPr lang="zh-CN" altLang="en-US" b="1" i="0" dirty="0">
                <a:solidFill>
                  <a:srgbClr val="003F88"/>
                </a:solidFill>
                <a:effectLst/>
                <a:latin typeface="微软雅黑" panose="020B0503020204020204" pitchFamily="34" charset="-122"/>
                <a:ea typeface="微软雅黑" panose="020B0503020204020204" pitchFamily="34" charset="-122"/>
              </a:rPr>
              <a:t>发挥中医药数据要素乘数效应的需要</a:t>
            </a:r>
          </a:p>
        </p:txBody>
      </p:sp>
      <p:sp>
        <p:nvSpPr>
          <p:cNvPr id="15" name="文本框 14"/>
          <p:cNvSpPr txBox="1"/>
          <p:nvPr/>
        </p:nvSpPr>
        <p:spPr>
          <a:xfrm>
            <a:off x="725655" y="5051576"/>
            <a:ext cx="5749404" cy="417358"/>
          </a:xfrm>
          <a:prstGeom prst="rect">
            <a:avLst/>
          </a:prstGeom>
          <a:noFill/>
        </p:spPr>
        <p:txBody>
          <a:bodyPr wrap="square">
            <a:spAutoFit/>
          </a:bodyPr>
          <a:lstStyle/>
          <a:p>
            <a:pPr>
              <a:lnSpc>
                <a:spcPct val="130000"/>
              </a:lnSpc>
            </a:pPr>
            <a:r>
              <a:rPr lang="zh-CN" altLang="en-US" b="1" i="0" dirty="0">
                <a:solidFill>
                  <a:srgbClr val="003F88"/>
                </a:solidFill>
                <a:effectLst/>
                <a:latin typeface="微软雅黑" panose="020B0503020204020204" pitchFamily="34" charset="-122"/>
                <a:ea typeface="微软雅黑" panose="020B0503020204020204" pitchFamily="34" charset="-122"/>
              </a:rPr>
              <a:t>数据要素赋能中医药新质生产力的需要</a:t>
            </a:r>
          </a:p>
        </p:txBody>
      </p:sp>
      <p:sp>
        <p:nvSpPr>
          <p:cNvPr id="18" name="文本框 17"/>
          <p:cNvSpPr txBox="1"/>
          <p:nvPr/>
        </p:nvSpPr>
        <p:spPr>
          <a:xfrm>
            <a:off x="659130" y="5539105"/>
            <a:ext cx="10484485" cy="1205230"/>
          </a:xfrm>
          <a:prstGeom prst="rect">
            <a:avLst/>
          </a:prstGeom>
          <a:noFill/>
        </p:spPr>
        <p:txBody>
          <a:bodyPr wrap="square">
            <a:spAutoFit/>
          </a:bodyPr>
          <a:lstStyle/>
          <a:p>
            <a:pPr marL="285750" indent="-285750">
              <a:lnSpc>
                <a:spcPct val="130000"/>
              </a:lnSpc>
              <a:spcAft>
                <a:spcPts val="600"/>
              </a:spcAft>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高质量专病数据集可驱动新药发现与诊疗方案优化，全产业链数据集可赋能智能制药与精准供应链管理。</a:t>
            </a:r>
            <a:endParaRPr lang="en-US" altLang="zh-CN" sz="1600" b="0" i="0" dirty="0">
              <a:effectLst/>
              <a:latin typeface="微软雅黑" panose="020B0503020204020204" pitchFamily="34" charset="-122"/>
              <a:ea typeface="微软雅黑" panose="020B0503020204020204" pitchFamily="34" charset="-122"/>
            </a:endParaRPr>
          </a:p>
          <a:p>
            <a:pPr marL="285750" indent="-285750">
              <a:lnSpc>
                <a:spcPct val="130000"/>
              </a:lnSpc>
              <a:spcAft>
                <a:spcPts val="600"/>
              </a:spcAft>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低质量、非标准化数据易导致模型失效、决策偏差。</a:t>
            </a:r>
            <a:endParaRPr lang="en-US" altLang="zh-CN" sz="1600" b="0" i="0" dirty="0">
              <a:effectLst/>
              <a:latin typeface="微软雅黑" panose="020B0503020204020204" pitchFamily="34" charset="-122"/>
              <a:ea typeface="微软雅黑" panose="020B0503020204020204" pitchFamily="34" charset="-122"/>
            </a:endParaRPr>
          </a:p>
          <a:p>
            <a:pPr>
              <a:lnSpc>
                <a:spcPct val="130000"/>
              </a:lnSpc>
              <a:spcAft>
                <a:spcPts val="600"/>
              </a:spcAft>
            </a:pPr>
            <a:r>
              <a:rPr lang="zh-CN" altLang="en-US" sz="1600" b="0" i="0" dirty="0">
                <a:effectLst/>
                <a:latin typeface="微软雅黑" panose="020B0503020204020204" pitchFamily="34" charset="-122"/>
                <a:ea typeface="微软雅黑" panose="020B0503020204020204" pitchFamily="34" charset="-122"/>
              </a:rPr>
              <a:t>因此，高质量数据集建设</a:t>
            </a:r>
            <a:r>
              <a:rPr lang="zh-CN" altLang="en-US" sz="1600" b="1" i="0" dirty="0">
                <a:solidFill>
                  <a:srgbClr val="C00000"/>
                </a:solidFill>
                <a:effectLst/>
                <a:latin typeface="微软雅黑" panose="020B0503020204020204" pitchFamily="34" charset="-122"/>
                <a:ea typeface="微软雅黑" panose="020B0503020204020204" pitchFamily="34" charset="-122"/>
              </a:rPr>
              <a:t>是避免“数字噪音”、保障数据要素有效转化为新质生产力</a:t>
            </a:r>
            <a:r>
              <a:rPr lang="zh-CN" altLang="en-US" sz="1600" b="0" i="0" dirty="0">
                <a:effectLst/>
                <a:latin typeface="微软雅黑" panose="020B0503020204020204" pitchFamily="34" charset="-122"/>
                <a:ea typeface="微软雅黑" panose="020B0503020204020204" pitchFamily="34" charset="-122"/>
              </a:rPr>
              <a:t>的关键。 </a:t>
            </a:r>
            <a:endParaRPr lang="en-US" altLang="zh-CN" sz="1600" b="0" i="0" dirty="0">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中医药高质量数据集建设的意义</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a:solidFill>
                <a:schemeClr val="bg1"/>
              </a:solidFill>
              <a:latin typeface="微软雅黑" panose="020B0503020204020204" pitchFamily="34" charset="-122"/>
              <a:ea typeface="微软雅黑" panose="020B0503020204020204" pitchFamily="34" charset="-122"/>
            </a:endParaRPr>
          </a:p>
        </p:txBody>
      </p:sp>
      <p:grpSp>
        <p:nvGrpSpPr>
          <p:cNvPr id="15" name="组合 14"/>
          <p:cNvGrpSpPr/>
          <p:nvPr>
            <p:custDataLst>
              <p:tags r:id="rId1"/>
            </p:custDataLst>
          </p:nvPr>
        </p:nvGrpSpPr>
        <p:grpSpPr>
          <a:xfrm>
            <a:off x="9126861" y="2751488"/>
            <a:ext cx="2629846" cy="1815094"/>
            <a:chOff x="9071975" y="2395949"/>
            <a:chExt cx="2629846" cy="1815094"/>
          </a:xfrm>
        </p:grpSpPr>
        <p:sp>
          <p:nvSpPr>
            <p:cNvPr id="17" name="Shape 56"/>
            <p:cNvSpPr/>
            <p:nvPr>
              <p:custDataLst>
                <p:tags r:id="rId27"/>
              </p:custDataLst>
            </p:nvPr>
          </p:nvSpPr>
          <p:spPr bwMode="auto">
            <a:xfrm>
              <a:off x="9071975" y="2395949"/>
              <a:ext cx="2513850" cy="128244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1"/>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sp>
          <p:nvSpPr>
            <p:cNvPr id="18" name="Shape 59"/>
            <p:cNvSpPr/>
            <p:nvPr>
              <p:custDataLst>
                <p:tags r:id="rId28"/>
              </p:custDataLst>
            </p:nvPr>
          </p:nvSpPr>
          <p:spPr bwMode="auto">
            <a:xfrm rot="10800000">
              <a:off x="11106069" y="3615291"/>
              <a:ext cx="595752" cy="59575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1"/>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grpSp>
      <p:grpSp>
        <p:nvGrpSpPr>
          <p:cNvPr id="19" name="组合 18"/>
          <p:cNvGrpSpPr/>
          <p:nvPr>
            <p:custDataLst>
              <p:tags r:id="rId2"/>
            </p:custDataLst>
          </p:nvPr>
        </p:nvGrpSpPr>
        <p:grpSpPr>
          <a:xfrm>
            <a:off x="6981412" y="3586654"/>
            <a:ext cx="2624279" cy="1723226"/>
            <a:chOff x="6926526" y="3231115"/>
            <a:chExt cx="2624279" cy="1723226"/>
          </a:xfrm>
        </p:grpSpPr>
        <p:sp>
          <p:nvSpPr>
            <p:cNvPr id="20" name="Shape 54"/>
            <p:cNvSpPr/>
            <p:nvPr>
              <p:custDataLst>
                <p:tags r:id="rId25"/>
              </p:custDataLst>
            </p:nvPr>
          </p:nvSpPr>
          <p:spPr bwMode="auto">
            <a:xfrm rot="10800000">
              <a:off x="6926526" y="3672825"/>
              <a:ext cx="2513850" cy="128151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2"/>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sp>
          <p:nvSpPr>
            <p:cNvPr id="24" name="Shape 61"/>
            <p:cNvSpPr/>
            <p:nvPr>
              <p:custDataLst>
                <p:tags r:id="rId26"/>
              </p:custDataLst>
            </p:nvPr>
          </p:nvSpPr>
          <p:spPr bwMode="auto">
            <a:xfrm>
              <a:off x="8955981" y="3231115"/>
              <a:ext cx="594824" cy="59482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2"/>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grpSp>
      <p:grpSp>
        <p:nvGrpSpPr>
          <p:cNvPr id="25" name="组合 24"/>
          <p:cNvGrpSpPr/>
          <p:nvPr>
            <p:custDataLst>
              <p:tags r:id="rId3"/>
            </p:custDataLst>
          </p:nvPr>
        </p:nvGrpSpPr>
        <p:grpSpPr>
          <a:xfrm>
            <a:off x="4834660" y="2751267"/>
            <a:ext cx="2627995" cy="1814867"/>
            <a:chOff x="4779774" y="2395728"/>
            <a:chExt cx="2627995" cy="1814867"/>
          </a:xfrm>
        </p:grpSpPr>
        <p:sp>
          <p:nvSpPr>
            <p:cNvPr id="27" name="Shape 52"/>
            <p:cNvSpPr/>
            <p:nvPr>
              <p:custDataLst>
                <p:tags r:id="rId23"/>
              </p:custDataLst>
            </p:nvPr>
          </p:nvSpPr>
          <p:spPr bwMode="auto">
            <a:xfrm>
              <a:off x="4779774" y="2395728"/>
              <a:ext cx="2513856" cy="1282283"/>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lIns="50800" tIns="50800" rIns="50800" bIns="50800" anchor="ctr"/>
            <a:lstStyle/>
            <a:p>
              <a:endParaRPr lang="zh-CN" altLang="en-US"/>
            </a:p>
          </p:txBody>
        </p:sp>
        <p:sp>
          <p:nvSpPr>
            <p:cNvPr id="28" name="Shape 58"/>
            <p:cNvSpPr/>
            <p:nvPr>
              <p:custDataLst>
                <p:tags r:id="rId24"/>
              </p:custDataLst>
            </p:nvPr>
          </p:nvSpPr>
          <p:spPr bwMode="auto">
            <a:xfrm rot="10800000">
              <a:off x="6812016" y="3614918"/>
              <a:ext cx="595753" cy="595677"/>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3">
                <a:lumMod val="75000"/>
              </a:schemeClr>
            </a:solidFill>
            <a:ln>
              <a:noFill/>
            </a:ln>
            <a:extLst>
              <a:ext uri="{91240B29-F687-4F45-9708-019B960494DF}">
                <a14:hiddenLine xmlns:a14="http://schemas.microsoft.com/office/drawing/2010/main" w="9525">
                  <a:solidFill>
                    <a:srgbClr val="000000"/>
                  </a:solidFill>
                  <a:round/>
                </a14:hiddenLine>
              </a:ext>
            </a:extLst>
          </p:spPr>
          <p:txBody>
            <a:bodyPr lIns="50800" tIns="50800" rIns="50800" bIns="50800" anchor="ctr"/>
            <a:lstStyle/>
            <a:p>
              <a:endParaRPr lang="zh-CN" altLang="en-US"/>
            </a:p>
          </p:txBody>
        </p:sp>
      </p:grpSp>
      <p:grpSp>
        <p:nvGrpSpPr>
          <p:cNvPr id="30" name="组合 29"/>
          <p:cNvGrpSpPr/>
          <p:nvPr>
            <p:custDataLst>
              <p:tags r:id="rId4"/>
            </p:custDataLst>
          </p:nvPr>
        </p:nvGrpSpPr>
        <p:grpSpPr>
          <a:xfrm>
            <a:off x="2691442" y="3586654"/>
            <a:ext cx="2627990" cy="1723226"/>
            <a:chOff x="2636556" y="3231115"/>
            <a:chExt cx="2627990" cy="1723226"/>
          </a:xfrm>
        </p:grpSpPr>
        <p:sp>
          <p:nvSpPr>
            <p:cNvPr id="32" name="Shape 50"/>
            <p:cNvSpPr/>
            <p:nvPr>
              <p:custDataLst>
                <p:tags r:id="rId21"/>
              </p:custDataLst>
            </p:nvPr>
          </p:nvSpPr>
          <p:spPr bwMode="auto">
            <a:xfrm rot="10800000">
              <a:off x="2636556" y="3672825"/>
              <a:ext cx="2513850" cy="1281516"/>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3"/>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sp>
          <p:nvSpPr>
            <p:cNvPr id="34" name="Shape 60"/>
            <p:cNvSpPr/>
            <p:nvPr>
              <p:custDataLst>
                <p:tags r:id="rId22"/>
              </p:custDataLst>
            </p:nvPr>
          </p:nvSpPr>
          <p:spPr bwMode="auto">
            <a:xfrm>
              <a:off x="4669722" y="3231115"/>
              <a:ext cx="594824" cy="59482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3"/>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grpSp>
      <p:sp>
        <p:nvSpPr>
          <p:cNvPr id="35" name="文本框 34"/>
          <p:cNvSpPr txBox="1"/>
          <p:nvPr/>
        </p:nvSpPr>
        <p:spPr>
          <a:xfrm>
            <a:off x="801599" y="4451297"/>
            <a:ext cx="1727338" cy="1880130"/>
          </a:xfrm>
          <a:prstGeom prst="rect">
            <a:avLst/>
          </a:prstGeom>
          <a:noFill/>
        </p:spPr>
        <p:txBody>
          <a:bodyPr wrap="square" rtlCol="0">
            <a:spAutoFit/>
          </a:bodyPr>
          <a:lstStyle/>
          <a:p>
            <a:pPr algn="just">
              <a:lnSpc>
                <a:spcPct val="120000"/>
              </a:lnSpc>
            </a:pP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系统化采集与结构化处理名老中医诊疗全过程数据，构建可分析、可学习的数字化知识体系，实现隐性经验显性化、智能化传承。</a:t>
            </a:r>
          </a:p>
        </p:txBody>
      </p:sp>
      <p:sp>
        <p:nvSpPr>
          <p:cNvPr id="36" name="文本框 35"/>
          <p:cNvSpPr txBox="1"/>
          <p:nvPr/>
        </p:nvSpPr>
        <p:spPr>
          <a:xfrm>
            <a:off x="646912" y="4028197"/>
            <a:ext cx="2084472" cy="458908"/>
          </a:xfrm>
          <a:prstGeom prst="rect">
            <a:avLst/>
          </a:prstGeom>
          <a:noFill/>
        </p:spPr>
        <p:txBody>
          <a:bodyPr wrap="square" rtlCol="0">
            <a:spAutoFit/>
          </a:bodyPr>
          <a:lstStyle/>
          <a:p>
            <a:pPr algn="ctr">
              <a:lnSpc>
                <a:spcPct val="150000"/>
              </a:lnSpc>
            </a:pPr>
            <a:r>
              <a:rPr kumimoji="1" lang="zh-CN" altLang="en-US"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优化经验传承模式</a:t>
            </a:r>
          </a:p>
        </p:txBody>
      </p:sp>
      <p:grpSp>
        <p:nvGrpSpPr>
          <p:cNvPr id="37" name="组合 36"/>
          <p:cNvGrpSpPr/>
          <p:nvPr>
            <p:custDataLst>
              <p:tags r:id="rId5"/>
            </p:custDataLst>
          </p:nvPr>
        </p:nvGrpSpPr>
        <p:grpSpPr>
          <a:xfrm>
            <a:off x="545065" y="2751488"/>
            <a:ext cx="2631701" cy="1815094"/>
            <a:chOff x="490179" y="2395949"/>
            <a:chExt cx="2631701" cy="1815094"/>
          </a:xfrm>
        </p:grpSpPr>
        <p:sp>
          <p:nvSpPr>
            <p:cNvPr id="38" name="Shape 48"/>
            <p:cNvSpPr/>
            <p:nvPr/>
          </p:nvSpPr>
          <p:spPr bwMode="auto">
            <a:xfrm>
              <a:off x="490179" y="2395949"/>
              <a:ext cx="2514778" cy="1282444"/>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9981" y="0"/>
                  </a:moveTo>
                  <a:cubicBezTo>
                    <a:pt x="7109" y="0"/>
                    <a:pt x="5657" y="10"/>
                    <a:pt x="4123" y="964"/>
                  </a:cubicBezTo>
                  <a:cubicBezTo>
                    <a:pt x="2433" y="2169"/>
                    <a:pt x="1104" y="4776"/>
                    <a:pt x="489" y="8088"/>
                  </a:cubicBezTo>
                  <a:cubicBezTo>
                    <a:pt x="0" y="11114"/>
                    <a:pt x="0" y="13963"/>
                    <a:pt x="0" y="19575"/>
                  </a:cubicBezTo>
                  <a:lnTo>
                    <a:pt x="0" y="21600"/>
                  </a:lnTo>
                  <a:lnTo>
                    <a:pt x="3172" y="21600"/>
                  </a:lnTo>
                  <a:lnTo>
                    <a:pt x="3172" y="16849"/>
                  </a:lnTo>
                  <a:cubicBezTo>
                    <a:pt x="3172" y="13802"/>
                    <a:pt x="3172" y="12256"/>
                    <a:pt x="3438" y="10613"/>
                  </a:cubicBezTo>
                  <a:cubicBezTo>
                    <a:pt x="3772" y="8814"/>
                    <a:pt x="4493" y="7395"/>
                    <a:pt x="5410" y="6741"/>
                  </a:cubicBezTo>
                  <a:cubicBezTo>
                    <a:pt x="6244" y="6223"/>
                    <a:pt x="7030" y="6223"/>
                    <a:pt x="8591" y="6223"/>
                  </a:cubicBezTo>
                  <a:lnTo>
                    <a:pt x="8614" y="6223"/>
                  </a:lnTo>
                  <a:lnTo>
                    <a:pt x="13009" y="6223"/>
                  </a:lnTo>
                  <a:cubicBezTo>
                    <a:pt x="14563" y="6223"/>
                    <a:pt x="15352" y="6220"/>
                    <a:pt x="16190" y="6741"/>
                  </a:cubicBezTo>
                  <a:cubicBezTo>
                    <a:pt x="17107" y="7395"/>
                    <a:pt x="17828" y="8815"/>
                    <a:pt x="18162" y="10613"/>
                  </a:cubicBezTo>
                  <a:cubicBezTo>
                    <a:pt x="18428" y="12256"/>
                    <a:pt x="18428" y="13800"/>
                    <a:pt x="18428" y="16894"/>
                  </a:cubicBezTo>
                  <a:lnTo>
                    <a:pt x="18428" y="21600"/>
                  </a:lnTo>
                  <a:lnTo>
                    <a:pt x="21600" y="21600"/>
                  </a:lnTo>
                  <a:lnTo>
                    <a:pt x="21600" y="19664"/>
                  </a:lnTo>
                  <a:cubicBezTo>
                    <a:pt x="21600" y="13965"/>
                    <a:pt x="21600" y="11114"/>
                    <a:pt x="21111" y="8088"/>
                  </a:cubicBezTo>
                  <a:cubicBezTo>
                    <a:pt x="20496" y="4776"/>
                    <a:pt x="19164" y="2169"/>
                    <a:pt x="17475" y="964"/>
                  </a:cubicBezTo>
                  <a:cubicBezTo>
                    <a:pt x="15932" y="4"/>
                    <a:pt x="14479" y="0"/>
                    <a:pt x="11617" y="0"/>
                  </a:cubicBezTo>
                  <a:lnTo>
                    <a:pt x="10026" y="0"/>
                  </a:lnTo>
                  <a:lnTo>
                    <a:pt x="9981" y="0"/>
                  </a:lnTo>
                  <a:close/>
                </a:path>
              </a:pathLst>
            </a:custGeom>
            <a:solidFill>
              <a:schemeClr val="accent4"/>
            </a:solidFill>
            <a:ln>
              <a:noFill/>
            </a:ln>
          </p:spPr>
          <p:txBody>
            <a:bodyPr lIns="50800" tIns="50800" rIns="50800" bIns="50800" anchor="ctr"/>
            <a:lstStyle/>
            <a:p>
              <a:pPr>
                <a:defRPr/>
              </a:pPr>
              <a:endParaRPr lang="en-US" dirty="0">
                <a:latin typeface="Poppins" charset="0"/>
                <a:ea typeface="Poppins" charset="0"/>
                <a:cs typeface="Poppins" charset="0"/>
                <a:sym typeface="Poppins" charset="0"/>
              </a:endParaRPr>
            </a:p>
          </p:txBody>
        </p:sp>
        <p:sp>
          <p:nvSpPr>
            <p:cNvPr id="39" name="Shape 57"/>
            <p:cNvSpPr/>
            <p:nvPr>
              <p:custDataLst>
                <p:tags r:id="rId20"/>
              </p:custDataLst>
            </p:nvPr>
          </p:nvSpPr>
          <p:spPr bwMode="auto">
            <a:xfrm rot="10800000">
              <a:off x="2527056" y="3615291"/>
              <a:ext cx="594824" cy="59575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5898240 60000 65536"/>
                <a:gd name="T10" fmla="*/ 11796480 60000 65536"/>
                <a:gd name="T11" fmla="*/ 17694720 60000 65536"/>
              </a:gdLst>
              <a:ahLst/>
              <a:cxnLst>
                <a:cxn ang="T8">
                  <a:pos x="T0" y="T1"/>
                </a:cxn>
                <a:cxn ang="T9">
                  <a:pos x="T2" y="T3"/>
                </a:cxn>
                <a:cxn ang="T10">
                  <a:pos x="T4" y="T5"/>
                </a:cxn>
                <a:cxn ang="T11">
                  <a:pos x="T6" y="T7"/>
                </a:cxn>
              </a:cxnLst>
              <a:rect l="0" t="0" r="r" b="b"/>
              <a:pathLst>
                <a:path w="21600" h="21600" extrusionOk="0">
                  <a:moveTo>
                    <a:pt x="10800" y="0"/>
                  </a:moveTo>
                  <a:lnTo>
                    <a:pt x="21600" y="21600"/>
                  </a:lnTo>
                  <a:lnTo>
                    <a:pt x="0" y="21600"/>
                  </a:lnTo>
                  <a:lnTo>
                    <a:pt x="10800" y="0"/>
                  </a:lnTo>
                  <a:close/>
                </a:path>
              </a:pathLst>
            </a:custGeom>
            <a:solidFill>
              <a:schemeClr val="accent4"/>
            </a:solidFill>
            <a:ln>
              <a:noFill/>
            </a:ln>
          </p:spPr>
          <p:txBody>
            <a:bodyPr lIns="50800" tIns="50800" rIns="50800" bIns="50800" anchor="ctr"/>
            <a:lstStyle/>
            <a:p>
              <a:pPr>
                <a:defRPr/>
              </a:pPr>
              <a:endParaRPr lang="en-US">
                <a:latin typeface="Poppins" charset="0"/>
                <a:ea typeface="Poppins" charset="0"/>
                <a:cs typeface="Poppins" charset="0"/>
                <a:sym typeface="Poppins" charset="0"/>
              </a:endParaRPr>
            </a:p>
          </p:txBody>
        </p:sp>
      </p:grpSp>
      <p:sp>
        <p:nvSpPr>
          <p:cNvPr id="45" name="文本框 44"/>
          <p:cNvSpPr txBox="1"/>
          <p:nvPr>
            <p:custDataLst>
              <p:tags r:id="rId6"/>
            </p:custDataLst>
          </p:nvPr>
        </p:nvSpPr>
        <p:spPr>
          <a:xfrm>
            <a:off x="3090814" y="2057317"/>
            <a:ext cx="1727338" cy="1363065"/>
          </a:xfrm>
          <a:prstGeom prst="rect">
            <a:avLst/>
          </a:prstGeom>
          <a:noFill/>
        </p:spPr>
        <p:txBody>
          <a:bodyPr wrap="square" rtlCol="0">
            <a:spAutoFit/>
          </a:bodyPr>
          <a:lstStyle/>
          <a:p>
            <a:pPr algn="just">
              <a:lnSpc>
                <a:spcPct val="120000"/>
              </a:lnSpc>
            </a:pP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推动中医药研究进入以“机器涌现智能、人机物融合”为特征的 </a:t>
            </a:r>
            <a:r>
              <a:rPr kumimoji="1" lang="en-US" altLang="zh-CN"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AI4S </a:t>
            </a: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第五科研范式。</a:t>
            </a:r>
          </a:p>
        </p:txBody>
      </p:sp>
      <p:sp>
        <p:nvSpPr>
          <p:cNvPr id="46" name="文本框 45"/>
          <p:cNvSpPr txBox="1"/>
          <p:nvPr>
            <p:custDataLst>
              <p:tags r:id="rId7"/>
            </p:custDataLst>
          </p:nvPr>
        </p:nvSpPr>
        <p:spPr>
          <a:xfrm>
            <a:off x="2809097" y="1557969"/>
            <a:ext cx="2334768" cy="458908"/>
          </a:xfrm>
          <a:prstGeom prst="rect">
            <a:avLst/>
          </a:prstGeom>
          <a:noFill/>
        </p:spPr>
        <p:txBody>
          <a:bodyPr wrap="square" rtlCol="0">
            <a:spAutoFit/>
          </a:bodyPr>
          <a:lstStyle/>
          <a:p>
            <a:pPr algn="ctr">
              <a:lnSpc>
                <a:spcPct val="150000"/>
              </a:lnSpc>
            </a:pPr>
            <a:r>
              <a:rPr kumimoji="1" lang="zh-CN" altLang="en-US"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变革中医药科研范式</a:t>
            </a:r>
          </a:p>
        </p:txBody>
      </p:sp>
      <p:sp>
        <p:nvSpPr>
          <p:cNvPr id="47" name="文本框 46"/>
          <p:cNvSpPr txBox="1"/>
          <p:nvPr>
            <p:custDataLst>
              <p:tags r:id="rId8"/>
            </p:custDataLst>
          </p:nvPr>
        </p:nvSpPr>
        <p:spPr>
          <a:xfrm>
            <a:off x="7376708" y="2049176"/>
            <a:ext cx="1727338" cy="1621598"/>
          </a:xfrm>
          <a:prstGeom prst="rect">
            <a:avLst/>
          </a:prstGeom>
          <a:noFill/>
        </p:spPr>
        <p:txBody>
          <a:bodyPr wrap="square" rtlCol="0">
            <a:spAutoFit/>
          </a:bodyPr>
          <a:lstStyle/>
          <a:p>
            <a:pPr algn="just">
              <a:lnSpc>
                <a:spcPct val="120000"/>
              </a:lnSpc>
            </a:pP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催生数据服务、模型训练、知识付费</a:t>
            </a:r>
          </a:p>
          <a:p>
            <a:pPr algn="just">
              <a:lnSpc>
                <a:spcPct val="120000"/>
              </a:lnSpc>
            </a:pP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等新模式，形成从中医药数据汇聚、治理到应用创新的完整产业生态。</a:t>
            </a:r>
          </a:p>
        </p:txBody>
      </p:sp>
      <p:sp>
        <p:nvSpPr>
          <p:cNvPr id="48" name="文本框 47"/>
          <p:cNvSpPr txBox="1"/>
          <p:nvPr>
            <p:custDataLst>
              <p:tags r:id="rId9"/>
            </p:custDataLst>
          </p:nvPr>
        </p:nvSpPr>
        <p:spPr>
          <a:xfrm>
            <a:off x="7165005" y="1536477"/>
            <a:ext cx="2334768" cy="458908"/>
          </a:xfrm>
          <a:prstGeom prst="rect">
            <a:avLst/>
          </a:prstGeom>
          <a:noFill/>
        </p:spPr>
        <p:txBody>
          <a:bodyPr wrap="square" rtlCol="0">
            <a:spAutoFit/>
          </a:bodyPr>
          <a:lstStyle/>
          <a:p>
            <a:pPr algn="ctr">
              <a:lnSpc>
                <a:spcPct val="150000"/>
              </a:lnSpc>
            </a:pPr>
            <a:r>
              <a:rPr kumimoji="1" lang="zh-CN" altLang="en-US"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培育数据驱动新业态</a:t>
            </a:r>
          </a:p>
        </p:txBody>
      </p:sp>
      <p:sp>
        <p:nvSpPr>
          <p:cNvPr id="49" name="文本框 48"/>
          <p:cNvSpPr txBox="1"/>
          <p:nvPr>
            <p:custDataLst>
              <p:tags r:id="rId10"/>
            </p:custDataLst>
          </p:nvPr>
        </p:nvSpPr>
        <p:spPr>
          <a:xfrm>
            <a:off x="5254074" y="4865818"/>
            <a:ext cx="1727338" cy="846001"/>
          </a:xfrm>
          <a:prstGeom prst="rect">
            <a:avLst/>
          </a:prstGeom>
          <a:noFill/>
        </p:spPr>
        <p:txBody>
          <a:bodyPr wrap="square" rtlCol="0">
            <a:spAutoFit/>
          </a:bodyPr>
          <a:lstStyle/>
          <a:p>
            <a:pPr algn="just">
              <a:lnSpc>
                <a:spcPct val="120000"/>
              </a:lnSpc>
            </a:pP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整合多维度数据，为交叉科学创新提供数据基础。</a:t>
            </a:r>
          </a:p>
        </p:txBody>
      </p:sp>
      <p:sp>
        <p:nvSpPr>
          <p:cNvPr id="50" name="文本框 49"/>
          <p:cNvSpPr txBox="1"/>
          <p:nvPr>
            <p:custDataLst>
              <p:tags r:id="rId11"/>
            </p:custDataLst>
          </p:nvPr>
        </p:nvSpPr>
        <p:spPr>
          <a:xfrm>
            <a:off x="5143865" y="4036404"/>
            <a:ext cx="1939637" cy="458908"/>
          </a:xfrm>
          <a:prstGeom prst="rect">
            <a:avLst/>
          </a:prstGeom>
          <a:noFill/>
        </p:spPr>
        <p:txBody>
          <a:bodyPr wrap="square" rtlCol="0">
            <a:spAutoFit/>
          </a:bodyPr>
          <a:lstStyle/>
          <a:p>
            <a:pPr algn="ctr">
              <a:lnSpc>
                <a:spcPct val="150000"/>
              </a:lnSpc>
            </a:pPr>
            <a:r>
              <a:rPr kumimoji="1" lang="zh-CN" altLang="en-US"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交叉学科发展</a:t>
            </a:r>
          </a:p>
        </p:txBody>
      </p:sp>
      <p:sp>
        <p:nvSpPr>
          <p:cNvPr id="51" name="文本框 50"/>
          <p:cNvSpPr txBox="1"/>
          <p:nvPr>
            <p:custDataLst>
              <p:tags r:id="rId12"/>
            </p:custDataLst>
          </p:nvPr>
        </p:nvSpPr>
        <p:spPr>
          <a:xfrm>
            <a:off x="9533406" y="4636956"/>
            <a:ext cx="1727338" cy="1621598"/>
          </a:xfrm>
          <a:prstGeom prst="rect">
            <a:avLst/>
          </a:prstGeom>
          <a:noFill/>
        </p:spPr>
        <p:txBody>
          <a:bodyPr wrap="square" rtlCol="0">
            <a:spAutoFit/>
          </a:bodyPr>
          <a:lstStyle/>
          <a:p>
            <a:pPr algn="just">
              <a:lnSpc>
                <a:spcPct val="120000"/>
              </a:lnSpc>
            </a:pP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建立并完善涵盖数据采集</a:t>
            </a:r>
            <a:r>
              <a:rPr kumimoji="1" lang="en-US" altLang="zh-CN"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治理</a:t>
            </a:r>
            <a:r>
              <a:rPr kumimoji="1" lang="en-US" altLang="zh-CN"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分析</a:t>
            </a:r>
            <a:r>
              <a:rPr kumimoji="1" lang="en-US" altLang="zh-CN"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a:t>
            </a:r>
            <a:r>
              <a:rPr kumimoji="1" lang="zh-CN" altLang="en-US" sz="1400" dirty="0">
                <a:solidFill>
                  <a:schemeClr val="tx2"/>
                </a:solidFill>
                <a:latin typeface="微软雅黑" panose="020B0503020204020204" pitchFamily="34" charset="-122"/>
                <a:ea typeface="微软雅黑" panose="020B0503020204020204" pitchFamily="34" charset="-122"/>
                <a:cs typeface="Open Sans" panose="020B0606030504020204" pitchFamily="34" charset="0"/>
              </a:rPr>
              <a:t>应用全链条的人才培养体系，提供可持续的核心人力支撑。</a:t>
            </a:r>
          </a:p>
        </p:txBody>
      </p:sp>
      <p:sp>
        <p:nvSpPr>
          <p:cNvPr id="52" name="文本框 51"/>
          <p:cNvSpPr txBox="1"/>
          <p:nvPr>
            <p:custDataLst>
              <p:tags r:id="rId13"/>
            </p:custDataLst>
          </p:nvPr>
        </p:nvSpPr>
        <p:spPr>
          <a:xfrm>
            <a:off x="9427256" y="4107226"/>
            <a:ext cx="1939637" cy="458908"/>
          </a:xfrm>
          <a:prstGeom prst="rect">
            <a:avLst/>
          </a:prstGeom>
          <a:noFill/>
        </p:spPr>
        <p:txBody>
          <a:bodyPr wrap="square" rtlCol="0">
            <a:spAutoFit/>
          </a:bodyPr>
          <a:lstStyle/>
          <a:p>
            <a:pPr algn="ctr">
              <a:lnSpc>
                <a:spcPct val="150000"/>
              </a:lnSpc>
            </a:pPr>
            <a:r>
              <a:rPr kumimoji="1" lang="zh-CN" altLang="en-US" b="1" dirty="0">
                <a:solidFill>
                  <a:schemeClr val="accent1"/>
                </a:solidFill>
                <a:latin typeface="微软雅黑" panose="020B0503020204020204" pitchFamily="34" charset="-122"/>
                <a:ea typeface="微软雅黑" panose="020B0503020204020204" pitchFamily="34" charset="-122"/>
                <a:cs typeface="Open Sans" panose="020B0606030504020204" pitchFamily="34" charset="0"/>
              </a:rPr>
              <a:t>复合型人才梯队</a:t>
            </a:r>
          </a:p>
        </p:txBody>
      </p:sp>
      <p:grpSp>
        <p:nvGrpSpPr>
          <p:cNvPr id="56" name="组合 55"/>
          <p:cNvGrpSpPr/>
          <p:nvPr>
            <p:custDataLst>
              <p:tags r:id="rId14"/>
            </p:custDataLst>
          </p:nvPr>
        </p:nvGrpSpPr>
        <p:grpSpPr>
          <a:xfrm>
            <a:off x="3686674" y="4005126"/>
            <a:ext cx="521714" cy="521714"/>
            <a:chOff x="8165087" y="2623373"/>
            <a:chExt cx="521714" cy="521714"/>
          </a:xfrm>
        </p:grpSpPr>
        <p:sp>
          <p:nvSpPr>
            <p:cNvPr id="57" name="Freeform 57"/>
            <p:cNvSpPr>
              <a:spLocks noEditPoints="1"/>
            </p:cNvSpPr>
            <p:nvPr>
              <p:custDataLst>
                <p:tags r:id="rId18"/>
              </p:custDataLst>
            </p:nvPr>
          </p:nvSpPr>
          <p:spPr bwMode="auto">
            <a:xfrm>
              <a:off x="8254062" y="2760238"/>
              <a:ext cx="343764" cy="247983"/>
            </a:xfrm>
            <a:custGeom>
              <a:avLst/>
              <a:gdLst>
                <a:gd name="T0" fmla="*/ 415925 w 256"/>
                <a:gd name="T1" fmla="*/ 280470 h 184"/>
                <a:gd name="T2" fmla="*/ 396429 w 256"/>
                <a:gd name="T3" fmla="*/ 300038 h 184"/>
                <a:gd name="T4" fmla="*/ 19496 w 256"/>
                <a:gd name="T5" fmla="*/ 300038 h 184"/>
                <a:gd name="T6" fmla="*/ 0 w 256"/>
                <a:gd name="T7" fmla="*/ 280470 h 184"/>
                <a:gd name="T8" fmla="*/ 0 w 256"/>
                <a:gd name="T9" fmla="*/ 156542 h 184"/>
                <a:gd name="T10" fmla="*/ 1625 w 256"/>
                <a:gd name="T11" fmla="*/ 150019 h 184"/>
                <a:gd name="T12" fmla="*/ 1625 w 256"/>
                <a:gd name="T13" fmla="*/ 150019 h 184"/>
                <a:gd name="T14" fmla="*/ 53615 w 256"/>
                <a:gd name="T15" fmla="*/ 13045 h 184"/>
                <a:gd name="T16" fmla="*/ 53615 w 256"/>
                <a:gd name="T17" fmla="*/ 13045 h 184"/>
                <a:gd name="T18" fmla="*/ 71487 w 256"/>
                <a:gd name="T19" fmla="*/ 0 h 184"/>
                <a:gd name="T20" fmla="*/ 344438 w 256"/>
                <a:gd name="T21" fmla="*/ 0 h 184"/>
                <a:gd name="T22" fmla="*/ 362310 w 256"/>
                <a:gd name="T23" fmla="*/ 13045 h 184"/>
                <a:gd name="T24" fmla="*/ 362310 w 256"/>
                <a:gd name="T25" fmla="*/ 13045 h 184"/>
                <a:gd name="T26" fmla="*/ 414300 w 256"/>
                <a:gd name="T27" fmla="*/ 150019 h 184"/>
                <a:gd name="T28" fmla="*/ 414300 w 256"/>
                <a:gd name="T29" fmla="*/ 150019 h 184"/>
                <a:gd name="T30" fmla="*/ 415925 w 256"/>
                <a:gd name="T31" fmla="*/ 156542 h 184"/>
                <a:gd name="T32" fmla="*/ 415925 w 256"/>
                <a:gd name="T33" fmla="*/ 280470 h 184"/>
                <a:gd name="T34" fmla="*/ 331440 w 256"/>
                <a:gd name="T35" fmla="*/ 39135 h 184"/>
                <a:gd name="T36" fmla="*/ 84485 w 256"/>
                <a:gd name="T37" fmla="*/ 39135 h 184"/>
                <a:gd name="T38" fmla="*/ 47117 w 256"/>
                <a:gd name="T39" fmla="*/ 136974 h 184"/>
                <a:gd name="T40" fmla="*/ 110480 w 256"/>
                <a:gd name="T41" fmla="*/ 136974 h 184"/>
                <a:gd name="T42" fmla="*/ 129977 w 256"/>
                <a:gd name="T43" fmla="*/ 156542 h 184"/>
                <a:gd name="T44" fmla="*/ 129977 w 256"/>
                <a:gd name="T45" fmla="*/ 176109 h 184"/>
                <a:gd name="T46" fmla="*/ 285948 w 256"/>
                <a:gd name="T47" fmla="*/ 176109 h 184"/>
                <a:gd name="T48" fmla="*/ 285948 w 256"/>
                <a:gd name="T49" fmla="*/ 156542 h 184"/>
                <a:gd name="T50" fmla="*/ 305445 w 256"/>
                <a:gd name="T51" fmla="*/ 136974 h 184"/>
                <a:gd name="T52" fmla="*/ 368808 w 256"/>
                <a:gd name="T53" fmla="*/ 136974 h 184"/>
                <a:gd name="T54" fmla="*/ 331440 w 256"/>
                <a:gd name="T55" fmla="*/ 39135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256" h="184">
                  <a:moveTo>
                    <a:pt x="256" y="172"/>
                  </a:moveTo>
                  <a:cubicBezTo>
                    <a:pt x="256" y="179"/>
                    <a:pt x="251" y="184"/>
                    <a:pt x="244" y="184"/>
                  </a:cubicBezTo>
                  <a:cubicBezTo>
                    <a:pt x="12" y="184"/>
                    <a:pt x="12" y="184"/>
                    <a:pt x="12" y="184"/>
                  </a:cubicBezTo>
                  <a:cubicBezTo>
                    <a:pt x="5" y="184"/>
                    <a:pt x="0" y="179"/>
                    <a:pt x="0" y="172"/>
                  </a:cubicBezTo>
                  <a:cubicBezTo>
                    <a:pt x="0" y="96"/>
                    <a:pt x="0" y="96"/>
                    <a:pt x="0" y="96"/>
                  </a:cubicBezTo>
                  <a:cubicBezTo>
                    <a:pt x="0" y="94"/>
                    <a:pt x="0" y="93"/>
                    <a:pt x="1" y="92"/>
                  </a:cubicBezTo>
                  <a:cubicBezTo>
                    <a:pt x="1" y="92"/>
                    <a:pt x="1" y="92"/>
                    <a:pt x="1" y="92"/>
                  </a:cubicBezTo>
                  <a:cubicBezTo>
                    <a:pt x="33" y="8"/>
                    <a:pt x="33" y="8"/>
                    <a:pt x="33" y="8"/>
                  </a:cubicBezTo>
                  <a:cubicBezTo>
                    <a:pt x="33" y="8"/>
                    <a:pt x="33" y="8"/>
                    <a:pt x="33" y="8"/>
                  </a:cubicBezTo>
                  <a:cubicBezTo>
                    <a:pt x="35" y="3"/>
                    <a:pt x="39" y="0"/>
                    <a:pt x="44" y="0"/>
                  </a:cubicBezTo>
                  <a:cubicBezTo>
                    <a:pt x="212" y="0"/>
                    <a:pt x="212" y="0"/>
                    <a:pt x="212" y="0"/>
                  </a:cubicBezTo>
                  <a:cubicBezTo>
                    <a:pt x="217" y="0"/>
                    <a:pt x="221" y="3"/>
                    <a:pt x="223" y="8"/>
                  </a:cubicBezTo>
                  <a:cubicBezTo>
                    <a:pt x="223" y="8"/>
                    <a:pt x="223" y="8"/>
                    <a:pt x="223" y="8"/>
                  </a:cubicBezTo>
                  <a:cubicBezTo>
                    <a:pt x="255" y="92"/>
                    <a:pt x="255" y="92"/>
                    <a:pt x="255" y="92"/>
                  </a:cubicBezTo>
                  <a:cubicBezTo>
                    <a:pt x="255" y="92"/>
                    <a:pt x="255" y="92"/>
                    <a:pt x="255" y="92"/>
                  </a:cubicBezTo>
                  <a:cubicBezTo>
                    <a:pt x="256" y="93"/>
                    <a:pt x="256" y="94"/>
                    <a:pt x="256" y="96"/>
                  </a:cubicBezTo>
                  <a:lnTo>
                    <a:pt x="256" y="172"/>
                  </a:lnTo>
                  <a:close/>
                  <a:moveTo>
                    <a:pt x="204" y="24"/>
                  </a:moveTo>
                  <a:cubicBezTo>
                    <a:pt x="52" y="24"/>
                    <a:pt x="52" y="24"/>
                    <a:pt x="52" y="24"/>
                  </a:cubicBezTo>
                  <a:cubicBezTo>
                    <a:pt x="29" y="84"/>
                    <a:pt x="29" y="84"/>
                    <a:pt x="29" y="84"/>
                  </a:cubicBezTo>
                  <a:cubicBezTo>
                    <a:pt x="68" y="84"/>
                    <a:pt x="68" y="84"/>
                    <a:pt x="68" y="84"/>
                  </a:cubicBezTo>
                  <a:cubicBezTo>
                    <a:pt x="75" y="84"/>
                    <a:pt x="80" y="89"/>
                    <a:pt x="80" y="96"/>
                  </a:cubicBezTo>
                  <a:cubicBezTo>
                    <a:pt x="80" y="108"/>
                    <a:pt x="80" y="108"/>
                    <a:pt x="80" y="108"/>
                  </a:cubicBezTo>
                  <a:cubicBezTo>
                    <a:pt x="176" y="108"/>
                    <a:pt x="176" y="108"/>
                    <a:pt x="176" y="108"/>
                  </a:cubicBezTo>
                  <a:cubicBezTo>
                    <a:pt x="176" y="96"/>
                    <a:pt x="176" y="96"/>
                    <a:pt x="176" y="96"/>
                  </a:cubicBezTo>
                  <a:cubicBezTo>
                    <a:pt x="176" y="89"/>
                    <a:pt x="181" y="84"/>
                    <a:pt x="188" y="84"/>
                  </a:cubicBezTo>
                  <a:cubicBezTo>
                    <a:pt x="227" y="84"/>
                    <a:pt x="227" y="84"/>
                    <a:pt x="227" y="84"/>
                  </a:cubicBezTo>
                  <a:lnTo>
                    <a:pt x="204" y="24"/>
                  </a:lnTo>
                  <a:close/>
                </a:path>
              </a:pathLst>
            </a:custGeom>
            <a:solidFill>
              <a:schemeClr val="accent1"/>
            </a:solidFill>
            <a:ln>
              <a:noFill/>
            </a:ln>
          </p:spPr>
          <p:txBody>
            <a:bodyPr/>
            <a:lstStyle/>
            <a:p>
              <a:endParaRPr lang="en-US" dirty="0"/>
            </a:p>
          </p:txBody>
        </p:sp>
        <p:sp>
          <p:nvSpPr>
            <p:cNvPr id="58" name="椭圆 57"/>
            <p:cNvSpPr/>
            <p:nvPr>
              <p:custDataLst>
                <p:tags r:id="rId19"/>
              </p:custDataLst>
            </p:nvPr>
          </p:nvSpPr>
          <p:spPr>
            <a:xfrm>
              <a:off x="8165087" y="2623373"/>
              <a:ext cx="521714" cy="521714"/>
            </a:xfrm>
            <a:prstGeom prst="ellipse">
              <a:avLst/>
            </a:prstGeom>
            <a:no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69" name="图形 68"/>
          <p:cNvPicPr>
            <a:picLocks noChangeAspect="1"/>
          </p:cNvPicPr>
          <p:nvPr>
            <p:custDataLst>
              <p:tags r:id="rId15"/>
            </p:custDataLst>
          </p:nvPr>
        </p:nvPicPr>
        <p:blipFill>
          <a:blip>
            <a:extLst>
              <a:ext uri="{96DAC541-7B7A-43D3-8B79-37D633B846F1}">
                <asvg:svgBlip xmlns:asvg="http://schemas.microsoft.com/office/drawing/2016/SVG/main" r:embed="rId30"/>
              </a:ext>
            </a:extLst>
          </a:blip>
          <a:stretch>
            <a:fillRect/>
          </a:stretch>
        </p:blipFill>
        <p:spPr>
          <a:xfrm>
            <a:off x="10088764" y="3493543"/>
            <a:ext cx="540613" cy="540613"/>
          </a:xfrm>
          <a:prstGeom prst="rect">
            <a:avLst/>
          </a:prstGeom>
        </p:spPr>
      </p:pic>
      <p:pic>
        <p:nvPicPr>
          <p:cNvPr id="71" name="图形 70"/>
          <p:cNvPicPr>
            <a:picLocks noChangeAspect="1"/>
          </p:cNvPicPr>
          <p:nvPr>
            <p:custDataLst>
              <p:tags r:id="rId16"/>
            </p:custDataLst>
          </p:nvPr>
        </p:nvPicPr>
        <p:blipFill>
          <a:blip>
            <a:extLst>
              <a:ext uri="{96DAC541-7B7A-43D3-8B79-37D633B846F1}">
                <asvg:svgBlip xmlns:asvg="http://schemas.microsoft.com/office/drawing/2016/SVG/main" r:embed="rId31"/>
              </a:ext>
            </a:extLst>
          </a:blip>
          <a:stretch>
            <a:fillRect/>
          </a:stretch>
        </p:blipFill>
        <p:spPr>
          <a:xfrm>
            <a:off x="7982759" y="4135352"/>
            <a:ext cx="496199" cy="496199"/>
          </a:xfrm>
          <a:prstGeom prst="rect">
            <a:avLst/>
          </a:prstGeom>
        </p:spPr>
      </p:pic>
      <p:pic>
        <p:nvPicPr>
          <p:cNvPr id="73" name="图形 72"/>
          <p:cNvPicPr>
            <a:picLocks noChangeAspect="1"/>
          </p:cNvPicPr>
          <p:nvPr>
            <p:custDataLst>
              <p:tags r:id="rId17"/>
            </p:custDataLst>
          </p:nvPr>
        </p:nvPicPr>
        <p:blipFill>
          <a:blip>
            <a:extLst>
              <a:ext uri="{96DAC541-7B7A-43D3-8B79-37D633B846F1}">
                <asvg:svgBlip xmlns:asvg="http://schemas.microsoft.com/office/drawing/2016/SVG/main" r:embed="rId32"/>
              </a:ext>
            </a:extLst>
          </a:blip>
          <a:stretch>
            <a:fillRect/>
          </a:stretch>
        </p:blipFill>
        <p:spPr>
          <a:xfrm>
            <a:off x="5851341" y="3391861"/>
            <a:ext cx="540000" cy="540000"/>
          </a:xfrm>
          <a:prstGeom prst="rect">
            <a:avLst/>
          </a:prstGeom>
        </p:spPr>
      </p:pic>
      <p:pic>
        <p:nvPicPr>
          <p:cNvPr id="75" name="图形 74"/>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1455148" y="3463861"/>
            <a:ext cx="468000" cy="46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7886"/>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中医药高质量数据集建设现状与挑战</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02</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中医药高质量数据集建设现状与挑战</a:t>
            </a:r>
          </a:p>
        </p:txBody>
      </p:sp>
      <p:graphicFrame>
        <p:nvGraphicFramePr>
          <p:cNvPr id="5" name="图示 4"/>
          <p:cNvGraphicFramePr/>
          <p:nvPr/>
        </p:nvGraphicFramePr>
        <p:xfrm>
          <a:off x="192178" y="1052457"/>
          <a:ext cx="11712756"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图形 6"/>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7422" y="406733"/>
            <a:ext cx="504000" cy="50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7886"/>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中医药高质量数据集建设目标</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03</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中医药高质量数据集建设目标</a:t>
            </a:r>
          </a:p>
        </p:txBody>
      </p:sp>
      <p:sp>
        <p:nvSpPr>
          <p:cNvPr id="9" name="文本框 8"/>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aphicFrame>
        <p:nvGraphicFramePr>
          <p:cNvPr id="3" name="图示 2"/>
          <p:cNvGraphicFramePr/>
          <p:nvPr/>
        </p:nvGraphicFramePr>
        <p:xfrm>
          <a:off x="611516" y="1052457"/>
          <a:ext cx="11396454"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6755"/>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中医药高质量数据集特征</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04</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中医药高质量数据集核心特征 </a:t>
            </a:r>
          </a:p>
        </p:txBody>
      </p:sp>
      <p:sp>
        <p:nvSpPr>
          <p:cNvPr id="2" name="文本框 1"/>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aphicFrame>
        <p:nvGraphicFramePr>
          <p:cNvPr id="4" name="图示 3"/>
          <p:cNvGraphicFramePr/>
          <p:nvPr/>
        </p:nvGraphicFramePr>
        <p:xfrm>
          <a:off x="241300" y="1329690"/>
          <a:ext cx="11282680" cy="26498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图示 4"/>
          <p:cNvGraphicFramePr/>
          <p:nvPr/>
        </p:nvGraphicFramePr>
        <p:xfrm>
          <a:off x="85090" y="3816350"/>
          <a:ext cx="11438890" cy="276415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圆顶角 39"/>
          <p:cNvSpPr/>
          <p:nvPr/>
        </p:nvSpPr>
        <p:spPr>
          <a:xfrm rot="10800000">
            <a:off x="3385024" y="1343754"/>
            <a:ext cx="2662758" cy="5159791"/>
          </a:xfrm>
          <a:prstGeom prst="round2SameRect">
            <a:avLst>
              <a:gd name="adj1" fmla="val 11479"/>
              <a:gd name="adj2" fmla="val 0"/>
            </a:avLst>
          </a:prstGeom>
          <a:solidFill>
            <a:schemeClr val="accent1">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8"/>
          <p:cNvSpPr>
            <a:spLocks noGrp="1"/>
          </p:cNvSpPr>
          <p:nvPr>
            <p:ph type="title"/>
          </p:nvPr>
        </p:nvSpPr>
        <p:spPr/>
        <p:txBody>
          <a:bodyPr>
            <a:normAutofit/>
          </a:bodyPr>
          <a:lstStyle/>
          <a:p>
            <a:r>
              <a:rPr lang="zh-CN" altLang="en-US" dirty="0"/>
              <a:t>中医药高质量数据集组成要素</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3" name="矩形: 圆角 22"/>
          <p:cNvSpPr/>
          <p:nvPr/>
        </p:nvSpPr>
        <p:spPr>
          <a:xfrm>
            <a:off x="3379053" y="1291848"/>
            <a:ext cx="2664000" cy="504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p:nvSpPr>
        <p:spPr>
          <a:xfrm rot="10800000">
            <a:off x="4585053" y="1752749"/>
            <a:ext cx="252000" cy="15527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3983943" y="1260576"/>
            <a:ext cx="1458947" cy="497957"/>
          </a:xfrm>
          <a:prstGeom prst="rect">
            <a:avLst/>
          </a:prstGeom>
          <a:noFill/>
        </p:spPr>
        <p:txBody>
          <a:bodyPr wrap="square" rtlCol="0">
            <a:spAutoFit/>
          </a:bodyPr>
          <a:lstStyle/>
          <a:p>
            <a:pPr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标签</a:t>
            </a:r>
          </a:p>
        </p:txBody>
      </p:sp>
      <p:sp>
        <p:nvSpPr>
          <p:cNvPr id="44" name="文本框 43"/>
          <p:cNvSpPr txBox="1"/>
          <p:nvPr/>
        </p:nvSpPr>
        <p:spPr>
          <a:xfrm>
            <a:off x="3489603" y="1972965"/>
            <a:ext cx="2438312" cy="3612912"/>
          </a:xfrm>
          <a:prstGeom prst="rect">
            <a:avLst/>
          </a:prstGeom>
          <a:noFill/>
        </p:spPr>
        <p:txBody>
          <a:bodyPr wrap="square">
            <a:spAutoFit/>
          </a:bodyPr>
          <a:lstStyle/>
          <a:p>
            <a:pPr algn="ctr">
              <a:lnSpc>
                <a:spcPct val="120000"/>
              </a:lnSpc>
            </a:pPr>
            <a:r>
              <a:rPr lang="zh-CN" altLang="en-US" sz="1600" b="0" i="0" dirty="0">
                <a:effectLst/>
                <a:latin typeface="微软雅黑" panose="020B0503020204020204" pitchFamily="34" charset="-122"/>
                <a:ea typeface="微软雅黑" panose="020B0503020204020204" pitchFamily="34" charset="-122"/>
              </a:rPr>
              <a:t>标签指对中医药数据样本目标结果的定义与标注，作为 </a:t>
            </a:r>
            <a:r>
              <a:rPr lang="en-US" altLang="zh-CN" sz="1600" b="0" i="0" dirty="0">
                <a:effectLst/>
                <a:latin typeface="微软雅黑" panose="020B0503020204020204" pitchFamily="34" charset="-122"/>
                <a:ea typeface="微软雅黑" panose="020B0503020204020204" pitchFamily="34" charset="-122"/>
              </a:rPr>
              <a:t>AI </a:t>
            </a:r>
            <a:r>
              <a:rPr lang="zh-CN" altLang="en-US" sz="1600" b="0" i="0" dirty="0">
                <a:effectLst/>
                <a:latin typeface="微软雅黑" panose="020B0503020204020204" pitchFamily="34" charset="-122"/>
                <a:ea typeface="微软雅黑" panose="020B0503020204020204" pitchFamily="34" charset="-122"/>
              </a:rPr>
              <a:t>模型训练的监督信号，决定模型学习方向与应用目标，需贴合具体场景的中医药任务精准标注。分类标签用于证候判别、药性判定、药材真伪鉴别等定性场景；回归标签用于药效预测、剂量优化、疗效评估、成分含量测算等定量场景。</a:t>
            </a:r>
          </a:p>
        </p:txBody>
      </p:sp>
      <p:sp>
        <p:nvSpPr>
          <p:cNvPr id="3" name="矩形: 圆顶角 2"/>
          <p:cNvSpPr/>
          <p:nvPr/>
        </p:nvSpPr>
        <p:spPr>
          <a:xfrm rot="10800000">
            <a:off x="475730" y="1343754"/>
            <a:ext cx="2662758" cy="5159791"/>
          </a:xfrm>
          <a:prstGeom prst="round2SameRect">
            <a:avLst>
              <a:gd name="adj1" fmla="val 11479"/>
              <a:gd name="adj2" fmla="val 0"/>
            </a:avLst>
          </a:prstGeom>
          <a:solidFill>
            <a:schemeClr val="accent1">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p:cNvSpPr/>
          <p:nvPr/>
        </p:nvSpPr>
        <p:spPr>
          <a:xfrm>
            <a:off x="469759" y="1291848"/>
            <a:ext cx="2664000" cy="504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p:nvSpPr>
        <p:spPr>
          <a:xfrm rot="10800000">
            <a:off x="1675759" y="1752749"/>
            <a:ext cx="252000" cy="15527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074649" y="1260576"/>
            <a:ext cx="1458947" cy="497957"/>
          </a:xfrm>
          <a:prstGeom prst="rect">
            <a:avLst/>
          </a:prstGeom>
          <a:noFill/>
        </p:spPr>
        <p:txBody>
          <a:bodyPr wrap="square" rtlCol="0">
            <a:spAutoFit/>
          </a:bodyPr>
          <a:lstStyle/>
          <a:p>
            <a:pPr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特征</a:t>
            </a:r>
          </a:p>
        </p:txBody>
      </p:sp>
      <p:sp>
        <p:nvSpPr>
          <p:cNvPr id="12" name="文本框 11"/>
          <p:cNvSpPr txBox="1"/>
          <p:nvPr/>
        </p:nvSpPr>
        <p:spPr>
          <a:xfrm>
            <a:off x="570114" y="1972965"/>
            <a:ext cx="2573104" cy="3908378"/>
          </a:xfrm>
          <a:prstGeom prst="rect">
            <a:avLst/>
          </a:prstGeom>
          <a:noFill/>
        </p:spPr>
        <p:txBody>
          <a:bodyPr wrap="square">
            <a:spAutoFit/>
          </a:bodyPr>
          <a:lstStyle/>
          <a:p>
            <a:pPr algn="ctr">
              <a:lnSpc>
                <a:spcPct val="120000"/>
              </a:lnSpc>
            </a:pPr>
            <a:r>
              <a:rPr lang="zh-CN" altLang="en-US" sz="1600" b="0" i="0" dirty="0">
                <a:effectLst/>
                <a:latin typeface="微软雅黑" panose="020B0503020204020204" pitchFamily="34" charset="-122"/>
                <a:ea typeface="微软雅黑" panose="020B0503020204020204" pitchFamily="34" charset="-122"/>
              </a:rPr>
              <a:t>特征指中医药数据样本中可被 </a:t>
            </a:r>
            <a:r>
              <a:rPr lang="en-US" altLang="zh-CN" sz="1600" b="0" i="0" dirty="0">
                <a:effectLst/>
                <a:latin typeface="微软雅黑" panose="020B0503020204020204" pitchFamily="34" charset="-122"/>
                <a:ea typeface="微软雅黑" panose="020B0503020204020204" pitchFamily="34" charset="-122"/>
              </a:rPr>
              <a:t>AI </a:t>
            </a:r>
            <a:r>
              <a:rPr lang="zh-CN" altLang="en-US" sz="1600" b="0" i="0" dirty="0">
                <a:effectLst/>
                <a:latin typeface="微软雅黑" panose="020B0503020204020204" pitchFamily="34" charset="-122"/>
                <a:ea typeface="微软雅黑" panose="020B0503020204020204" pitchFamily="34" charset="-122"/>
              </a:rPr>
              <a:t>提取、量化与分析的核心属性信息，为模型学习的基础输入数据，需兼顾传统中医药语义特征与现代量化特征。其中，传统中医药特征主要涵盖中医四诊信息、中医证候、中药性味归经、方剂配伍等；现代量化特征则包括检查检验指标、药味剂量、中药有效成分、药材产地与炮制工艺等。</a:t>
            </a:r>
          </a:p>
        </p:txBody>
      </p:sp>
      <p:sp>
        <p:nvSpPr>
          <p:cNvPr id="15" name="矩形: 圆顶角 14"/>
          <p:cNvSpPr/>
          <p:nvPr/>
        </p:nvSpPr>
        <p:spPr>
          <a:xfrm rot="10800000">
            <a:off x="6300287" y="1343754"/>
            <a:ext cx="2662758" cy="5159791"/>
          </a:xfrm>
          <a:prstGeom prst="round2SameRect">
            <a:avLst>
              <a:gd name="adj1" fmla="val 11479"/>
              <a:gd name="adj2" fmla="val 0"/>
            </a:avLst>
          </a:prstGeom>
          <a:solidFill>
            <a:schemeClr val="accent1">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p:cNvSpPr/>
          <p:nvPr/>
        </p:nvSpPr>
        <p:spPr>
          <a:xfrm>
            <a:off x="6294316" y="1291848"/>
            <a:ext cx="2664000" cy="504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10800000">
            <a:off x="7500316" y="1752749"/>
            <a:ext cx="252000" cy="15527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6899206" y="1260576"/>
            <a:ext cx="1458947" cy="497957"/>
          </a:xfrm>
          <a:prstGeom prst="rect">
            <a:avLst/>
          </a:prstGeom>
          <a:noFill/>
        </p:spPr>
        <p:txBody>
          <a:bodyPr wrap="square" rtlCol="0">
            <a:spAutoFit/>
          </a:bodyPr>
          <a:lstStyle/>
          <a:p>
            <a:pPr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样本</a:t>
            </a:r>
          </a:p>
        </p:txBody>
      </p:sp>
      <p:sp>
        <p:nvSpPr>
          <p:cNvPr id="31" name="文本框 30"/>
          <p:cNvSpPr txBox="1"/>
          <p:nvPr/>
        </p:nvSpPr>
        <p:spPr>
          <a:xfrm>
            <a:off x="6394672" y="1972964"/>
            <a:ext cx="2502037" cy="4499309"/>
          </a:xfrm>
          <a:prstGeom prst="rect">
            <a:avLst/>
          </a:prstGeom>
          <a:noFill/>
        </p:spPr>
        <p:txBody>
          <a:bodyPr wrap="square">
            <a:spAutoFit/>
          </a:bodyPr>
          <a:lstStyle/>
          <a:p>
            <a:pPr>
              <a:lnSpc>
                <a:spcPct val="120000"/>
              </a:lnSpc>
            </a:pPr>
            <a:r>
              <a:rPr lang="zh-CN" altLang="en-US" sz="1600" b="0" i="0" dirty="0">
                <a:effectLst/>
                <a:latin typeface="微软雅黑" panose="020B0503020204020204" pitchFamily="34" charset="-122"/>
                <a:ea typeface="微软雅黑" panose="020B0503020204020204" pitchFamily="34" charset="-122"/>
              </a:rPr>
              <a:t>样本是中医药 </a:t>
            </a:r>
            <a:r>
              <a:rPr lang="en-US" altLang="zh-CN" sz="1600" b="0" i="0" dirty="0">
                <a:effectLst/>
                <a:latin typeface="微软雅黑" panose="020B0503020204020204" pitchFamily="34" charset="-122"/>
                <a:ea typeface="微软雅黑" panose="020B0503020204020204" pitchFamily="34" charset="-122"/>
              </a:rPr>
              <a:t>AI </a:t>
            </a:r>
            <a:r>
              <a:rPr lang="zh-CN" altLang="en-US" sz="1600" b="0" i="0" dirty="0">
                <a:effectLst/>
                <a:latin typeface="微软雅黑" panose="020B0503020204020204" pitchFamily="34" charset="-122"/>
                <a:ea typeface="微软雅黑" panose="020B0503020204020204" pitchFamily="34" charset="-122"/>
              </a:rPr>
              <a:t>模型训练数据集的基本单元，作为特征信息与标签信息的统一载体，其核心价值在于为模型提供完整、有效的学习依据。样本的数量充足性、质量可靠性及分布多样性，直接决定</a:t>
            </a:r>
            <a:r>
              <a:rPr lang="en-US" altLang="zh-CN" sz="1600" b="0" i="0" dirty="0">
                <a:effectLst/>
                <a:latin typeface="微软雅黑" panose="020B0503020204020204" pitchFamily="34" charset="-122"/>
                <a:ea typeface="微软雅黑" panose="020B0503020204020204" pitchFamily="34" charset="-122"/>
              </a:rPr>
              <a:t>AI </a:t>
            </a:r>
            <a:r>
              <a:rPr lang="zh-CN" altLang="en-US" sz="1600" b="0" i="0" dirty="0">
                <a:effectLst/>
                <a:latin typeface="微软雅黑" panose="020B0503020204020204" pitchFamily="34" charset="-122"/>
                <a:ea typeface="微软雅黑" panose="020B0503020204020204" pitchFamily="34" charset="-122"/>
              </a:rPr>
              <a:t>模型的泛化能力、预测精度与实际应用效果。</a:t>
            </a:r>
            <a:endParaRPr lang="en-US" altLang="zh-CN" sz="1600" b="0" i="0" dirty="0">
              <a:effectLst/>
              <a:latin typeface="微软雅黑" panose="020B0503020204020204" pitchFamily="34" charset="-122"/>
              <a:ea typeface="微软雅黑" panose="020B0503020204020204" pitchFamily="34" charset="-122"/>
            </a:endParaRPr>
          </a:p>
          <a:p>
            <a:pPr>
              <a:lnSpc>
                <a:spcPct val="120000"/>
              </a:lnSpc>
            </a:pPr>
            <a:r>
              <a:rPr lang="zh-CN" altLang="en-US" sz="1600" b="0" i="0" dirty="0">
                <a:effectLst/>
                <a:latin typeface="微软雅黑" panose="020B0503020204020204" pitchFamily="34" charset="-122"/>
                <a:ea typeface="微软雅黑" panose="020B0503020204020204" pitchFamily="34" charset="-122"/>
              </a:rPr>
              <a:t>中医药</a:t>
            </a:r>
            <a:r>
              <a:rPr lang="en-US" altLang="zh-CN" sz="1600" b="0" i="0" dirty="0">
                <a:effectLst/>
                <a:latin typeface="微软雅黑" panose="020B0503020204020204" pitchFamily="34" charset="-122"/>
                <a:ea typeface="微软雅黑" panose="020B0503020204020204" pitchFamily="34" charset="-122"/>
              </a:rPr>
              <a:t>AI</a:t>
            </a:r>
            <a:r>
              <a:rPr lang="zh-CN" altLang="en-US" sz="1600" b="0" i="0" dirty="0">
                <a:effectLst/>
                <a:latin typeface="微软雅黑" panose="020B0503020204020204" pitchFamily="34" charset="-122"/>
                <a:ea typeface="微软雅黑" panose="020B0503020204020204" pitchFamily="34" charset="-122"/>
              </a:rPr>
              <a:t>研究中，典型样本主要分为</a:t>
            </a:r>
            <a:r>
              <a:rPr lang="en-US" altLang="zh-CN" sz="1600" b="0" i="0" dirty="0">
                <a:effectLst/>
                <a:latin typeface="微软雅黑" panose="020B0503020204020204" pitchFamily="34" charset="-122"/>
                <a:ea typeface="微软雅黑" panose="020B0503020204020204" pitchFamily="34" charset="-122"/>
              </a:rPr>
              <a:t>3</a:t>
            </a:r>
            <a:r>
              <a:rPr lang="zh-CN" altLang="en-US" sz="1600" b="0" i="0" dirty="0">
                <a:effectLst/>
                <a:latin typeface="微软雅黑" panose="020B0503020204020204" pitchFamily="34" charset="-122"/>
                <a:ea typeface="微软雅黑" panose="020B0503020204020204" pitchFamily="34" charset="-122"/>
              </a:rPr>
              <a:t>类：</a:t>
            </a:r>
            <a:endParaRPr lang="en-US" altLang="zh-CN" sz="1600" b="0" i="0" dirty="0">
              <a:effectLst/>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临床样本</a:t>
            </a:r>
            <a:endParaRPr lang="en-US" altLang="zh-CN" sz="1600" dirty="0">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中药样本</a:t>
            </a:r>
            <a:endParaRPr lang="en-US" altLang="zh-CN" sz="1600" b="0" i="0" dirty="0">
              <a:effectLst/>
              <a:latin typeface="微软雅黑" panose="020B0503020204020204" pitchFamily="34" charset="-122"/>
              <a:ea typeface="微软雅黑" panose="020B0503020204020204" pitchFamily="34" charset="-122"/>
            </a:endParaRPr>
          </a:p>
          <a:p>
            <a:pPr marL="285750" indent="-285750">
              <a:lnSpc>
                <a:spcPct val="12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文献样本</a:t>
            </a:r>
            <a:endParaRPr lang="zh-CN" altLang="en-US" sz="1600" b="0" i="0" dirty="0">
              <a:effectLst/>
              <a:latin typeface="微软雅黑" panose="020B0503020204020204" pitchFamily="34" charset="-122"/>
              <a:ea typeface="微软雅黑" panose="020B0503020204020204" pitchFamily="34" charset="-122"/>
            </a:endParaRPr>
          </a:p>
        </p:txBody>
      </p:sp>
      <p:sp>
        <p:nvSpPr>
          <p:cNvPr id="38" name="矩形: 圆顶角 37"/>
          <p:cNvSpPr/>
          <p:nvPr/>
        </p:nvSpPr>
        <p:spPr>
          <a:xfrm rot="10800000">
            <a:off x="9210821" y="1343754"/>
            <a:ext cx="2662758" cy="5159791"/>
          </a:xfrm>
          <a:prstGeom prst="round2SameRect">
            <a:avLst>
              <a:gd name="adj1" fmla="val 11479"/>
              <a:gd name="adj2" fmla="val 0"/>
            </a:avLst>
          </a:prstGeom>
          <a:solidFill>
            <a:schemeClr val="accent1">
              <a:alpha val="10000"/>
            </a:schemeClr>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圆角 46"/>
          <p:cNvSpPr/>
          <p:nvPr/>
        </p:nvSpPr>
        <p:spPr>
          <a:xfrm>
            <a:off x="9204850" y="1291848"/>
            <a:ext cx="2664000" cy="50400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等腰三角形 48"/>
          <p:cNvSpPr/>
          <p:nvPr/>
        </p:nvSpPr>
        <p:spPr>
          <a:xfrm rot="10800000">
            <a:off x="10410850" y="1752749"/>
            <a:ext cx="252000" cy="155275"/>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9809740" y="1260576"/>
            <a:ext cx="1458947" cy="497957"/>
          </a:xfrm>
          <a:prstGeom prst="rect">
            <a:avLst/>
          </a:prstGeom>
          <a:noFill/>
        </p:spPr>
        <p:txBody>
          <a:bodyPr wrap="square" rtlCol="0">
            <a:spAutoFit/>
          </a:bodyPr>
          <a:lstStyle/>
          <a:p>
            <a:pPr algn="ct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元数据</a:t>
            </a:r>
          </a:p>
        </p:txBody>
      </p:sp>
      <p:sp>
        <p:nvSpPr>
          <p:cNvPr id="53" name="文本框 52"/>
          <p:cNvSpPr txBox="1"/>
          <p:nvPr/>
        </p:nvSpPr>
        <p:spPr>
          <a:xfrm>
            <a:off x="9305206" y="1972963"/>
            <a:ext cx="2411065" cy="4235006"/>
          </a:xfrm>
          <a:prstGeom prst="rect">
            <a:avLst/>
          </a:prstGeom>
          <a:noFill/>
        </p:spPr>
        <p:txBody>
          <a:bodyPr wrap="square">
            <a:spAutoFit/>
          </a:bodyPr>
          <a:lstStyle/>
          <a:p>
            <a:pPr>
              <a:lnSpc>
                <a:spcPct val="120000"/>
              </a:lnSpc>
            </a:pPr>
            <a:r>
              <a:rPr lang="zh-CN" altLang="en-US" sz="1600" b="0" i="0" dirty="0">
                <a:effectLst/>
                <a:latin typeface="微软雅黑" panose="020B0503020204020204" pitchFamily="34" charset="-122"/>
                <a:ea typeface="微软雅黑" panose="020B0503020204020204" pitchFamily="34" charset="-122"/>
              </a:rPr>
              <a:t>元数据是用于描述数据来源、处理过程与使用规范的信息，保障数据集可理解、可溯源、可复用，是高质量数据集的溯源依据与使用指南。李海燕等将中医药数据资源元数据定义为元数据子集、元数据实体、元数据元素 </a:t>
            </a:r>
            <a:r>
              <a:rPr lang="en-US" altLang="zh-CN" sz="1600" b="0" i="0" dirty="0">
                <a:effectLst/>
                <a:latin typeface="微软雅黑" panose="020B0503020204020204" pitchFamily="34" charset="-122"/>
                <a:ea typeface="微软雅黑" panose="020B0503020204020204" pitchFamily="34" charset="-122"/>
              </a:rPr>
              <a:t>3 </a:t>
            </a:r>
            <a:r>
              <a:rPr lang="zh-CN" altLang="en-US" sz="1600" b="0" i="0" dirty="0">
                <a:effectLst/>
                <a:latin typeface="微软雅黑" panose="020B0503020204020204" pitchFamily="34" charset="-122"/>
                <a:ea typeface="微软雅黑" panose="020B0503020204020204" pitchFamily="34" charset="-122"/>
              </a:rPr>
              <a:t>个层次。</a:t>
            </a:r>
            <a:endParaRPr lang="en-US" altLang="zh-CN" sz="1600" b="0" i="0" dirty="0">
              <a:effectLst/>
              <a:latin typeface="微软雅黑" panose="020B0503020204020204" pitchFamily="34" charset="-122"/>
              <a:ea typeface="微软雅黑" panose="020B0503020204020204" pitchFamily="34" charset="-122"/>
            </a:endParaRPr>
          </a:p>
          <a:p>
            <a:pPr>
              <a:lnSpc>
                <a:spcPct val="120000"/>
              </a:lnSpc>
            </a:pPr>
            <a:r>
              <a:rPr lang="zh-CN" altLang="en-US" sz="1600" dirty="0">
                <a:latin typeface="微软雅黑" panose="020B0503020204020204" pitchFamily="34" charset="-122"/>
                <a:ea typeface="微软雅黑" panose="020B0503020204020204" pitchFamily="34" charset="-122"/>
              </a:rPr>
              <a:t>重点构建</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类实体：</a:t>
            </a:r>
            <a:endParaRPr lang="en-US" altLang="zh-CN" sz="1600" dirty="0">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内容特征实体</a:t>
            </a:r>
            <a:endParaRPr lang="en-US" altLang="zh-CN" sz="1600" b="0" i="0" dirty="0">
              <a:effectLst/>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质量与溯源实体</a:t>
            </a:r>
            <a:endParaRPr lang="en-US" altLang="zh-CN" sz="1600" b="0" i="0" dirty="0">
              <a:effectLst/>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sz="1600" b="0" i="0" dirty="0">
                <a:effectLst/>
                <a:latin typeface="微软雅黑" panose="020B0503020204020204" pitchFamily="34" charset="-122"/>
                <a:ea typeface="微软雅黑" panose="020B0503020204020204" pitchFamily="34" charset="-122"/>
              </a:rPr>
              <a:t>限制与合规实体</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中医药高质量数据集质量评价维度</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5</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600014" y="1145236"/>
          <a:ext cx="1098238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7886"/>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中医药高质量数据集分级分类</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05</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基于数据模态分类</a:t>
            </a:r>
          </a:p>
        </p:txBody>
      </p:sp>
      <p:sp>
        <p:nvSpPr>
          <p:cNvPr id="15" name="矩形: 圆角 14"/>
          <p:cNvSpPr/>
          <p:nvPr>
            <p:custDataLst>
              <p:tags r:id="rId1"/>
            </p:custDataLst>
          </p:nvPr>
        </p:nvSpPr>
        <p:spPr>
          <a:xfrm>
            <a:off x="549910" y="1784985"/>
            <a:ext cx="5187315" cy="4722495"/>
          </a:xfrm>
          <a:prstGeom prst="roundRect">
            <a:avLst>
              <a:gd name="adj" fmla="val 5828"/>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600476" y="1247188"/>
            <a:ext cx="2994060" cy="430374"/>
            <a:chOff x="554756" y="1295181"/>
            <a:chExt cx="2994060" cy="430374"/>
          </a:xfrm>
        </p:grpSpPr>
        <p:sp>
          <p:nvSpPr>
            <p:cNvPr id="16" name="文本框 15"/>
            <p:cNvSpPr txBox="1"/>
            <p:nvPr/>
          </p:nvSpPr>
          <p:spPr>
            <a:xfrm>
              <a:off x="651070" y="1295181"/>
              <a:ext cx="2897746" cy="430374"/>
            </a:xfrm>
            <a:prstGeom prst="rect">
              <a:avLst/>
            </a:prstGeom>
            <a:noFill/>
          </p:spPr>
          <p:txBody>
            <a:bodyPr wrap="square" rtlCol="0">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单模态数据集</a:t>
              </a:r>
            </a:p>
          </p:txBody>
        </p:sp>
        <p:sp>
          <p:nvSpPr>
            <p:cNvPr id="2" name="矩形 1"/>
            <p:cNvSpPr/>
            <p:nvPr/>
          </p:nvSpPr>
          <p:spPr>
            <a:xfrm>
              <a:off x="554756" y="1404466"/>
              <a:ext cx="540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2"/>
            </p:custDataLst>
          </p:nvPr>
        </p:nvSpPr>
        <p:spPr>
          <a:xfrm>
            <a:off x="622300" y="2205990"/>
            <a:ext cx="5039995" cy="902970"/>
          </a:xfrm>
          <a:prstGeom prst="rect">
            <a:avLst/>
          </a:prstGeom>
          <a:noFill/>
        </p:spPr>
        <p:txBody>
          <a:bodyPr wrap="square">
            <a:spAutoFit/>
          </a:bodyPr>
          <a:lstStyle/>
          <a:p>
            <a:pPr algn="l">
              <a:lnSpc>
                <a:spcPct val="11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真实世界临床诊疗文本、规范教材、古籍、医案、药典等传统知识语料、行业标准、共识</a:t>
            </a:r>
            <a:r>
              <a:rPr lang="en-US" altLang="zh-CN" sz="1600" b="0" i="0" dirty="0">
                <a:solidFill>
                  <a:srgbClr val="000000"/>
                </a:solidFill>
                <a:effectLst/>
                <a:latin typeface="微软雅黑" panose="020B0503020204020204" pitchFamily="34" charset="-122"/>
                <a:ea typeface="微软雅黑" panose="020B0503020204020204" pitchFamily="34" charset="-122"/>
              </a:rPr>
              <a:t>/</a:t>
            </a:r>
            <a:r>
              <a:rPr lang="zh-CN" altLang="en-US" sz="1600" b="0" i="0" dirty="0">
                <a:solidFill>
                  <a:srgbClr val="000000"/>
                </a:solidFill>
                <a:effectLst/>
                <a:latin typeface="微软雅黑" panose="020B0503020204020204" pitchFamily="34" charset="-122"/>
                <a:ea typeface="微软雅黑" panose="020B0503020204020204" pitchFamily="34" charset="-122"/>
              </a:rPr>
              <a:t>指南、术语本体及知识图谱衍生文本</a:t>
            </a:r>
          </a:p>
        </p:txBody>
      </p:sp>
      <p:sp>
        <p:nvSpPr>
          <p:cNvPr id="13" name="文本框 12"/>
          <p:cNvSpPr txBox="1"/>
          <p:nvPr>
            <p:custDataLst>
              <p:tags r:id="rId3"/>
            </p:custDataLst>
          </p:nvPr>
        </p:nvSpPr>
        <p:spPr>
          <a:xfrm>
            <a:off x="602766" y="1875984"/>
            <a:ext cx="3837286"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文本类数据集</a:t>
            </a:r>
          </a:p>
        </p:txBody>
      </p:sp>
      <p:sp>
        <p:nvSpPr>
          <p:cNvPr id="23" name="文本框 22"/>
          <p:cNvSpPr txBox="1"/>
          <p:nvPr>
            <p:custDataLst>
              <p:tags r:id="rId4"/>
            </p:custDataLst>
          </p:nvPr>
        </p:nvSpPr>
        <p:spPr>
          <a:xfrm>
            <a:off x="622300" y="3399155"/>
            <a:ext cx="5114925" cy="829945"/>
          </a:xfrm>
          <a:prstGeom prst="rect">
            <a:avLst/>
          </a:prstGeom>
          <a:noFill/>
        </p:spPr>
        <p:txBody>
          <a:bodyPr wrap="square">
            <a:spAutoFit/>
          </a:bodyPr>
          <a:lstStyle/>
          <a:p>
            <a:pPr algn="l">
              <a:lnSpc>
                <a:spcPct val="10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中医特色图像（舌象、面象、目象、红外热成像等）、常规医学影像、药材性状与显微图像、经络腧穴解剖图像等</a:t>
            </a:r>
          </a:p>
        </p:txBody>
      </p:sp>
      <p:sp>
        <p:nvSpPr>
          <p:cNvPr id="25" name="文本框 24"/>
          <p:cNvSpPr txBox="1"/>
          <p:nvPr>
            <p:custDataLst>
              <p:tags r:id="rId5"/>
            </p:custDataLst>
          </p:nvPr>
        </p:nvSpPr>
        <p:spPr>
          <a:xfrm>
            <a:off x="602766" y="3044306"/>
            <a:ext cx="366972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图像类数据集</a:t>
            </a:r>
          </a:p>
        </p:txBody>
      </p:sp>
      <p:sp>
        <p:nvSpPr>
          <p:cNvPr id="27" name="文本框 26"/>
          <p:cNvSpPr txBox="1"/>
          <p:nvPr>
            <p:custDataLst>
              <p:tags r:id="rId6"/>
            </p:custDataLst>
          </p:nvPr>
        </p:nvSpPr>
        <p:spPr>
          <a:xfrm>
            <a:off x="641985" y="4519930"/>
            <a:ext cx="5020310" cy="681355"/>
          </a:xfrm>
          <a:prstGeom prst="rect">
            <a:avLst/>
          </a:prstGeom>
          <a:noFill/>
        </p:spPr>
        <p:txBody>
          <a:bodyPr wrap="square">
            <a:spAutoFit/>
          </a:bodyPr>
          <a:lstStyle/>
          <a:p>
            <a:pPr algn="l">
              <a:lnSpc>
                <a:spcPct val="12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包括问诊语音、咳嗽音、呼吸音、情志相关语音线索等，可反映声息、节律、气力与情志状态</a:t>
            </a:r>
          </a:p>
        </p:txBody>
      </p:sp>
      <p:sp>
        <p:nvSpPr>
          <p:cNvPr id="33" name="文本框 32"/>
          <p:cNvSpPr txBox="1"/>
          <p:nvPr>
            <p:custDataLst>
              <p:tags r:id="rId7"/>
            </p:custDataLst>
          </p:nvPr>
        </p:nvSpPr>
        <p:spPr>
          <a:xfrm>
            <a:off x="622473" y="4164852"/>
            <a:ext cx="366972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音频类数据集</a:t>
            </a:r>
          </a:p>
        </p:txBody>
      </p:sp>
      <p:sp>
        <p:nvSpPr>
          <p:cNvPr id="35" name="文本框 34"/>
          <p:cNvSpPr txBox="1"/>
          <p:nvPr>
            <p:custDataLst>
              <p:tags r:id="rId8"/>
            </p:custDataLst>
          </p:nvPr>
        </p:nvSpPr>
        <p:spPr>
          <a:xfrm>
            <a:off x="641985" y="5587365"/>
            <a:ext cx="5172710" cy="975995"/>
          </a:xfrm>
          <a:prstGeom prst="rect">
            <a:avLst/>
          </a:prstGeom>
          <a:noFill/>
        </p:spPr>
        <p:txBody>
          <a:bodyPr wrap="square">
            <a:spAutoFit/>
          </a:bodyPr>
          <a:lstStyle/>
          <a:p>
            <a:pPr algn="l">
              <a:lnSpc>
                <a:spcPct val="12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包含脉诊波形、脉搏波、经络电阻曲线，以及心电（</a:t>
            </a:r>
            <a:r>
              <a:rPr lang="en-US" altLang="zh-CN" sz="1600" b="0" i="0" dirty="0">
                <a:solidFill>
                  <a:srgbClr val="000000"/>
                </a:solidFill>
                <a:effectLst/>
                <a:latin typeface="微软雅黑" panose="020B0503020204020204" pitchFamily="34" charset="-122"/>
                <a:ea typeface="微软雅黑" panose="020B0503020204020204" pitchFamily="34" charset="-122"/>
              </a:rPr>
              <a:t>ECG</a:t>
            </a:r>
            <a:r>
              <a:rPr lang="zh-CN" altLang="en-US" sz="1600" b="0" i="0" dirty="0">
                <a:solidFill>
                  <a:srgbClr val="000000"/>
                </a:solidFill>
                <a:effectLst/>
                <a:latin typeface="微软雅黑" panose="020B0503020204020204" pitchFamily="34" charset="-122"/>
                <a:ea typeface="微软雅黑" panose="020B0503020204020204" pitchFamily="34" charset="-122"/>
              </a:rPr>
              <a:t>）、脑电（</a:t>
            </a:r>
            <a:r>
              <a:rPr lang="en-US" altLang="zh-CN" sz="1600" b="0" i="0" dirty="0">
                <a:solidFill>
                  <a:srgbClr val="000000"/>
                </a:solidFill>
                <a:effectLst/>
                <a:latin typeface="微软雅黑" panose="020B0503020204020204" pitchFamily="34" charset="-122"/>
                <a:ea typeface="微软雅黑" panose="020B0503020204020204" pitchFamily="34" charset="-122"/>
              </a:rPr>
              <a:t>EEG</a:t>
            </a:r>
            <a:r>
              <a:rPr lang="zh-CN" altLang="en-US" sz="1600" b="0" i="0" dirty="0">
                <a:solidFill>
                  <a:srgbClr val="000000"/>
                </a:solidFill>
                <a:effectLst/>
                <a:latin typeface="微软雅黑" panose="020B0503020204020204" pitchFamily="34" charset="-122"/>
                <a:ea typeface="微软雅黑" panose="020B0503020204020204" pitchFamily="34" charset="-122"/>
              </a:rPr>
              <a:t>）、皮电（</a:t>
            </a:r>
            <a:r>
              <a:rPr lang="en-US" altLang="zh-CN" sz="1600" b="0" i="0" dirty="0">
                <a:solidFill>
                  <a:srgbClr val="000000"/>
                </a:solidFill>
                <a:effectLst/>
                <a:latin typeface="微软雅黑" panose="020B0503020204020204" pitchFamily="34" charset="-122"/>
                <a:ea typeface="微软雅黑" panose="020B0503020204020204" pitchFamily="34" charset="-122"/>
              </a:rPr>
              <a:t>EDA</a:t>
            </a:r>
            <a:r>
              <a:rPr lang="zh-CN" altLang="en-US" sz="1600" b="0" i="0" dirty="0">
                <a:solidFill>
                  <a:srgbClr val="000000"/>
                </a:solidFill>
                <a:effectLst/>
                <a:latin typeface="微软雅黑" panose="020B0503020204020204" pitchFamily="34" charset="-122"/>
                <a:ea typeface="微软雅黑" panose="020B0503020204020204" pitchFamily="34" charset="-122"/>
              </a:rPr>
              <a:t>）、心率变异性等生理时序信号</a:t>
            </a:r>
          </a:p>
        </p:txBody>
      </p:sp>
      <p:sp>
        <p:nvSpPr>
          <p:cNvPr id="37" name="文本框 36"/>
          <p:cNvSpPr txBox="1"/>
          <p:nvPr>
            <p:custDataLst>
              <p:tags r:id="rId9"/>
            </p:custDataLst>
          </p:nvPr>
        </p:nvSpPr>
        <p:spPr>
          <a:xfrm>
            <a:off x="622473" y="5232474"/>
            <a:ext cx="366972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生物信号类数据集</a:t>
            </a:r>
          </a:p>
        </p:txBody>
      </p:sp>
      <p:sp>
        <p:nvSpPr>
          <p:cNvPr id="57" name="矩形: 圆角 56"/>
          <p:cNvSpPr/>
          <p:nvPr>
            <p:custDataLst>
              <p:tags r:id="rId10"/>
            </p:custDataLst>
          </p:nvPr>
        </p:nvSpPr>
        <p:spPr>
          <a:xfrm>
            <a:off x="6096000" y="1784904"/>
            <a:ext cx="5992514" cy="4722713"/>
          </a:xfrm>
          <a:prstGeom prst="roundRect">
            <a:avLst>
              <a:gd name="adj" fmla="val 5828"/>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文本框 58"/>
          <p:cNvSpPr txBox="1"/>
          <p:nvPr>
            <p:custDataLst>
              <p:tags r:id="rId11"/>
            </p:custDataLst>
          </p:nvPr>
        </p:nvSpPr>
        <p:spPr>
          <a:xfrm>
            <a:off x="6115708" y="2205844"/>
            <a:ext cx="6008166" cy="787523"/>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中药材</a:t>
            </a:r>
            <a:r>
              <a:rPr lang="en-US" altLang="zh-CN" sz="1600" b="0" i="0" dirty="0">
                <a:solidFill>
                  <a:srgbClr val="000000"/>
                </a:solidFill>
                <a:effectLst/>
                <a:latin typeface="微软雅黑" panose="020B0503020204020204" pitchFamily="34" charset="-122"/>
                <a:ea typeface="微软雅黑" panose="020B0503020204020204" pitchFamily="34" charset="-122"/>
              </a:rPr>
              <a:t>/</a:t>
            </a:r>
            <a:r>
              <a:rPr lang="zh-CN" altLang="en-US" sz="1600" b="0" i="0" dirty="0">
                <a:solidFill>
                  <a:srgbClr val="000000"/>
                </a:solidFill>
                <a:effectLst/>
                <a:latin typeface="微软雅黑" panose="020B0503020204020204" pitchFamily="34" charset="-122"/>
                <a:ea typeface="微软雅黑" panose="020B0503020204020204" pitchFamily="34" charset="-122"/>
              </a:rPr>
              <a:t>饮片近红外光谱（</a:t>
            </a:r>
            <a:r>
              <a:rPr lang="en-US" altLang="zh-CN" sz="1600" b="0" i="0" dirty="0">
                <a:solidFill>
                  <a:srgbClr val="000000"/>
                </a:solidFill>
                <a:effectLst/>
                <a:latin typeface="微软雅黑" panose="020B0503020204020204" pitchFamily="34" charset="-122"/>
                <a:ea typeface="微软雅黑" panose="020B0503020204020204" pitchFamily="34" charset="-122"/>
              </a:rPr>
              <a:t>NIR</a:t>
            </a:r>
            <a:r>
              <a:rPr lang="zh-CN" altLang="en-US" sz="1600" b="0" i="0" dirty="0">
                <a:solidFill>
                  <a:srgbClr val="000000"/>
                </a:solidFill>
                <a:effectLst/>
                <a:latin typeface="微软雅黑" panose="020B0503020204020204" pitchFamily="34" charset="-122"/>
                <a:ea typeface="微软雅黑" panose="020B0503020204020204" pitchFamily="34" charset="-122"/>
              </a:rPr>
              <a:t>）、拉曼光谱、红外光谱、色谱</a:t>
            </a:r>
            <a:r>
              <a:rPr lang="en-US" altLang="zh-CN" sz="1600" b="0" i="0" dirty="0">
                <a:solidFill>
                  <a:srgbClr val="000000"/>
                </a:solidFill>
                <a:effectLst/>
                <a:latin typeface="微软雅黑" panose="020B0503020204020204" pitchFamily="34" charset="-122"/>
                <a:ea typeface="微软雅黑" panose="020B0503020204020204" pitchFamily="34" charset="-122"/>
              </a:rPr>
              <a:t>/</a:t>
            </a:r>
            <a:r>
              <a:rPr lang="zh-CN" altLang="en-US" sz="1600" b="0" i="0" dirty="0">
                <a:solidFill>
                  <a:srgbClr val="000000"/>
                </a:solidFill>
                <a:effectLst/>
                <a:latin typeface="微软雅黑" panose="020B0503020204020204" pitchFamily="34" charset="-122"/>
                <a:ea typeface="微软雅黑" panose="020B0503020204020204" pitchFamily="34" charset="-122"/>
              </a:rPr>
              <a:t>质谱指纹图谱、代谢组图谱</a:t>
            </a:r>
          </a:p>
        </p:txBody>
      </p:sp>
      <p:sp>
        <p:nvSpPr>
          <p:cNvPr id="61" name="文本框 60"/>
          <p:cNvSpPr txBox="1"/>
          <p:nvPr>
            <p:custDataLst>
              <p:tags r:id="rId12"/>
            </p:custDataLst>
          </p:nvPr>
        </p:nvSpPr>
        <p:spPr>
          <a:xfrm>
            <a:off x="6148875" y="1875984"/>
            <a:ext cx="3837286"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光谱</a:t>
            </a:r>
            <a:r>
              <a:rPr lang="en-US" altLang="zh-CN" b="1" dirty="0">
                <a:solidFill>
                  <a:schemeClr val="accent1"/>
                </a:solidFill>
                <a:latin typeface="微软雅黑" panose="020B0503020204020204" pitchFamily="34" charset="-122"/>
                <a:ea typeface="微软雅黑" panose="020B0503020204020204" pitchFamily="34" charset="-122"/>
              </a:rPr>
              <a:t>/</a:t>
            </a:r>
            <a:r>
              <a:rPr lang="zh-CN" altLang="en-US" b="1" dirty="0">
                <a:solidFill>
                  <a:schemeClr val="accent1"/>
                </a:solidFill>
                <a:latin typeface="微软雅黑" panose="020B0503020204020204" pitchFamily="34" charset="-122"/>
                <a:ea typeface="微软雅黑" panose="020B0503020204020204" pitchFamily="34" charset="-122"/>
              </a:rPr>
              <a:t>化学谱图数据集</a:t>
            </a:r>
          </a:p>
        </p:txBody>
      </p:sp>
      <p:sp>
        <p:nvSpPr>
          <p:cNvPr id="63" name="文本框 62"/>
          <p:cNvSpPr txBox="1"/>
          <p:nvPr>
            <p:custDataLst>
              <p:tags r:id="rId13"/>
            </p:custDataLst>
          </p:nvPr>
        </p:nvSpPr>
        <p:spPr>
          <a:xfrm>
            <a:off x="6132291" y="3385681"/>
            <a:ext cx="5992513" cy="787523"/>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针刺、推拿、正骨、艾灸等操作视频，舌象动态视频、体态评估视频、中药炮制过程视频、教学训练视频，可呈现动态过程信息</a:t>
            </a:r>
          </a:p>
        </p:txBody>
      </p:sp>
      <p:sp>
        <p:nvSpPr>
          <p:cNvPr id="65" name="文本框 64"/>
          <p:cNvSpPr txBox="1"/>
          <p:nvPr>
            <p:custDataLst>
              <p:tags r:id="rId14"/>
            </p:custDataLst>
          </p:nvPr>
        </p:nvSpPr>
        <p:spPr>
          <a:xfrm>
            <a:off x="6148875" y="3044306"/>
            <a:ext cx="366972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视频类数据集</a:t>
            </a:r>
          </a:p>
        </p:txBody>
      </p:sp>
      <p:sp>
        <p:nvSpPr>
          <p:cNvPr id="67" name="文本框 66"/>
          <p:cNvSpPr txBox="1"/>
          <p:nvPr>
            <p:custDataLst>
              <p:tags r:id="rId15"/>
            </p:custDataLst>
          </p:nvPr>
        </p:nvSpPr>
        <p:spPr>
          <a:xfrm>
            <a:off x="6168581" y="4486520"/>
            <a:ext cx="6050158" cy="787523"/>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智能传感器、可穿戴设备、物联网终端采集的连续化、实时性多维度数据，涵盖中医特色生理指标等</a:t>
            </a:r>
          </a:p>
        </p:txBody>
      </p:sp>
      <p:sp>
        <p:nvSpPr>
          <p:cNvPr id="69" name="文本框 68"/>
          <p:cNvSpPr txBox="1"/>
          <p:nvPr>
            <p:custDataLst>
              <p:tags r:id="rId16"/>
            </p:custDataLst>
          </p:nvPr>
        </p:nvSpPr>
        <p:spPr>
          <a:xfrm>
            <a:off x="6168582" y="4164852"/>
            <a:ext cx="366972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中医物联网（</a:t>
            </a:r>
            <a:r>
              <a:rPr lang="en-US" altLang="zh-CN" b="1" dirty="0">
                <a:solidFill>
                  <a:schemeClr val="accent1"/>
                </a:solidFill>
                <a:latin typeface="微软雅黑" panose="020B0503020204020204" pitchFamily="34" charset="-122"/>
                <a:ea typeface="微软雅黑" panose="020B0503020204020204" pitchFamily="34" charset="-122"/>
              </a:rPr>
              <a:t>IoT</a:t>
            </a:r>
            <a:r>
              <a:rPr lang="zh-CN" altLang="en-US" b="1" dirty="0">
                <a:solidFill>
                  <a:schemeClr val="accent1"/>
                </a:solidFill>
                <a:latin typeface="微软雅黑" panose="020B0503020204020204" pitchFamily="34" charset="-122"/>
                <a:ea typeface="微软雅黑" panose="020B0503020204020204" pitchFamily="34" charset="-122"/>
              </a:rPr>
              <a:t>）数据集</a:t>
            </a:r>
          </a:p>
        </p:txBody>
      </p:sp>
      <p:sp>
        <p:nvSpPr>
          <p:cNvPr id="71" name="文本框 70"/>
          <p:cNvSpPr txBox="1"/>
          <p:nvPr>
            <p:custDataLst>
              <p:tags r:id="rId17"/>
            </p:custDataLst>
          </p:nvPr>
        </p:nvSpPr>
        <p:spPr>
          <a:xfrm>
            <a:off x="6184235" y="5681734"/>
            <a:ext cx="6050158" cy="418191"/>
          </a:xfrm>
          <a:prstGeom prst="rect">
            <a:avLst/>
          </a:prstGeom>
          <a:noFill/>
        </p:spPr>
        <p:txBody>
          <a:bodyPr wrap="square">
            <a:spAutoFit/>
          </a:bodyPr>
          <a:lstStyle/>
          <a:p>
            <a:pPr algn="l">
              <a:lnSpc>
                <a:spcPct val="1500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例如时间序列数据集、分子结构数据集、结构化表格数据集等</a:t>
            </a:r>
          </a:p>
        </p:txBody>
      </p:sp>
      <p:sp>
        <p:nvSpPr>
          <p:cNvPr id="73" name="文本框 72"/>
          <p:cNvSpPr txBox="1"/>
          <p:nvPr>
            <p:custDataLst>
              <p:tags r:id="rId18"/>
            </p:custDataLst>
          </p:nvPr>
        </p:nvSpPr>
        <p:spPr>
          <a:xfrm>
            <a:off x="6168582" y="5312564"/>
            <a:ext cx="3669720" cy="396583"/>
          </a:xfrm>
          <a:prstGeom prst="rect">
            <a:avLst/>
          </a:prstGeom>
          <a:noFill/>
        </p:spPr>
        <p:txBody>
          <a:bodyPr wrap="square" rtlCol="0">
            <a:spAutoFit/>
          </a:bodyPr>
          <a:lstStyle/>
          <a:p>
            <a:pPr>
              <a:lnSpc>
                <a:spcPct val="120000"/>
              </a:lnSpc>
            </a:pPr>
            <a:r>
              <a:rPr lang="zh-CN" altLang="en-US" b="1" dirty="0">
                <a:solidFill>
                  <a:schemeClr val="accent1"/>
                </a:solidFill>
                <a:latin typeface="微软雅黑" panose="020B0503020204020204" pitchFamily="34" charset="-122"/>
                <a:ea typeface="微软雅黑" panose="020B0503020204020204" pitchFamily="34" charset="-122"/>
              </a:rPr>
              <a:t>其他类型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基于数据模态分类</a:t>
            </a:r>
          </a:p>
        </p:txBody>
      </p:sp>
      <p:sp>
        <p:nvSpPr>
          <p:cNvPr id="2" name="文本框 1"/>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8" name="矩形: 圆角 7"/>
          <p:cNvSpPr/>
          <p:nvPr/>
        </p:nvSpPr>
        <p:spPr>
          <a:xfrm>
            <a:off x="397510" y="1945005"/>
            <a:ext cx="11527155" cy="3614420"/>
          </a:xfrm>
          <a:prstGeom prst="roundRect">
            <a:avLst>
              <a:gd name="adj" fmla="val 5265"/>
            </a:avLst>
          </a:prstGeom>
          <a:solidFill>
            <a:schemeClr val="bg1"/>
          </a:solidFill>
          <a:ln w="19050">
            <a:solidFill>
              <a:schemeClr val="accent2">
                <a:alpha val="30000"/>
              </a:schemeClr>
            </a:solidFill>
          </a:ln>
          <a:effectLst>
            <a:outerShdw blurRad="1016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03225" y="1945005"/>
            <a:ext cx="11520170" cy="683895"/>
          </a:xfrm>
          <a:prstGeom prst="rect">
            <a:avLst/>
          </a:prstGeom>
          <a:solidFill>
            <a:schemeClr val="accent1"/>
          </a:solid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11" name="文本框 10"/>
          <p:cNvSpPr txBox="1"/>
          <p:nvPr/>
        </p:nvSpPr>
        <p:spPr>
          <a:xfrm>
            <a:off x="402590" y="2630805"/>
            <a:ext cx="11522075" cy="2357120"/>
          </a:xfrm>
          <a:prstGeom prst="rect">
            <a:avLst/>
          </a:prstGeom>
          <a:noFill/>
        </p:spPr>
        <p:txBody>
          <a:bodyPr wrap="square">
            <a:noAutofit/>
          </a:bodyPr>
          <a:lstStyle/>
          <a:p>
            <a:pPr>
              <a:lnSpc>
                <a:spcPct val="150000"/>
              </a:lnSpc>
            </a:pPr>
            <a:r>
              <a:rPr lang="zh-CN" altLang="en-US" b="1" i="0" dirty="0">
                <a:solidFill>
                  <a:schemeClr val="accent1"/>
                </a:solidFill>
                <a:effectLst/>
                <a:latin typeface="微软雅黑" panose="020B0503020204020204" pitchFamily="34" charset="-122"/>
                <a:ea typeface="微软雅黑" panose="020B0503020204020204" pitchFamily="34" charset="-122"/>
              </a:rPr>
              <a:t>多模态数据集是</a:t>
            </a:r>
            <a:r>
              <a:rPr lang="zh-CN" altLang="en-US" b="1" i="0" dirty="0">
                <a:solidFill>
                  <a:srgbClr val="C00000"/>
                </a:solidFill>
                <a:effectLst/>
                <a:latin typeface="微软雅黑" panose="020B0503020204020204" pitchFamily="34" charset="-122"/>
                <a:ea typeface="微软雅黑" panose="020B0503020204020204" pitchFamily="34" charset="-122"/>
              </a:rPr>
              <a:t>融</a:t>
            </a:r>
            <a:r>
              <a:rPr lang="zh-CN" altLang="en-US" b="1" dirty="0">
                <a:solidFill>
                  <a:srgbClr val="C00000"/>
                </a:solidFill>
                <a:effectLst/>
                <a:latin typeface="微软雅黑" panose="020B0503020204020204" pitchFamily="34" charset="-122"/>
                <a:ea typeface="微软雅黑" panose="020B0503020204020204" pitchFamily="34" charset="-122"/>
              </a:rPr>
              <a:t>合</a:t>
            </a:r>
            <a:r>
              <a:rPr lang="en-US" altLang="zh-CN" b="1" dirty="0">
                <a:solidFill>
                  <a:srgbClr val="C00000"/>
                </a:solidFill>
                <a:effectLst/>
                <a:latin typeface="微软雅黑" panose="020B0503020204020204" pitchFamily="34" charset="-122"/>
                <a:ea typeface="微软雅黑" panose="020B0503020204020204" pitchFamily="34" charset="-122"/>
              </a:rPr>
              <a:t>2</a:t>
            </a:r>
            <a:r>
              <a:rPr lang="zh-CN" altLang="en-US" b="1" dirty="0">
                <a:solidFill>
                  <a:srgbClr val="C00000"/>
                </a:solidFill>
                <a:effectLst/>
                <a:latin typeface="微软雅黑" panose="020B0503020204020204" pitchFamily="34" charset="-122"/>
                <a:ea typeface="微软雅黑" panose="020B0503020204020204" pitchFamily="34" charset="-122"/>
              </a:rPr>
              <a:t>种及以上单模态数据的复合型数据集</a:t>
            </a:r>
            <a:r>
              <a:rPr lang="zh-CN" altLang="en-US" b="1" i="0" dirty="0">
                <a:solidFill>
                  <a:schemeClr val="accent1"/>
                </a:solidFill>
                <a:effectLst/>
                <a:latin typeface="微软雅黑" panose="020B0503020204020204" pitchFamily="34" charset="-122"/>
                <a:ea typeface="微软雅黑" panose="020B0503020204020204" pitchFamily="34" charset="-122"/>
              </a:rPr>
              <a:t>，通过跨模态语义对齐、特征互补与知识关联，形成更完整的信息表达，显著提升模型鲁棒性与泛化能力，可支撑图文生成、跨模态辨证、多维度疗效预测、中药全链条质量追溯等复杂智能任务，是构建高性能中医药 </a:t>
            </a:r>
            <a:r>
              <a:rPr lang="en-US" altLang="zh-CN" b="1" i="0" dirty="0">
                <a:solidFill>
                  <a:schemeClr val="accent1"/>
                </a:solidFill>
                <a:effectLst/>
                <a:latin typeface="微软雅黑" panose="020B0503020204020204" pitchFamily="34" charset="-122"/>
                <a:ea typeface="微软雅黑" panose="020B0503020204020204" pitchFamily="34" charset="-122"/>
              </a:rPr>
              <a:t>AI </a:t>
            </a:r>
            <a:r>
              <a:rPr lang="zh-CN" altLang="en-US" b="1" i="0" dirty="0">
                <a:solidFill>
                  <a:schemeClr val="accent1"/>
                </a:solidFill>
                <a:effectLst/>
                <a:latin typeface="微软雅黑" panose="020B0503020204020204" pitchFamily="34" charset="-122"/>
                <a:ea typeface="微软雅黑" panose="020B0503020204020204" pitchFamily="34" charset="-122"/>
              </a:rPr>
              <a:t>模型的核心数据基础。 </a:t>
            </a:r>
            <a:endParaRPr lang="zh-CN" altLang="en-US" b="1" dirty="0">
              <a:solidFill>
                <a:schemeClr val="accent1"/>
              </a:solidFill>
              <a:latin typeface="微软雅黑" panose="020B0503020204020204" pitchFamily="34" charset="-122"/>
              <a:ea typeface="微软雅黑" panose="020B0503020204020204" pitchFamily="34" charset="-122"/>
            </a:endParaRPr>
          </a:p>
        </p:txBody>
      </p:sp>
      <p:pic>
        <p:nvPicPr>
          <p:cNvPr id="4" name="图形 3"/>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93725" y="2094230"/>
            <a:ext cx="732790" cy="396240"/>
          </a:xfrm>
          <a:prstGeom prst="rect">
            <a:avLst/>
          </a:prstGeom>
        </p:spPr>
      </p:pic>
      <p:sp>
        <p:nvSpPr>
          <p:cNvPr id="5" name="文本框 4"/>
          <p:cNvSpPr txBox="1"/>
          <p:nvPr/>
        </p:nvSpPr>
        <p:spPr>
          <a:xfrm>
            <a:off x="1445260" y="2037715"/>
            <a:ext cx="7339330" cy="534035"/>
          </a:xfrm>
          <a:prstGeom prst="rect">
            <a:avLst/>
          </a:prstGeom>
          <a:noFill/>
        </p:spPr>
        <p:txBody>
          <a:bodyPr wrap="square" rtlCol="0">
            <a:spAutoFit/>
          </a:bodyPr>
          <a:lstStyle/>
          <a:p>
            <a:pP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多模态数据集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基于模型训练流程阶段的分类</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605094" y="1221436"/>
          <a:ext cx="10982386"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基于应用场景与知识深度的分类</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 y="1311275"/>
            <a:ext cx="11684000" cy="499491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7886"/>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中医药高质量数据集建设模式与路径</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06</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中医药高质量数据集的建设模式</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 name="天蝎PPT原创©7"/>
          <p:cNvSpPr/>
          <p:nvPr/>
        </p:nvSpPr>
        <p:spPr>
          <a:xfrm>
            <a:off x="479425" y="1571625"/>
            <a:ext cx="5109210" cy="4669155"/>
          </a:xfrm>
          <a:prstGeom prst="roundRect">
            <a:avLst>
              <a:gd name="adj" fmla="val 1606"/>
            </a:avLst>
          </a:prstGeom>
          <a:solidFill>
            <a:schemeClr val="bg1"/>
          </a:solidFill>
          <a:ln w="15875">
            <a:solidFill>
              <a:schemeClr val="accent1"/>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4" name="天蝎PPT原创©8"/>
          <p:cNvSpPr/>
          <p:nvPr/>
        </p:nvSpPr>
        <p:spPr>
          <a:xfrm>
            <a:off x="473604" y="1566907"/>
            <a:ext cx="5109073" cy="612000"/>
          </a:xfrm>
          <a:prstGeom prst="round2SameRect">
            <a:avLst>
              <a:gd name="adj1" fmla="val 12592"/>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1" name="天蝎PPT原创©14"/>
          <p:cNvSpPr txBox="1"/>
          <p:nvPr/>
        </p:nvSpPr>
        <p:spPr>
          <a:xfrm>
            <a:off x="1082099" y="1674721"/>
            <a:ext cx="3351878" cy="400110"/>
          </a:xfrm>
          <a:prstGeom prst="rect">
            <a:avLst/>
          </a:prstGeom>
          <a:noFill/>
        </p:spPr>
        <p:txBody>
          <a:bodyPr wrap="square">
            <a:spAutoFit/>
          </a:bodyPr>
          <a:lstStyle/>
          <a:p>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“场景驱动”建设模式</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54" name="文本框 53"/>
          <p:cNvSpPr txBox="1"/>
          <p:nvPr/>
        </p:nvSpPr>
        <p:spPr>
          <a:xfrm>
            <a:off x="485140" y="2290445"/>
            <a:ext cx="5103495" cy="4303395"/>
          </a:xfrm>
          <a:prstGeom prst="rect">
            <a:avLst/>
          </a:prstGeom>
          <a:noFill/>
        </p:spPr>
        <p:txBody>
          <a:bodyPr wrap="square">
            <a:noAutofit/>
          </a:bodyPr>
          <a:lstStyle/>
          <a:p>
            <a:pPr algn="l">
              <a:lnSpc>
                <a:spcPts val="2100"/>
              </a:lnSpc>
              <a:spcBef>
                <a:spcPts val="600"/>
              </a:spcBef>
              <a:spcAft>
                <a:spcPts val="600"/>
              </a:spcAft>
            </a:pPr>
            <a:r>
              <a:rPr lang="zh-CN" altLang="en-US" sz="1600" b="1" i="0" dirty="0">
                <a:solidFill>
                  <a:srgbClr val="FF0000"/>
                </a:solidFill>
                <a:effectLst/>
                <a:latin typeface="微软雅黑" panose="020B0503020204020204" pitchFamily="34" charset="-122"/>
                <a:ea typeface="微软雅黑" panose="020B0503020204020204" pitchFamily="34" charset="-122"/>
              </a:rPr>
              <a:t>核心逻辑是先明确应用场景，再精细化构建数据支撑体系，通常遵循需求拆解</a:t>
            </a:r>
            <a:r>
              <a:rPr lang="en-US" altLang="zh-CN" sz="1600" b="1" i="0" dirty="0">
                <a:solidFill>
                  <a:srgbClr val="FF0000"/>
                </a:solidFill>
                <a:effectLst/>
                <a:latin typeface="微软雅黑" panose="020B0503020204020204" pitchFamily="34" charset="-122"/>
                <a:ea typeface="微软雅黑" panose="020B0503020204020204" pitchFamily="34" charset="-122"/>
              </a:rPr>
              <a:t>-</a:t>
            </a:r>
            <a:r>
              <a:rPr lang="zh-CN" altLang="en-US" sz="1600" b="1" i="0" dirty="0">
                <a:solidFill>
                  <a:srgbClr val="FF0000"/>
                </a:solidFill>
                <a:effectLst/>
                <a:latin typeface="微软雅黑" panose="020B0503020204020204" pitchFamily="34" charset="-122"/>
                <a:ea typeface="微软雅黑" panose="020B0503020204020204" pitchFamily="34" charset="-122"/>
              </a:rPr>
              <a:t>数据设计</a:t>
            </a:r>
            <a:r>
              <a:rPr lang="en-US" altLang="zh-CN" sz="1600" b="1" i="0" dirty="0">
                <a:solidFill>
                  <a:srgbClr val="FF0000"/>
                </a:solidFill>
                <a:effectLst/>
                <a:latin typeface="微软雅黑" panose="020B0503020204020204" pitchFamily="34" charset="-122"/>
                <a:ea typeface="微软雅黑" panose="020B0503020204020204" pitchFamily="34" charset="-122"/>
              </a:rPr>
              <a:t>-</a:t>
            </a:r>
            <a:r>
              <a:rPr lang="zh-CN" altLang="en-US" sz="1600" b="1" i="0" dirty="0">
                <a:solidFill>
                  <a:srgbClr val="FF0000"/>
                </a:solidFill>
                <a:effectLst/>
                <a:latin typeface="微软雅黑" panose="020B0503020204020204" pitchFamily="34" charset="-122"/>
                <a:ea typeface="微软雅黑" panose="020B0503020204020204" pitchFamily="34" charset="-122"/>
              </a:rPr>
              <a:t>数据采集</a:t>
            </a:r>
            <a:r>
              <a:rPr lang="en-US" altLang="zh-CN" sz="1600" b="1" i="0" dirty="0">
                <a:solidFill>
                  <a:srgbClr val="FF0000"/>
                </a:solidFill>
                <a:effectLst/>
                <a:latin typeface="微软雅黑" panose="020B0503020204020204" pitchFamily="34" charset="-122"/>
                <a:ea typeface="微软雅黑" panose="020B0503020204020204" pitchFamily="34" charset="-122"/>
              </a:rPr>
              <a:t>-</a:t>
            </a:r>
            <a:r>
              <a:rPr lang="zh-CN" altLang="en-US" sz="1600" b="1" i="0" dirty="0">
                <a:solidFill>
                  <a:srgbClr val="FF0000"/>
                </a:solidFill>
                <a:effectLst/>
                <a:latin typeface="微软雅黑" panose="020B0503020204020204" pitchFamily="34" charset="-122"/>
                <a:ea typeface="微软雅黑" panose="020B0503020204020204" pitchFamily="34" charset="-122"/>
              </a:rPr>
              <a:t>数据处理</a:t>
            </a:r>
            <a:r>
              <a:rPr lang="en-US" altLang="zh-CN" sz="1600" b="1" i="0" dirty="0">
                <a:solidFill>
                  <a:srgbClr val="FF0000"/>
                </a:solidFill>
                <a:effectLst/>
                <a:latin typeface="微软雅黑" panose="020B0503020204020204" pitchFamily="34" charset="-122"/>
                <a:ea typeface="微软雅黑" panose="020B0503020204020204" pitchFamily="34" charset="-122"/>
              </a:rPr>
              <a:t>-</a:t>
            </a:r>
            <a:r>
              <a:rPr lang="zh-CN" altLang="en-US" sz="1600" b="1" i="0" dirty="0">
                <a:solidFill>
                  <a:srgbClr val="FF0000"/>
                </a:solidFill>
                <a:effectLst/>
                <a:latin typeface="微软雅黑" panose="020B0503020204020204" pitchFamily="34" charset="-122"/>
                <a:ea typeface="微软雅黑" panose="020B0503020204020204" pitchFamily="34" charset="-122"/>
              </a:rPr>
              <a:t>数据质量检测</a:t>
            </a:r>
            <a:r>
              <a:rPr lang="en-US" altLang="zh-CN" sz="1600" b="1" i="0" dirty="0">
                <a:solidFill>
                  <a:srgbClr val="FF0000"/>
                </a:solidFill>
                <a:effectLst/>
                <a:latin typeface="微软雅黑" panose="020B0503020204020204" pitchFamily="34" charset="-122"/>
                <a:ea typeface="微软雅黑" panose="020B0503020204020204" pitchFamily="34" charset="-122"/>
              </a:rPr>
              <a:t>-</a:t>
            </a:r>
            <a:r>
              <a:rPr lang="zh-CN" altLang="en-US" sz="1600" b="1" i="0" dirty="0">
                <a:solidFill>
                  <a:srgbClr val="FF0000"/>
                </a:solidFill>
                <a:effectLst/>
                <a:latin typeface="微软雅黑" panose="020B0503020204020204" pitchFamily="34" charset="-122"/>
                <a:ea typeface="微软雅黑" panose="020B0503020204020204" pitchFamily="34" charset="-122"/>
              </a:rPr>
              <a:t>数据运营的闭环路径</a:t>
            </a:r>
            <a:r>
              <a:rPr lang="zh-CN" altLang="en-US" sz="1600" b="0" i="0" dirty="0">
                <a:solidFill>
                  <a:srgbClr val="000000"/>
                </a:solidFill>
                <a:effectLst/>
                <a:latin typeface="微软雅黑" panose="020B0503020204020204" pitchFamily="34" charset="-122"/>
                <a:ea typeface="微软雅黑" panose="020B0503020204020204" pitchFamily="34" charset="-122"/>
              </a:rPr>
              <a:t>，确保数据集能够精准匹配特定场景需求，规避因目标模糊导致的数据冗余或关键信息缺失问题。</a:t>
            </a:r>
          </a:p>
          <a:p>
            <a:pPr marL="285750" indent="-285750" algn="l">
              <a:lnSpc>
                <a:spcPts val="2100"/>
              </a:lnSpc>
              <a:spcBef>
                <a:spcPts val="600"/>
              </a:spcBef>
              <a:spcAft>
                <a:spcPts val="600"/>
              </a:spcAft>
              <a:buFont typeface="Wingdings" panose="05000000000000000000" charset="0"/>
              <a:buChar char="Ø"/>
            </a:pPr>
            <a:r>
              <a:rPr lang="zh-CN" altLang="en-US" sz="1600" b="1" i="0" dirty="0">
                <a:solidFill>
                  <a:srgbClr val="FF0000"/>
                </a:solidFill>
                <a:effectLst/>
                <a:latin typeface="微软雅黑" panose="020B0503020204020204" pitchFamily="34" charset="-122"/>
                <a:ea typeface="微软雅黑" panose="020B0503020204020204" pitchFamily="34" charset="-122"/>
              </a:rPr>
              <a:t>优势</a:t>
            </a:r>
            <a:r>
              <a:rPr lang="zh-CN" altLang="en-US" sz="1600" b="1" i="0" dirty="0">
                <a:solidFill>
                  <a:srgbClr val="000000"/>
                </a:solidFill>
                <a:effectLst/>
                <a:latin typeface="微软雅黑" panose="020B0503020204020204" pitchFamily="34" charset="-122"/>
                <a:ea typeface="微软雅黑" panose="020B0503020204020204" pitchFamily="34" charset="-122"/>
              </a:rPr>
              <a:t>在于目标导向明确、数据集针对性强、质量易于管控，可与具体应用形成紧密的反馈闭环，通过应用效果反向迭代优化数据质量与内涵。</a:t>
            </a:r>
          </a:p>
          <a:p>
            <a:pPr marL="285750" indent="-285750" algn="l">
              <a:lnSpc>
                <a:spcPts val="2100"/>
              </a:lnSpc>
              <a:spcBef>
                <a:spcPts val="600"/>
              </a:spcBef>
              <a:spcAft>
                <a:spcPts val="600"/>
              </a:spcAft>
              <a:buFont typeface="Wingdings" panose="05000000000000000000" charset="0"/>
              <a:buChar char="Ø"/>
            </a:pPr>
            <a:r>
              <a:rPr lang="zh-CN" altLang="en-US" sz="1600" b="1" i="0" dirty="0">
                <a:solidFill>
                  <a:srgbClr val="FF0000"/>
                </a:solidFill>
                <a:effectLst/>
                <a:latin typeface="微软雅黑" panose="020B0503020204020204" pitchFamily="34" charset="-122"/>
                <a:ea typeface="微软雅黑" panose="020B0503020204020204" pitchFamily="34" charset="-122"/>
              </a:rPr>
              <a:t>建设难点</a:t>
            </a:r>
            <a:r>
              <a:rPr lang="zh-CN" altLang="en-US" sz="1600" b="0" i="0" dirty="0">
                <a:solidFill>
                  <a:srgbClr val="000000"/>
                </a:solidFill>
                <a:effectLst/>
                <a:latin typeface="微软雅黑" panose="020B0503020204020204" pitchFamily="34" charset="-122"/>
                <a:ea typeface="微软雅黑" panose="020B0503020204020204" pitchFamily="34" charset="-122"/>
              </a:rPr>
              <a:t>主要体现在中医药不同应用场景的需求差异显著，易造成数据采集标准不统一，形成“场景化数据孤岛”；部分小众场景需求覆盖面窄，数据采集难度较大。典型应用场景包括中医临床辅助决策、中药产业精准溯源、中药靶点发现等。 </a:t>
            </a:r>
            <a:endParaRPr lang="zh-CN" altLang="en-US" sz="1600" dirty="0">
              <a:solidFill>
                <a:srgbClr val="000000"/>
              </a:solidFill>
              <a:latin typeface="微软雅黑" panose="020B0503020204020204" pitchFamily="34" charset="-122"/>
              <a:ea typeface="微软雅黑" panose="020B0503020204020204" pitchFamily="34" charset="-122"/>
            </a:endParaRPr>
          </a:p>
        </p:txBody>
      </p:sp>
      <p:pic>
        <p:nvPicPr>
          <p:cNvPr id="56" name="图形 55"/>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0216" y="1749985"/>
            <a:ext cx="268380" cy="252000"/>
          </a:xfrm>
          <a:prstGeom prst="rect">
            <a:avLst/>
          </a:prstGeom>
        </p:spPr>
      </p:pic>
      <p:sp>
        <p:nvSpPr>
          <p:cNvPr id="5" name="天蝎PPT原创©7"/>
          <p:cNvSpPr/>
          <p:nvPr/>
        </p:nvSpPr>
        <p:spPr>
          <a:xfrm>
            <a:off x="6356870" y="1570645"/>
            <a:ext cx="5109073" cy="4669858"/>
          </a:xfrm>
          <a:prstGeom prst="roundRect">
            <a:avLst>
              <a:gd name="adj" fmla="val 1606"/>
            </a:avLst>
          </a:prstGeom>
          <a:solidFill>
            <a:schemeClr val="bg1"/>
          </a:solidFill>
          <a:ln w="15875">
            <a:solidFill>
              <a:schemeClr val="accent1"/>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 name="天蝎PPT原创©8"/>
          <p:cNvSpPr/>
          <p:nvPr/>
        </p:nvSpPr>
        <p:spPr>
          <a:xfrm>
            <a:off x="6351029" y="1565726"/>
            <a:ext cx="5109073" cy="612000"/>
          </a:xfrm>
          <a:prstGeom prst="round2SameRect">
            <a:avLst>
              <a:gd name="adj1" fmla="val 12592"/>
              <a:gd name="adj2"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 name="天蝎PPT原创©14"/>
          <p:cNvSpPr txBox="1"/>
          <p:nvPr/>
        </p:nvSpPr>
        <p:spPr>
          <a:xfrm>
            <a:off x="6959524" y="1673540"/>
            <a:ext cx="3351878" cy="40011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b="1" dirty="0">
                <a:solidFill>
                  <a:schemeClr val="bg1"/>
                </a:solidFill>
                <a:latin typeface="Arial" panose="020B0604020202020204" pitchFamily="34" charset="0"/>
                <a:ea typeface="微软雅黑" panose="020B0503020204020204" pitchFamily="34" charset="-122"/>
                <a:sym typeface="Arial" panose="020B0604020202020204" pitchFamily="34" charset="0"/>
              </a:rPr>
              <a:t>“数据驱动”建设模式</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文本框 53"/>
          <p:cNvSpPr txBox="1"/>
          <p:nvPr/>
        </p:nvSpPr>
        <p:spPr>
          <a:xfrm>
            <a:off x="6362711" y="2176545"/>
            <a:ext cx="5109073" cy="363093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1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以数据资源整合为基础，遵循“先聚数、再挖掘”的核心思路，是实现数据规模化、资产化的基础模式。</a:t>
            </a:r>
          </a:p>
          <a:p>
            <a:pPr algn="l">
              <a:lnSpc>
                <a:spcPts val="21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该模式通过主动开展数据探索、关联分析与价值挖掘，反向催生新的科学问题、发现新的治疗规律或开辟新的产业方向，其核心逻辑是先构建数据资产，再通过数据探索驱动知识创新与应用升级，属于过程导向的探索创新型建设范式。</a:t>
            </a:r>
          </a:p>
          <a:p>
            <a:pPr algn="l">
              <a:lnSpc>
                <a:spcPts val="2100"/>
              </a:lnSpc>
              <a:spcBef>
                <a:spcPts val="600"/>
              </a:spcBef>
              <a:spcAft>
                <a:spcPts val="600"/>
              </a:spcAft>
            </a:pPr>
            <a:r>
              <a:rPr lang="zh-CN" altLang="en-US" sz="1600" b="0" i="0" dirty="0">
                <a:solidFill>
                  <a:srgbClr val="000000"/>
                </a:solidFill>
                <a:effectLst/>
                <a:latin typeface="微软雅黑" panose="020B0503020204020204" pitchFamily="34" charset="-122"/>
                <a:ea typeface="微软雅黑" panose="020B0503020204020204" pitchFamily="34" charset="-122"/>
              </a:rPr>
              <a:t>通常遵循数据采集→规模化整合→全量治理→数据挖掘→价值落地的线性路径，</a:t>
            </a:r>
            <a:r>
              <a:rPr lang="zh-CN" altLang="en-US" sz="1600" b="1" i="0" dirty="0">
                <a:solidFill>
                  <a:srgbClr val="FF0000"/>
                </a:solidFill>
                <a:effectLst/>
                <a:latin typeface="微软雅黑" panose="020B0503020204020204" pitchFamily="34" charset="-122"/>
                <a:ea typeface="微软雅黑" panose="020B0503020204020204" pitchFamily="34" charset="-122"/>
              </a:rPr>
              <a:t>能够最大化盘活现有数据资产，通过跨领域、跨模态的数据融合分析，涌现出单一来源数据或专家经验难以企及的智能价值，尤其适用于通用大模型、预训练模型等需要海量多样化数据支撑的任务。</a:t>
            </a:r>
          </a:p>
        </p:txBody>
      </p:sp>
      <p:pic>
        <p:nvPicPr>
          <p:cNvPr id="10" name="图形 55"/>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97641" y="1748804"/>
            <a:ext cx="268380" cy="252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中医药高质量数据集的建设路径指引</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4738" y="1176812"/>
            <a:ext cx="8991666" cy="542452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557118" y="1256325"/>
            <a:ext cx="4838448" cy="504000"/>
          </a:xfrm>
          <a:prstGeom prst="rect">
            <a:avLst/>
          </a:prstGeom>
          <a:gradFill flip="none" rotWithShape="1">
            <a:gsLst>
              <a:gs pos="0">
                <a:schemeClr val="accent1">
                  <a:alpha val="0"/>
                </a:schemeClr>
              </a:gs>
              <a:gs pos="100000">
                <a:schemeClr val="accent1"/>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p:txBody>
          <a:bodyPr/>
          <a:lstStyle/>
          <a:p>
            <a:r>
              <a:rPr lang="zh-CN" altLang="en-US" dirty="0"/>
              <a:t>中医药高质量数据集的建设路径指引</a:t>
            </a:r>
          </a:p>
        </p:txBody>
      </p:sp>
      <p:sp>
        <p:nvSpPr>
          <p:cNvPr id="5" name="文本框 4"/>
          <p:cNvSpPr txBox="1"/>
          <p:nvPr/>
        </p:nvSpPr>
        <p:spPr>
          <a:xfrm>
            <a:off x="639837" y="1798389"/>
            <a:ext cx="5122460" cy="485017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明确数据应用场景</a:t>
            </a:r>
            <a:r>
              <a:rPr lang="zh-CN" altLang="en-US" sz="1600" dirty="0">
                <a:latin typeface="微软雅黑" panose="020B0503020204020204" pitchFamily="34" charset="-122"/>
                <a:ea typeface="微软雅黑" panose="020B0503020204020204" pitchFamily="34" charset="-122"/>
              </a:rPr>
              <a:t>，面向中医药 </a:t>
            </a:r>
            <a:r>
              <a:rPr lang="en-US" altLang="zh-CN" sz="1600" dirty="0">
                <a:latin typeface="微软雅黑" panose="020B0503020204020204" pitchFamily="34" charset="-122"/>
                <a:ea typeface="微软雅黑" panose="020B0503020204020204" pitchFamily="34" charset="-122"/>
              </a:rPr>
              <a:t>AI </a:t>
            </a:r>
            <a:r>
              <a:rPr lang="zh-CN" altLang="en-US" sz="1600" dirty="0">
                <a:latin typeface="微软雅黑" panose="020B0503020204020204" pitchFamily="34" charset="-122"/>
                <a:ea typeface="微软雅黑" panose="020B0503020204020204" pitchFamily="34" charset="-122"/>
              </a:rPr>
              <a:t>核心应用场景，精准界定数据的采集、处理和存储等核心需求，重点聚焦中医药垂直大模型训练与行业实际应用；</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规范数据规格</a:t>
            </a:r>
            <a:r>
              <a:rPr lang="zh-CN" altLang="en-US" sz="1600" dirty="0">
                <a:latin typeface="微软雅黑" panose="020B0503020204020204" pitchFamily="34" charset="-122"/>
                <a:ea typeface="微软雅黑" panose="020B0503020204020204" pitchFamily="34" charset="-122"/>
              </a:rPr>
              <a:t>，根据具体应用场景，明确数据的类型（结构化、半结构化、非结构化等）、格式规范与核心内涵，确保数据既能被机器识别理解，又准确表达中医药专业内涵；</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明确数据质量水平</a:t>
            </a:r>
            <a:r>
              <a:rPr lang="zh-CN" altLang="en-US" sz="1600" dirty="0">
                <a:latin typeface="微软雅黑" panose="020B0503020204020204" pitchFamily="34" charset="-122"/>
                <a:ea typeface="微软雅黑" panose="020B0503020204020204" pitchFamily="34" charset="-122"/>
              </a:rPr>
              <a:t>，结合应用场景需求，构建科学合理的数据质量模型与测评规范，为后续数据质量管控提供依据；</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b="1" dirty="0">
                <a:solidFill>
                  <a:srgbClr val="C00000"/>
                </a:solidFill>
                <a:latin typeface="微软雅黑" panose="020B0503020204020204" pitchFamily="34" charset="-122"/>
                <a:ea typeface="微软雅黑" panose="020B0503020204020204" pitchFamily="34" charset="-122"/>
              </a:rPr>
              <a:t>开展数据可获得性评估</a:t>
            </a:r>
            <a:r>
              <a:rPr lang="zh-CN" altLang="en-US" sz="1600" dirty="0">
                <a:latin typeface="微软雅黑" panose="020B0503020204020204" pitchFamily="34" charset="-122"/>
                <a:ea typeface="微软雅黑" panose="020B0503020204020204" pitchFamily="34" charset="-122"/>
              </a:rPr>
              <a:t>，全面研判数据集建设所需数据的可使用性，重点评估数据获取的可行性、合规性与安全性。</a:t>
            </a:r>
          </a:p>
        </p:txBody>
      </p:sp>
      <p:sp>
        <p:nvSpPr>
          <p:cNvPr id="6" name="文本框 5"/>
          <p:cNvSpPr txBox="1"/>
          <p:nvPr/>
        </p:nvSpPr>
        <p:spPr>
          <a:xfrm>
            <a:off x="6429704" y="1798389"/>
            <a:ext cx="5188982" cy="3372846"/>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数据架构设计主要明确所需数据的全部属性、来源、范围、用途等核心要素，搭建科学合理的数据架构体系；</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实施计划制定需明确数据采集、预处理、标注以及模型验证等具体实施环节的时间节点、责任分工与实施标准；</a:t>
            </a:r>
            <a:endParaRPr lang="en-US" altLang="zh-CN" sz="16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成本与工作量预估需全面核算数据获取、重组、传输、质量评估以及模型构建等环节的成本与时间预算，为建设工作有序推进提供保障。</a:t>
            </a:r>
          </a:p>
        </p:txBody>
      </p:sp>
      <p:sp>
        <p:nvSpPr>
          <p:cNvPr id="9" name="文本框 8"/>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725364" y="1294389"/>
            <a:ext cx="1380466" cy="430374"/>
          </a:xfrm>
          <a:prstGeom prst="rect">
            <a:avLst/>
          </a:prstGeom>
          <a:noFill/>
        </p:spPr>
        <p:txBody>
          <a:bodyPr wrap="square" rtlCol="0">
            <a:spAutoFit/>
          </a:bodyPr>
          <a:lstStyle/>
          <a:p>
            <a:pP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需求分析</a:t>
            </a:r>
          </a:p>
        </p:txBody>
      </p:sp>
      <p:sp>
        <p:nvSpPr>
          <p:cNvPr id="14" name="矩形 13"/>
          <p:cNvSpPr/>
          <p:nvPr/>
        </p:nvSpPr>
        <p:spPr>
          <a:xfrm>
            <a:off x="6429704" y="1256325"/>
            <a:ext cx="4838448" cy="504000"/>
          </a:xfrm>
          <a:prstGeom prst="rect">
            <a:avLst/>
          </a:prstGeom>
          <a:gradFill flip="none" rotWithShape="1">
            <a:gsLst>
              <a:gs pos="0">
                <a:schemeClr val="accent1">
                  <a:alpha val="0"/>
                </a:schemeClr>
              </a:gs>
              <a:gs pos="100000">
                <a:schemeClr val="accent1"/>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597950" y="1294389"/>
            <a:ext cx="1380466" cy="430374"/>
          </a:xfrm>
          <a:prstGeom prst="rect">
            <a:avLst/>
          </a:prstGeom>
          <a:noFill/>
        </p:spPr>
        <p:txBody>
          <a:bodyPr wrap="square" rtlCol="0">
            <a:spAutoFit/>
          </a:bodyPr>
          <a:lstStyle/>
          <a:p>
            <a:pP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规划设计</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中医药高质量数据集的建设路径指引</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3" name="矩形 2"/>
          <p:cNvSpPr/>
          <p:nvPr/>
        </p:nvSpPr>
        <p:spPr>
          <a:xfrm>
            <a:off x="557118" y="1256325"/>
            <a:ext cx="4838448" cy="504000"/>
          </a:xfrm>
          <a:prstGeom prst="rect">
            <a:avLst/>
          </a:prstGeom>
          <a:gradFill flip="none" rotWithShape="1">
            <a:gsLst>
              <a:gs pos="0">
                <a:schemeClr val="accent1">
                  <a:alpha val="0"/>
                </a:schemeClr>
              </a:gs>
              <a:gs pos="100000">
                <a:schemeClr val="accent1"/>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25364" y="1294389"/>
            <a:ext cx="1380466" cy="430374"/>
          </a:xfrm>
          <a:prstGeom prst="rect">
            <a:avLst/>
          </a:prstGeom>
          <a:noFill/>
        </p:spPr>
        <p:txBody>
          <a:bodyPr wrap="square" rtlCol="0">
            <a:spAutoFit/>
          </a:bodyPr>
          <a:lstStyle/>
          <a:p>
            <a:pP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研发实施</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658" y="1869056"/>
            <a:ext cx="5397058" cy="4797385"/>
          </a:xfrm>
          <a:prstGeom prst="rect">
            <a:avLst/>
          </a:prstGeom>
        </p:spPr>
      </p:pic>
      <p:sp>
        <p:nvSpPr>
          <p:cNvPr id="26" name="矩形: 圆角 25"/>
          <p:cNvSpPr/>
          <p:nvPr/>
        </p:nvSpPr>
        <p:spPr>
          <a:xfrm>
            <a:off x="5854460" y="1572119"/>
            <a:ext cx="5992514" cy="4722713"/>
          </a:xfrm>
          <a:prstGeom prst="roundRect">
            <a:avLst>
              <a:gd name="adj" fmla="val 5828"/>
            </a:avLst>
          </a:prstGeom>
          <a:solidFill>
            <a:schemeClr val="bg1"/>
          </a:solidFill>
          <a:ln w="15875">
            <a:solidFill>
              <a:schemeClr val="accent1">
                <a:alpha val="5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907335" y="1717483"/>
            <a:ext cx="5727547" cy="4431983"/>
          </a:xfrm>
          <a:prstGeom prst="rect">
            <a:avLst/>
          </a:prstGeom>
          <a:noFill/>
        </p:spPr>
        <p:txBody>
          <a:bodyPr wrap="square" rtlCol="0">
            <a:spAutoFit/>
          </a:bodyPr>
          <a:lstStyle/>
          <a:p>
            <a:pPr marL="285750" indent="-285750">
              <a:lnSpc>
                <a:spcPct val="120000"/>
              </a:lnSpc>
              <a:spcAft>
                <a:spcPts val="600"/>
              </a:spcAft>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rPr>
              <a:t>方案设计</a:t>
            </a:r>
            <a:r>
              <a:rPr lang="zh-CN" altLang="en-US" b="1" dirty="0">
                <a:solidFill>
                  <a:schemeClr val="accent1"/>
                </a:solidFill>
                <a:latin typeface="微软雅黑" panose="020B0503020204020204" pitchFamily="34" charset="-122"/>
                <a:ea typeface="微软雅黑" panose="020B0503020204020204" pitchFamily="34" charset="-122"/>
              </a:rPr>
              <a:t>是高质量数据集建设实施流程的核心依据</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20000"/>
              </a:lnSpc>
              <a:spcAft>
                <a:spcPts val="600"/>
              </a:spcAft>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rPr>
              <a:t>数据采集与汇聚</a:t>
            </a:r>
            <a:r>
              <a:rPr lang="zh-CN" altLang="en-US" b="1" dirty="0">
                <a:solidFill>
                  <a:schemeClr val="accent1"/>
                </a:solidFill>
                <a:latin typeface="微软雅黑" panose="020B0503020204020204" pitchFamily="34" charset="-122"/>
                <a:ea typeface="微软雅黑" panose="020B0503020204020204" pitchFamily="34" charset="-122"/>
              </a:rPr>
              <a:t>是收集中医药 </a:t>
            </a:r>
            <a:r>
              <a:rPr lang="en-US" altLang="zh-CN" b="1" dirty="0">
                <a:solidFill>
                  <a:schemeClr val="accent1"/>
                </a:solidFill>
                <a:latin typeface="微软雅黑" panose="020B0503020204020204" pitchFamily="34" charset="-122"/>
                <a:ea typeface="微软雅黑" panose="020B0503020204020204" pitchFamily="34" charset="-122"/>
              </a:rPr>
              <a:t>AI </a:t>
            </a:r>
            <a:r>
              <a:rPr lang="zh-CN" altLang="en-US" b="1" dirty="0">
                <a:solidFill>
                  <a:schemeClr val="accent1"/>
                </a:solidFill>
                <a:latin typeface="微软雅黑" panose="020B0503020204020204" pitchFamily="34" charset="-122"/>
                <a:ea typeface="微软雅黑" panose="020B0503020204020204" pitchFamily="34" charset="-122"/>
              </a:rPr>
              <a:t>场景应用所需数据的源头环节</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20000"/>
              </a:lnSpc>
              <a:spcAft>
                <a:spcPts val="600"/>
              </a:spcAft>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rPr>
              <a:t>数据预处理与智能治理</a:t>
            </a:r>
            <a:r>
              <a:rPr lang="zh-CN" altLang="en-US" b="1" dirty="0">
                <a:solidFill>
                  <a:schemeClr val="accent1"/>
                </a:solidFill>
                <a:latin typeface="微软雅黑" panose="020B0503020204020204" pitchFamily="34" charset="-122"/>
                <a:ea typeface="微软雅黑" panose="020B0503020204020204" pitchFamily="34" charset="-122"/>
              </a:rPr>
              <a:t>，将数据转换为可支撑标注、建模与共享的规范形态</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rPr>
              <a:t>数据标注</a:t>
            </a:r>
            <a:r>
              <a:rPr lang="zh-CN" altLang="en-US" b="1" dirty="0">
                <a:solidFill>
                  <a:schemeClr val="accent1"/>
                </a:solidFill>
                <a:latin typeface="微软雅黑" panose="020B0503020204020204" pitchFamily="34" charset="-122"/>
                <a:ea typeface="微软雅黑" panose="020B0503020204020204" pitchFamily="34" charset="-122"/>
              </a:rPr>
              <a:t>是依托专业标注工具，是将中医药理论与知识转化为机器可计算、可推理知识表达的核心环节</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b="1" dirty="0">
                <a:solidFill>
                  <a:schemeClr val="accent1"/>
                </a:solidFill>
                <a:latin typeface="微软雅黑" panose="020B0503020204020204" pitchFamily="34" charset="-122"/>
                <a:ea typeface="微软雅黑" panose="020B0503020204020204" pitchFamily="34" charset="-122"/>
              </a:rPr>
              <a:t>通过算法对现有数据进行</a:t>
            </a:r>
            <a:r>
              <a:rPr lang="zh-CN" altLang="en-US" b="1" dirty="0">
                <a:solidFill>
                  <a:srgbClr val="C00000"/>
                </a:solidFill>
                <a:latin typeface="微软雅黑" panose="020B0503020204020204" pitchFamily="34" charset="-122"/>
                <a:ea typeface="微软雅黑" panose="020B0503020204020204" pitchFamily="34" charset="-122"/>
              </a:rPr>
              <a:t>变换、扩展或创新生成</a:t>
            </a:r>
            <a:r>
              <a:rPr lang="zh-CN" altLang="en-US" b="1" dirty="0">
                <a:solidFill>
                  <a:schemeClr val="accent1"/>
                </a:solidFill>
                <a:latin typeface="微软雅黑" panose="020B0503020204020204" pitchFamily="34" charset="-122"/>
                <a:ea typeface="微软雅黑" panose="020B0503020204020204" pitchFamily="34" charset="-122"/>
              </a:rPr>
              <a:t>，丰富数据集的场景适配性</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rPr>
              <a:t>数据质量评测</a:t>
            </a:r>
            <a:r>
              <a:rPr lang="zh-CN" altLang="en-US" b="1" dirty="0">
                <a:solidFill>
                  <a:schemeClr val="accent1"/>
                </a:solidFill>
                <a:latin typeface="微软雅黑" panose="020B0503020204020204" pitchFamily="34" charset="-122"/>
                <a:ea typeface="微软雅黑" panose="020B0503020204020204" pitchFamily="34" charset="-122"/>
              </a:rPr>
              <a:t>是推动中医药数据标准化建设、促进其可信流通与高效应用的重要环节</a:t>
            </a:r>
            <a:endParaRPr lang="en-US" altLang="zh-CN" b="1" dirty="0">
              <a:solidFill>
                <a:schemeClr val="accent1"/>
              </a:solidFill>
              <a:latin typeface="微软雅黑" panose="020B0503020204020204" pitchFamily="34" charset="-122"/>
              <a:ea typeface="微软雅黑" panose="020B0503020204020204" pitchFamily="34" charset="-122"/>
            </a:endParaRPr>
          </a:p>
          <a:p>
            <a:pPr marL="285750" indent="-285750">
              <a:lnSpc>
                <a:spcPct val="100000"/>
              </a:lnSpc>
              <a:spcAft>
                <a:spcPts val="600"/>
              </a:spcAft>
              <a:buFont typeface="Wingdings" panose="05000000000000000000" pitchFamily="2" charset="2"/>
              <a:buChar char="Ø"/>
            </a:pPr>
            <a:r>
              <a:rPr lang="zh-CN" altLang="en-US" b="1" dirty="0">
                <a:solidFill>
                  <a:srgbClr val="C00000"/>
                </a:solidFill>
                <a:latin typeface="微软雅黑" panose="020B0503020204020204" pitchFamily="34" charset="-122"/>
                <a:ea typeface="微软雅黑" panose="020B0503020204020204" pitchFamily="34" charset="-122"/>
              </a:rPr>
              <a:t>可信计算与产品封装</a:t>
            </a:r>
            <a:r>
              <a:rPr lang="zh-CN" altLang="en-US" b="1" dirty="0">
                <a:solidFill>
                  <a:schemeClr val="accent1"/>
                </a:solidFill>
                <a:latin typeface="微软雅黑" panose="020B0503020204020204" pitchFamily="34" charset="-122"/>
                <a:ea typeface="微软雅黑" panose="020B0503020204020204" pitchFamily="34" charset="-122"/>
              </a:rPr>
              <a:t>是为高质量数据集后续模型验证提供安全、规范的数据验证环境的关键环节</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p:cNvSpPr/>
          <p:nvPr/>
        </p:nvSpPr>
        <p:spPr>
          <a:xfrm>
            <a:off x="186409" y="1836522"/>
            <a:ext cx="3964986" cy="4794315"/>
          </a:xfrm>
          <a:prstGeom prst="roundRect">
            <a:avLst>
              <a:gd name="adj" fmla="val 2389"/>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5"/>
          <p:cNvSpPr>
            <a:spLocks noGrp="1"/>
          </p:cNvSpPr>
          <p:nvPr>
            <p:ph type="title"/>
          </p:nvPr>
        </p:nvSpPr>
        <p:spPr/>
        <p:txBody>
          <a:bodyPr>
            <a:normAutofit/>
          </a:bodyPr>
          <a:lstStyle/>
          <a:p>
            <a:r>
              <a:rPr lang="zh-CN" altLang="en-US" dirty="0"/>
              <a:t>中医药高质量数据集的建设路径指引</a:t>
            </a:r>
          </a:p>
        </p:txBody>
      </p:sp>
      <p:sp>
        <p:nvSpPr>
          <p:cNvPr id="26" name="文本框 25"/>
          <p:cNvSpPr txBox="1"/>
          <p:nvPr/>
        </p:nvSpPr>
        <p:spPr>
          <a:xfrm>
            <a:off x="866037" y="2057744"/>
            <a:ext cx="2543135" cy="417358"/>
          </a:xfrm>
          <a:prstGeom prst="rect">
            <a:avLst/>
          </a:prstGeom>
          <a:noFill/>
        </p:spPr>
        <p:txBody>
          <a:bodyPr wrap="square">
            <a:spAutoFit/>
          </a:bodyPr>
          <a:lstStyle/>
          <a:p>
            <a:pPr>
              <a:lnSpc>
                <a:spcPct val="130000"/>
              </a:lnSpc>
            </a:pPr>
            <a:r>
              <a:rPr lang="zh-CN" altLang="en-US" b="1" i="0" dirty="0">
                <a:solidFill>
                  <a:schemeClr val="accent1"/>
                </a:solidFill>
                <a:effectLst/>
                <a:latin typeface="微软雅黑" panose="020B0503020204020204" pitchFamily="34" charset="-122"/>
                <a:ea typeface="微软雅黑" panose="020B0503020204020204" pitchFamily="34" charset="-122"/>
              </a:rPr>
              <a:t>数据发布与共享：</a:t>
            </a:r>
          </a:p>
        </p:txBody>
      </p:sp>
      <p:sp>
        <p:nvSpPr>
          <p:cNvPr id="3" name="文本框 2"/>
          <p:cNvSpPr txBox="1"/>
          <p:nvPr/>
        </p:nvSpPr>
        <p:spPr>
          <a:xfrm>
            <a:off x="240398" y="2491675"/>
            <a:ext cx="3913776" cy="4111510"/>
          </a:xfrm>
          <a:prstGeom prst="rect">
            <a:avLst/>
          </a:prstGeom>
          <a:noFill/>
        </p:spPr>
        <p:txBody>
          <a:bodyPr wrap="square">
            <a:spAutoFit/>
          </a:bodyPr>
          <a:lstStyle/>
          <a:p>
            <a:pPr>
              <a:lnSpc>
                <a:spcPct val="150000"/>
              </a:lnSpc>
            </a:pPr>
            <a:r>
              <a:rPr lang="zh-CN" altLang="en-US" sz="1600" b="0" i="0" dirty="0">
                <a:effectLst/>
                <a:latin typeface="微软雅黑" panose="020B0503020204020204" pitchFamily="34" charset="-122"/>
                <a:ea typeface="微软雅黑" panose="020B0503020204020204" pitchFamily="34" charset="-122"/>
              </a:rPr>
              <a:t>①根据数据的敏感程度、知识产权等核心属性，对数据集进行分级分类，制定差异化的授权访问策略，兼顾数据共享与安全保护；</a:t>
            </a:r>
            <a:endParaRPr lang="en-US" altLang="zh-CN" sz="1600" b="0" i="0" dirty="0">
              <a:effectLst/>
              <a:latin typeface="微软雅黑" panose="020B0503020204020204" pitchFamily="34" charset="-122"/>
              <a:ea typeface="微软雅黑" panose="020B0503020204020204" pitchFamily="34" charset="-122"/>
            </a:endParaRPr>
          </a:p>
          <a:p>
            <a:pPr>
              <a:lnSpc>
                <a:spcPct val="150000"/>
              </a:lnSpc>
            </a:pPr>
            <a:r>
              <a:rPr lang="zh-CN" altLang="en-US" sz="1600" b="0" i="0" dirty="0">
                <a:effectLst/>
                <a:latin typeface="微软雅黑" panose="020B0503020204020204" pitchFamily="34" charset="-122"/>
                <a:ea typeface="微软雅黑" panose="020B0503020204020204" pitchFamily="34" charset="-122"/>
              </a:rPr>
              <a:t>②通过建立数据门户、共享平台、标准</a:t>
            </a:r>
            <a:r>
              <a:rPr lang="en-US" altLang="zh-CN" sz="1600" b="0" i="0" dirty="0">
                <a:effectLst/>
                <a:latin typeface="微软雅黑" panose="020B0503020204020204" pitchFamily="34" charset="-122"/>
                <a:ea typeface="微软雅黑" panose="020B0503020204020204" pitchFamily="34" charset="-122"/>
              </a:rPr>
              <a:t>API</a:t>
            </a:r>
            <a:r>
              <a:rPr lang="zh-CN" altLang="en-US" sz="1600" b="0" i="0" dirty="0">
                <a:effectLst/>
                <a:latin typeface="微软雅黑" panose="020B0503020204020204" pitchFamily="34" charset="-122"/>
                <a:ea typeface="微软雅黑" panose="020B0503020204020204" pitchFamily="34" charset="-122"/>
              </a:rPr>
              <a:t>接口等方式，提供数据集及其相关资源的便捷获取渠道，便于用户发现、理解和使用数据集；</a:t>
            </a:r>
            <a:endParaRPr lang="en-US" altLang="zh-CN" sz="1600" b="0" i="0" dirty="0">
              <a:effectLst/>
              <a:latin typeface="微软雅黑" panose="020B0503020204020204" pitchFamily="34" charset="-122"/>
              <a:ea typeface="微软雅黑" panose="020B0503020204020204" pitchFamily="34" charset="-122"/>
            </a:endParaRPr>
          </a:p>
          <a:p>
            <a:pPr>
              <a:lnSpc>
                <a:spcPct val="150000"/>
              </a:lnSpc>
            </a:pPr>
            <a:r>
              <a:rPr lang="zh-CN" altLang="en-US" sz="1600" b="0" i="0" dirty="0">
                <a:effectLst/>
                <a:latin typeface="微软雅黑" panose="020B0503020204020204" pitchFamily="34" charset="-122"/>
                <a:ea typeface="微软雅黑" panose="020B0503020204020204" pitchFamily="34" charset="-122"/>
              </a:rPr>
              <a:t>③建立并维护用户反馈机制，汇集来自不同应用场景的使用意见与质量问题，为数据集后续迭代优化提供参考。</a:t>
            </a:r>
            <a:endParaRPr lang="en-US" altLang="zh-CN" sz="1600" b="0" i="0" dirty="0">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41043" y="2096617"/>
            <a:ext cx="415245" cy="360000"/>
            <a:chOff x="2758669" y="4223415"/>
            <a:chExt cx="415245" cy="360000"/>
          </a:xfrm>
        </p:grpSpPr>
        <p:sp>
          <p:nvSpPr>
            <p:cNvPr id="12" name="椭圆 11"/>
            <p:cNvSpPr/>
            <p:nvPr/>
          </p:nvSpPr>
          <p:spPr>
            <a:xfrm>
              <a:off x="2786292" y="4223415"/>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2758669" y="4238947"/>
              <a:ext cx="415245" cy="328936"/>
            </a:xfrm>
            <a:prstGeom prst="rect">
              <a:avLst/>
            </a:prstGeom>
            <a:noFill/>
          </p:spPr>
          <p:txBody>
            <a:bodyPr wrap="square" rtlCol="0">
              <a:spAutoFit/>
            </a:bodyPr>
            <a:lstStyle/>
            <a:p>
              <a:pPr algn="ctr">
                <a:lnSpc>
                  <a:spcPct val="120000"/>
                </a:lnSpc>
              </a:pPr>
              <a:r>
                <a:rPr lang="en-US" altLang="zh-CN" sz="1400" b="1">
                  <a:solidFill>
                    <a:schemeClr val="bg1"/>
                  </a:solidFill>
                  <a:latin typeface="微软雅黑" panose="020B0503020204020204" pitchFamily="34" charset="-122"/>
                  <a:ea typeface="微软雅黑" panose="020B0503020204020204" pitchFamily="34" charset="-122"/>
                </a:rPr>
                <a:t>01</a:t>
              </a:r>
              <a:endParaRPr lang="zh-CN" altLang="en-US" sz="1400" b="1">
                <a:solidFill>
                  <a:schemeClr val="bg1"/>
                </a:solidFill>
                <a:latin typeface="微软雅黑" panose="020B0503020204020204" pitchFamily="34" charset="-122"/>
                <a:ea typeface="微软雅黑" panose="020B0503020204020204" pitchFamily="34" charset="-122"/>
              </a:endParaRPr>
            </a:p>
          </p:txBody>
        </p:sp>
      </p:grpSp>
      <p:cxnSp>
        <p:nvCxnSpPr>
          <p:cNvPr id="10" name="直接连接符 9"/>
          <p:cNvCxnSpPr/>
          <p:nvPr/>
        </p:nvCxnSpPr>
        <p:spPr>
          <a:xfrm>
            <a:off x="347779" y="2505506"/>
            <a:ext cx="3699014" cy="0"/>
          </a:xfrm>
          <a:prstGeom prst="line">
            <a:avLst/>
          </a:prstGeom>
          <a:ln w="12700">
            <a:solidFill>
              <a:schemeClr val="accent1">
                <a:alpha val="6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600476" y="1247188"/>
            <a:ext cx="2039206" cy="430374"/>
            <a:chOff x="554756" y="1295181"/>
            <a:chExt cx="2039206" cy="430374"/>
          </a:xfrm>
        </p:grpSpPr>
        <p:sp>
          <p:nvSpPr>
            <p:cNvPr id="23" name="文本框 22"/>
            <p:cNvSpPr txBox="1"/>
            <p:nvPr/>
          </p:nvSpPr>
          <p:spPr>
            <a:xfrm>
              <a:off x="651069" y="1295181"/>
              <a:ext cx="1942893" cy="430374"/>
            </a:xfrm>
            <a:prstGeom prst="rect">
              <a:avLst/>
            </a:prstGeom>
            <a:noFill/>
          </p:spPr>
          <p:txBody>
            <a:bodyPr wrap="square" rtlCol="0">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应用与验证</a:t>
              </a:r>
            </a:p>
          </p:txBody>
        </p:sp>
        <p:sp>
          <p:nvSpPr>
            <p:cNvPr id="27" name="矩形 26"/>
            <p:cNvSpPr/>
            <p:nvPr/>
          </p:nvSpPr>
          <p:spPr>
            <a:xfrm>
              <a:off x="554756" y="1404466"/>
              <a:ext cx="54000" cy="25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圆角 1"/>
          <p:cNvSpPr/>
          <p:nvPr/>
        </p:nvSpPr>
        <p:spPr>
          <a:xfrm>
            <a:off x="4197432" y="1838493"/>
            <a:ext cx="2837605" cy="4794315"/>
          </a:xfrm>
          <a:prstGeom prst="roundRect">
            <a:avLst>
              <a:gd name="adj" fmla="val 2389"/>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747929" y="2056369"/>
            <a:ext cx="2543135" cy="417358"/>
          </a:xfrm>
          <a:prstGeom prst="rect">
            <a:avLst/>
          </a:prstGeom>
          <a:noFill/>
        </p:spPr>
        <p:txBody>
          <a:bodyPr wrap="square">
            <a:spAutoFit/>
          </a:bodyPr>
          <a:lstStyle/>
          <a:p>
            <a:pPr>
              <a:lnSpc>
                <a:spcPct val="130000"/>
              </a:lnSpc>
            </a:pPr>
            <a:r>
              <a:rPr lang="zh-CN" altLang="en-US" b="1" i="0" dirty="0">
                <a:solidFill>
                  <a:schemeClr val="accent1"/>
                </a:solidFill>
                <a:effectLst/>
                <a:latin typeface="微软雅黑" panose="020B0503020204020204" pitchFamily="34" charset="-122"/>
                <a:ea typeface="微软雅黑" panose="020B0503020204020204" pitchFamily="34" charset="-122"/>
              </a:rPr>
              <a:t>应用开发与部署：</a:t>
            </a:r>
          </a:p>
        </p:txBody>
      </p:sp>
      <p:sp>
        <p:nvSpPr>
          <p:cNvPr id="8" name="文本框 7"/>
          <p:cNvSpPr txBox="1"/>
          <p:nvPr/>
        </p:nvSpPr>
        <p:spPr>
          <a:xfrm>
            <a:off x="4205384" y="2694353"/>
            <a:ext cx="2837604" cy="3742178"/>
          </a:xfrm>
          <a:prstGeom prst="rect">
            <a:avLst/>
          </a:prstGeom>
          <a:noFill/>
        </p:spPr>
        <p:txBody>
          <a:bodyPr wrap="square">
            <a:spAutoFit/>
          </a:bodyPr>
          <a:lstStyle/>
          <a:p>
            <a:pPr>
              <a:lnSpc>
                <a:spcPct val="150000"/>
              </a:lnSpc>
            </a:pPr>
            <a:r>
              <a:rPr lang="zh-CN" altLang="en-US" sz="1600" b="0" i="0" dirty="0">
                <a:effectLst/>
                <a:latin typeface="微软雅黑" panose="020B0503020204020204" pitchFamily="34" charset="-122"/>
                <a:ea typeface="微软雅黑" panose="020B0503020204020204" pitchFamily="34" charset="-122"/>
              </a:rPr>
              <a:t>①通过系统监测、用户反馈、效果评估等方式，全面收集应用性能表现数据，精准掌握数据集的实际应用效果；</a:t>
            </a:r>
            <a:endParaRPr lang="en-US" altLang="zh-CN" sz="1600" b="0" i="0" dirty="0">
              <a:effectLst/>
              <a:latin typeface="微软雅黑" panose="020B0503020204020204" pitchFamily="34" charset="-122"/>
              <a:ea typeface="微软雅黑" panose="020B0503020204020204" pitchFamily="34" charset="-122"/>
            </a:endParaRPr>
          </a:p>
          <a:p>
            <a:pPr>
              <a:lnSpc>
                <a:spcPct val="150000"/>
              </a:lnSpc>
            </a:pPr>
            <a:r>
              <a:rPr lang="zh-CN" altLang="en-US" sz="1600" b="0" i="0" dirty="0">
                <a:effectLst/>
                <a:latin typeface="微软雅黑" panose="020B0503020204020204" pitchFamily="34" charset="-122"/>
                <a:ea typeface="微软雅黑" panose="020B0503020204020204" pitchFamily="34" charset="-122"/>
              </a:rPr>
              <a:t>②对应用性能未达预期的情况进行科学诊断，判断问题根源是数据集质量还是应用算法，若与数据集相关，将改进需求反馈至上游环节，为数据集持续运维与迭代提供精准指导。</a:t>
            </a:r>
            <a:endParaRPr lang="en-US" altLang="zh-CN" sz="1600" b="0" i="0" dirty="0">
              <a:effectLst/>
              <a:latin typeface="微软雅黑" panose="020B0503020204020204" pitchFamily="34" charset="-122"/>
              <a:ea typeface="微软雅黑" panose="020B0503020204020204" pitchFamily="34" charset="-122"/>
            </a:endParaRPr>
          </a:p>
        </p:txBody>
      </p:sp>
      <p:grpSp>
        <p:nvGrpSpPr>
          <p:cNvPr id="9" name="组合 8"/>
          <p:cNvGrpSpPr/>
          <p:nvPr/>
        </p:nvGrpSpPr>
        <p:grpSpPr>
          <a:xfrm>
            <a:off x="4322935" y="2095242"/>
            <a:ext cx="415245" cy="360000"/>
            <a:chOff x="2758669" y="4223415"/>
            <a:chExt cx="415245" cy="360000"/>
          </a:xfrm>
        </p:grpSpPr>
        <p:sp>
          <p:nvSpPr>
            <p:cNvPr id="13" name="椭圆 12"/>
            <p:cNvSpPr/>
            <p:nvPr/>
          </p:nvSpPr>
          <p:spPr>
            <a:xfrm>
              <a:off x="2786292" y="4223415"/>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758669" y="4238947"/>
              <a:ext cx="415245" cy="328936"/>
            </a:xfrm>
            <a:prstGeom prst="rect">
              <a:avLst/>
            </a:prstGeom>
            <a:noFill/>
          </p:spPr>
          <p:txBody>
            <a:bodyPr wrap="square" rtlCol="0">
              <a:spAutoFit/>
            </a:bodyPr>
            <a:lstStyle/>
            <a:p>
              <a:pPr algn="ctr">
                <a:lnSpc>
                  <a:spcPct val="120000"/>
                </a:lnSpc>
              </a:pPr>
              <a:r>
                <a:rPr lang="en-US" altLang="zh-CN" sz="1400" b="1" dirty="0">
                  <a:solidFill>
                    <a:schemeClr val="bg1"/>
                  </a:solidFill>
                  <a:latin typeface="微软雅黑" panose="020B0503020204020204" pitchFamily="34" charset="-122"/>
                  <a:ea typeface="微软雅黑" panose="020B0503020204020204" pitchFamily="34" charset="-122"/>
                </a:rPr>
                <a:t>02</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cxnSp>
        <p:nvCxnSpPr>
          <p:cNvPr id="16" name="直接连接符 15"/>
          <p:cNvCxnSpPr/>
          <p:nvPr/>
        </p:nvCxnSpPr>
        <p:spPr>
          <a:xfrm flipV="1">
            <a:off x="4205384" y="2491675"/>
            <a:ext cx="2753258" cy="31355"/>
          </a:xfrm>
          <a:prstGeom prst="line">
            <a:avLst/>
          </a:prstGeom>
          <a:ln w="12700">
            <a:solidFill>
              <a:schemeClr val="accent1">
                <a:alpha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矩形: 圆角 17"/>
          <p:cNvSpPr/>
          <p:nvPr/>
        </p:nvSpPr>
        <p:spPr>
          <a:xfrm>
            <a:off x="7070611" y="1836522"/>
            <a:ext cx="5046627" cy="4794314"/>
          </a:xfrm>
          <a:prstGeom prst="roundRect">
            <a:avLst>
              <a:gd name="adj" fmla="val 2389"/>
            </a:avLst>
          </a:prstGeom>
          <a:solidFill>
            <a:schemeClr val="accent1">
              <a:alpha val="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7793575" y="2034205"/>
            <a:ext cx="2543135" cy="417358"/>
          </a:xfrm>
          <a:prstGeom prst="rect">
            <a:avLst/>
          </a:prstGeom>
          <a:noFill/>
        </p:spPr>
        <p:txBody>
          <a:bodyPr wrap="square">
            <a:spAutoFit/>
          </a:bodyPr>
          <a:lstStyle/>
          <a:p>
            <a:pPr>
              <a:lnSpc>
                <a:spcPct val="130000"/>
              </a:lnSpc>
            </a:pPr>
            <a:r>
              <a:rPr lang="zh-CN" altLang="en-US" b="1" i="0" dirty="0">
                <a:solidFill>
                  <a:schemeClr val="accent1"/>
                </a:solidFill>
                <a:effectLst/>
                <a:latin typeface="微软雅黑" panose="020B0503020204020204" pitchFamily="34" charset="-122"/>
                <a:ea typeface="微软雅黑" panose="020B0503020204020204" pitchFamily="34" charset="-122"/>
              </a:rPr>
              <a:t>持续运维与迭代：</a:t>
            </a:r>
          </a:p>
        </p:txBody>
      </p:sp>
      <p:sp>
        <p:nvSpPr>
          <p:cNvPr id="20" name="文本框 19"/>
          <p:cNvSpPr txBox="1"/>
          <p:nvPr/>
        </p:nvSpPr>
        <p:spPr>
          <a:xfrm>
            <a:off x="7086247" y="2573269"/>
            <a:ext cx="4865356" cy="4111510"/>
          </a:xfrm>
          <a:prstGeom prst="rect">
            <a:avLst/>
          </a:prstGeom>
          <a:noFill/>
        </p:spPr>
        <p:txBody>
          <a:bodyPr wrap="square">
            <a:spAutoFit/>
          </a:bodyPr>
          <a:lstStyle/>
          <a:p>
            <a:pPr>
              <a:lnSpc>
                <a:spcPct val="150000"/>
              </a:lnSpc>
            </a:pPr>
            <a:r>
              <a:rPr lang="zh-CN" altLang="en-US" sz="1600" b="0" i="0" dirty="0">
                <a:effectLst/>
                <a:latin typeface="微软雅黑" panose="020B0503020204020204" pitchFamily="34" charset="-122"/>
                <a:ea typeface="微软雅黑" panose="020B0503020204020204" pitchFamily="34" charset="-122"/>
              </a:rPr>
              <a:t>①根据中医药实践发展动态，定期更新数据集的知识框架、特征维度与标注规范，淘汰过时数据，补充新增知识与场景数据；</a:t>
            </a:r>
            <a:endParaRPr lang="en-US" altLang="zh-CN" sz="1600" b="0" i="0" dirty="0">
              <a:effectLst/>
              <a:latin typeface="微软雅黑" panose="020B0503020204020204" pitchFamily="34" charset="-122"/>
              <a:ea typeface="微软雅黑" panose="020B0503020204020204" pitchFamily="34" charset="-122"/>
            </a:endParaRPr>
          </a:p>
          <a:p>
            <a:pPr>
              <a:lnSpc>
                <a:spcPct val="150000"/>
              </a:lnSpc>
            </a:pPr>
            <a:r>
              <a:rPr lang="zh-CN" altLang="en-US" sz="1600" b="0" i="0" dirty="0">
                <a:effectLst/>
                <a:latin typeface="微软雅黑" panose="020B0503020204020204" pitchFamily="34" charset="-122"/>
                <a:ea typeface="微软雅黑" panose="020B0503020204020204" pitchFamily="34" charset="-122"/>
              </a:rPr>
              <a:t>②依托用户反馈机制与自动化监测工具，实时捕获数据质量偏差，触发重标注、增补样本等迭代流程，持续提升数据质量；</a:t>
            </a:r>
            <a:endParaRPr lang="en-US" altLang="zh-CN" sz="1600" b="0" i="0" dirty="0">
              <a:effectLst/>
              <a:latin typeface="微软雅黑" panose="020B0503020204020204" pitchFamily="34" charset="-122"/>
              <a:ea typeface="微软雅黑" panose="020B0503020204020204" pitchFamily="34" charset="-122"/>
            </a:endParaRPr>
          </a:p>
          <a:p>
            <a:pPr>
              <a:lnSpc>
                <a:spcPct val="150000"/>
              </a:lnSpc>
            </a:pPr>
            <a:r>
              <a:rPr lang="zh-CN" altLang="en-US" sz="1600" b="0" i="0" dirty="0">
                <a:effectLst/>
                <a:latin typeface="微软雅黑" panose="020B0503020204020204" pitchFamily="34" charset="-122"/>
                <a:ea typeface="微软雅黑" panose="020B0503020204020204" pitchFamily="34" charset="-122"/>
              </a:rPr>
              <a:t>③实时监控数据源，及时处理因数据源变更导致的数据缺失或不一致等问题，建立完善的版本管理体系，确保所有迭代过程均有清晰记录与可追溯性，对超出保存期限或不再具有应用价值的数据，按规范进行合规销毁，完成数据全生命周期管理。</a:t>
            </a:r>
            <a:endParaRPr lang="en-US" altLang="zh-CN" sz="1600" b="0" i="0" dirty="0">
              <a:effectLst/>
              <a:latin typeface="微软雅黑" panose="020B0503020204020204" pitchFamily="34" charset="-122"/>
              <a:ea typeface="微软雅黑" panose="020B0503020204020204" pitchFamily="34" charset="-122"/>
            </a:endParaRPr>
          </a:p>
        </p:txBody>
      </p:sp>
      <p:grpSp>
        <p:nvGrpSpPr>
          <p:cNvPr id="22" name="组合 21"/>
          <p:cNvGrpSpPr/>
          <p:nvPr/>
        </p:nvGrpSpPr>
        <p:grpSpPr>
          <a:xfrm>
            <a:off x="7368581" y="2073078"/>
            <a:ext cx="415245" cy="360000"/>
            <a:chOff x="2758669" y="4223415"/>
            <a:chExt cx="415245" cy="360000"/>
          </a:xfrm>
        </p:grpSpPr>
        <p:sp>
          <p:nvSpPr>
            <p:cNvPr id="24" name="椭圆 23"/>
            <p:cNvSpPr/>
            <p:nvPr/>
          </p:nvSpPr>
          <p:spPr>
            <a:xfrm>
              <a:off x="2786292" y="4223415"/>
              <a:ext cx="360000" cy="360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2758669" y="4238947"/>
              <a:ext cx="415245" cy="328936"/>
            </a:xfrm>
            <a:prstGeom prst="rect">
              <a:avLst/>
            </a:prstGeom>
            <a:noFill/>
          </p:spPr>
          <p:txBody>
            <a:bodyPr wrap="square" rtlCol="0">
              <a:spAutoFit/>
            </a:bodyPr>
            <a:lstStyle/>
            <a:p>
              <a:pPr algn="ctr">
                <a:lnSpc>
                  <a:spcPct val="120000"/>
                </a:lnSpc>
              </a:pPr>
              <a:r>
                <a:rPr lang="en-US" altLang="zh-CN" sz="1400" b="1" dirty="0">
                  <a:solidFill>
                    <a:schemeClr val="bg1"/>
                  </a:solidFill>
                  <a:latin typeface="微软雅黑" panose="020B0503020204020204" pitchFamily="34" charset="-122"/>
                  <a:ea typeface="微软雅黑" panose="020B0503020204020204" pitchFamily="34" charset="-122"/>
                </a:rPr>
                <a:t>03</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grpSp>
      <p:cxnSp>
        <p:nvCxnSpPr>
          <p:cNvPr id="28" name="直接连接符 27"/>
          <p:cNvCxnSpPr/>
          <p:nvPr/>
        </p:nvCxnSpPr>
        <p:spPr>
          <a:xfrm>
            <a:off x="7470849" y="2505506"/>
            <a:ext cx="3699014" cy="0"/>
          </a:xfrm>
          <a:prstGeom prst="line">
            <a:avLst/>
          </a:prstGeom>
          <a:ln w="12700">
            <a:solidFill>
              <a:schemeClr val="accent1">
                <a:alpha val="60000"/>
              </a:schemeClr>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7886"/>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展望和建议</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333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07</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553085" y="1801495"/>
            <a:ext cx="3484245" cy="667385"/>
          </a:xfrm>
          <a:prstGeom prst="rect">
            <a:avLst/>
          </a:prstGeom>
          <a:gradFill flip="none" rotWithShape="1">
            <a:gsLst>
              <a:gs pos="0">
                <a:schemeClr val="accent1">
                  <a:alpha val="0"/>
                </a:schemeClr>
              </a:gs>
              <a:gs pos="100000">
                <a:schemeClr val="accent1"/>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p:txBody>
          <a:bodyPr/>
          <a:lstStyle/>
          <a:p>
            <a:r>
              <a:rPr lang="zh-CN" altLang="en-US" dirty="0"/>
              <a:t>实施中医药数据工程建设</a:t>
            </a:r>
          </a:p>
        </p:txBody>
      </p:sp>
      <p:sp>
        <p:nvSpPr>
          <p:cNvPr id="5" name="文本框 4"/>
          <p:cNvSpPr txBox="1"/>
          <p:nvPr>
            <p:custDataLst>
              <p:tags r:id="rId2"/>
            </p:custDataLst>
          </p:nvPr>
        </p:nvSpPr>
        <p:spPr>
          <a:xfrm>
            <a:off x="480695" y="2468880"/>
            <a:ext cx="3528060" cy="2861310"/>
          </a:xfrm>
          <a:prstGeom prst="rect">
            <a:avLst/>
          </a:prstGeom>
          <a:noFill/>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依托国家数据基础设施建设整体布局，统筹推进中医药高质量数据集基础设施工程，全面提升中医药领域数据采集、</a:t>
            </a:r>
            <a:r>
              <a:rPr lang="zh-CN" altLang="en-US" sz="2000" b="1" dirty="0">
                <a:solidFill>
                  <a:srgbClr val="FF0000"/>
                </a:solidFill>
                <a:latin typeface="微软雅黑" panose="020B0503020204020204" pitchFamily="34" charset="-122"/>
                <a:ea typeface="微软雅黑" panose="020B0503020204020204" pitchFamily="34" charset="-122"/>
              </a:rPr>
              <a:t>汇聚、传输、加工、流通、利用、运营、安全八大核心能力。</a:t>
            </a:r>
          </a:p>
        </p:txBody>
      </p:sp>
      <p:sp>
        <p:nvSpPr>
          <p:cNvPr id="6" name="文本框 5"/>
          <p:cNvSpPr txBox="1"/>
          <p:nvPr>
            <p:custDataLst>
              <p:tags r:id="rId3"/>
            </p:custDataLst>
          </p:nvPr>
        </p:nvSpPr>
        <p:spPr>
          <a:xfrm>
            <a:off x="4372610" y="2537460"/>
            <a:ext cx="3367405" cy="3784600"/>
          </a:xfrm>
          <a:prstGeom prst="rect">
            <a:avLst/>
          </a:prstGeom>
          <a:noFill/>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围绕高质量数据集建设运营全流程、各环节，建立健全国家标准、行业标准、团体标准协同推进的标准化体系，覆盖基础通用、关键技术、质量控制、工具平台、流通交易、行业应用及安全保障等重点领域。</a:t>
            </a:r>
          </a:p>
        </p:txBody>
      </p:sp>
      <p:sp>
        <p:nvSpPr>
          <p:cNvPr id="9" name="文本框 8"/>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4"/>
            </p:custDataLst>
          </p:nvPr>
        </p:nvSpPr>
        <p:spPr>
          <a:xfrm>
            <a:off x="707390" y="1864360"/>
            <a:ext cx="2751455" cy="576580"/>
          </a:xfrm>
          <a:prstGeom prst="rect">
            <a:avLst/>
          </a:prstGeom>
          <a:noFill/>
        </p:spPr>
        <p:txBody>
          <a:bodyPr wrap="square" rtlCol="0">
            <a:noAutofit/>
          </a:bodyPr>
          <a:lstStyle/>
          <a:p>
            <a:pP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数据基础设施建设 </a:t>
            </a:r>
          </a:p>
        </p:txBody>
      </p:sp>
      <p:sp>
        <p:nvSpPr>
          <p:cNvPr id="14" name="矩形 13"/>
          <p:cNvSpPr/>
          <p:nvPr>
            <p:custDataLst>
              <p:tags r:id="rId5"/>
            </p:custDataLst>
          </p:nvPr>
        </p:nvSpPr>
        <p:spPr>
          <a:xfrm>
            <a:off x="4372610" y="1831975"/>
            <a:ext cx="3484245" cy="667385"/>
          </a:xfrm>
          <a:prstGeom prst="rect">
            <a:avLst/>
          </a:prstGeom>
          <a:gradFill flip="none" rotWithShape="1">
            <a:gsLst>
              <a:gs pos="0">
                <a:schemeClr val="accent1">
                  <a:alpha val="0"/>
                </a:schemeClr>
              </a:gs>
              <a:gs pos="100000">
                <a:schemeClr val="accent1"/>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custDataLst>
              <p:tags r:id="rId6"/>
            </p:custDataLst>
          </p:nvPr>
        </p:nvSpPr>
        <p:spPr>
          <a:xfrm>
            <a:off x="4372610" y="1880235"/>
            <a:ext cx="3731260" cy="748665"/>
          </a:xfrm>
          <a:prstGeom prst="rect">
            <a:avLst/>
          </a:prstGeom>
          <a:noFill/>
        </p:spPr>
        <p:txBody>
          <a:bodyPr wrap="square" rtlCol="0">
            <a:noAutofit/>
          </a:bodyPr>
          <a:lstStyle/>
          <a:p>
            <a:pPr lvl="0" algn="l">
              <a:lnSpc>
                <a:spcPct val="120000"/>
              </a:lnSpc>
              <a:buClrTx/>
              <a:buSzTx/>
              <a:buFontTx/>
            </a:pPr>
            <a:r>
              <a:rPr lang="zh-CN" altLang="en-US" sz="2400" b="1" dirty="0">
                <a:solidFill>
                  <a:schemeClr val="bg1"/>
                </a:solidFill>
                <a:latin typeface="微软雅黑" panose="020B0503020204020204" pitchFamily="34" charset="-122"/>
                <a:ea typeface="微软雅黑" panose="020B0503020204020204" pitchFamily="34" charset="-122"/>
                <a:sym typeface="+mn-ea"/>
              </a:rPr>
              <a:t>数据标准化体系建设</a:t>
            </a:r>
          </a:p>
        </p:txBody>
      </p:sp>
      <p:sp>
        <p:nvSpPr>
          <p:cNvPr id="7" name="文本框 6"/>
          <p:cNvSpPr txBox="1"/>
          <p:nvPr>
            <p:custDataLst>
              <p:tags r:id="rId7"/>
            </p:custDataLst>
          </p:nvPr>
        </p:nvSpPr>
        <p:spPr>
          <a:xfrm>
            <a:off x="8143875" y="2537460"/>
            <a:ext cx="3578860" cy="3322955"/>
          </a:xfrm>
          <a:prstGeom prst="rect">
            <a:avLst/>
          </a:prstGeom>
          <a:noFill/>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构建中医药行业数据集统一目录体系、数据集管理服务平台与集成应用平台，绘制中医药数据集资源地图，建立数据集动态管理与质量评价机制，促进数据集供需主体间高效安全流通。</a:t>
            </a:r>
          </a:p>
        </p:txBody>
      </p:sp>
      <p:sp>
        <p:nvSpPr>
          <p:cNvPr id="8" name="矩形 7"/>
          <p:cNvSpPr/>
          <p:nvPr>
            <p:custDataLst>
              <p:tags r:id="rId8"/>
            </p:custDataLst>
          </p:nvPr>
        </p:nvSpPr>
        <p:spPr>
          <a:xfrm>
            <a:off x="8244840" y="1833245"/>
            <a:ext cx="3484245" cy="667385"/>
          </a:xfrm>
          <a:prstGeom prst="rect">
            <a:avLst/>
          </a:prstGeom>
          <a:gradFill flip="none" rotWithShape="1">
            <a:gsLst>
              <a:gs pos="0">
                <a:schemeClr val="accent1">
                  <a:alpha val="0"/>
                </a:schemeClr>
              </a:gs>
              <a:gs pos="100000">
                <a:schemeClr val="accent1"/>
              </a:gs>
            </a:gsLst>
            <a:lin ang="10800000" scaled="1"/>
            <a:tileRect/>
          </a:gra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custDataLst>
              <p:tags r:id="rId9"/>
            </p:custDataLst>
          </p:nvPr>
        </p:nvSpPr>
        <p:spPr>
          <a:xfrm>
            <a:off x="8357870" y="1898015"/>
            <a:ext cx="3365500" cy="534035"/>
          </a:xfrm>
          <a:prstGeom prst="rect">
            <a:avLst/>
          </a:prstGeom>
          <a:noFill/>
        </p:spPr>
        <p:txBody>
          <a:bodyPr wrap="square" rtlCol="0">
            <a:spAutoFit/>
          </a:bodyPr>
          <a:lstStyle/>
          <a:p>
            <a:pPr>
              <a:lnSpc>
                <a:spcPct val="120000"/>
              </a:lnSpc>
            </a:pPr>
            <a:r>
              <a:rPr lang="zh-CN" altLang="en-US" sz="2400" b="1" dirty="0">
                <a:solidFill>
                  <a:schemeClr val="bg1"/>
                </a:solidFill>
                <a:latin typeface="微软雅黑" panose="020B0503020204020204" pitchFamily="34" charset="-122"/>
                <a:ea typeface="微软雅黑" panose="020B0503020204020204" pitchFamily="34" charset="-122"/>
              </a:rPr>
              <a:t>数据服务平台建设</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提升</a:t>
            </a:r>
            <a:r>
              <a:rPr lang="en-US" altLang="zh-CN" dirty="0"/>
              <a:t>AI</a:t>
            </a:r>
            <a:r>
              <a:rPr lang="zh-CN" altLang="en-US" dirty="0"/>
              <a:t>数据技术创新能力</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aphicFrame>
        <p:nvGraphicFramePr>
          <p:cNvPr id="2" name="图示 1"/>
          <p:cNvGraphicFramePr/>
          <p:nvPr/>
        </p:nvGraphicFramePr>
        <p:xfrm>
          <a:off x="397658" y="1145236"/>
          <a:ext cx="1105714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normAutofit/>
          </a:bodyPr>
          <a:lstStyle/>
          <a:p>
            <a:r>
              <a:rPr lang="zh-CN" altLang="en-US" dirty="0"/>
              <a:t>建立数据质量与运营管理体系 </a:t>
            </a:r>
          </a:p>
        </p:txBody>
      </p:sp>
      <p:sp>
        <p:nvSpPr>
          <p:cNvPr id="2" name="文本框 1"/>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8" name="矩形: 圆角 7"/>
          <p:cNvSpPr/>
          <p:nvPr>
            <p:custDataLst>
              <p:tags r:id="rId1"/>
            </p:custDataLst>
          </p:nvPr>
        </p:nvSpPr>
        <p:spPr>
          <a:xfrm>
            <a:off x="534670" y="1853565"/>
            <a:ext cx="5411470" cy="3614420"/>
          </a:xfrm>
          <a:prstGeom prst="roundRect">
            <a:avLst>
              <a:gd name="adj" fmla="val 5265"/>
            </a:avLst>
          </a:prstGeom>
          <a:solidFill>
            <a:schemeClr val="bg1"/>
          </a:solidFill>
          <a:ln w="19050">
            <a:solidFill>
              <a:schemeClr val="accent2">
                <a:alpha val="30000"/>
              </a:schemeClr>
            </a:solidFill>
          </a:ln>
          <a:effectLst>
            <a:outerShdw blurRad="1016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custDataLst>
              <p:tags r:id="rId2"/>
            </p:custDataLst>
          </p:nvPr>
        </p:nvSpPr>
        <p:spPr>
          <a:xfrm>
            <a:off x="631825" y="1853565"/>
            <a:ext cx="5332095" cy="683895"/>
          </a:xfrm>
          <a:prstGeom prst="rect">
            <a:avLst/>
          </a:prstGeom>
          <a:solidFill>
            <a:schemeClr val="accent1"/>
          </a:solid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effectLst/>
                <a:latin typeface="微软雅黑" panose="020B0503020204020204" pitchFamily="34" charset="-122"/>
                <a:ea typeface="微软雅黑" panose="020B0503020204020204" pitchFamily="34" charset="-122"/>
                <a:sym typeface="+mn-ea"/>
              </a:rPr>
              <a:t>制定中医药高质量数据集质量评价实施流程</a:t>
            </a:r>
          </a:p>
        </p:txBody>
      </p:sp>
      <p:sp>
        <p:nvSpPr>
          <p:cNvPr id="11" name="文本框 10"/>
          <p:cNvSpPr txBox="1"/>
          <p:nvPr>
            <p:custDataLst>
              <p:tags r:id="rId3"/>
            </p:custDataLst>
          </p:nvPr>
        </p:nvSpPr>
        <p:spPr>
          <a:xfrm>
            <a:off x="631190" y="2547620"/>
            <a:ext cx="5319395" cy="2245360"/>
          </a:xfrm>
          <a:prstGeom prst="rect">
            <a:avLst/>
          </a:prstGeom>
          <a:noFill/>
        </p:spPr>
        <p:txBody>
          <a:bodyPr wrap="square">
            <a:spAutoFit/>
          </a:bodyPr>
          <a:lstStyle/>
          <a:p>
            <a:pPr marL="342900" indent="-342900">
              <a:lnSpc>
                <a:spcPct val="100000"/>
              </a:lnSpc>
              <a:buFont typeface="Wingdings" panose="05000000000000000000" charset="0"/>
              <a:buChar char="Ø"/>
            </a:pPr>
            <a:r>
              <a:rPr lang="zh-CN" altLang="en-US" sz="2000" b="1" i="0" dirty="0">
                <a:solidFill>
                  <a:schemeClr val="accent1"/>
                </a:solidFill>
                <a:effectLst/>
                <a:latin typeface="微软雅黑" panose="020B0503020204020204" pitchFamily="34" charset="-122"/>
                <a:ea typeface="微软雅黑" panose="020B0503020204020204" pitchFamily="34" charset="-122"/>
              </a:rPr>
              <a:t>明确质量评估各关键环节的操作标准与责任分工</a:t>
            </a:r>
          </a:p>
          <a:p>
            <a:pPr marL="342900" indent="-342900">
              <a:lnSpc>
                <a:spcPct val="100000"/>
              </a:lnSpc>
              <a:buFont typeface="Wingdings" panose="05000000000000000000" charset="0"/>
              <a:buChar char="Ø"/>
            </a:pPr>
            <a:r>
              <a:rPr lang="zh-CN" altLang="en-US" sz="2000" b="1" i="0" dirty="0">
                <a:solidFill>
                  <a:schemeClr val="accent1"/>
                </a:solidFill>
                <a:effectLst/>
                <a:latin typeface="微软雅黑" panose="020B0503020204020204" pitchFamily="34" charset="-122"/>
                <a:ea typeface="微软雅黑" panose="020B0503020204020204" pitchFamily="34" charset="-122"/>
              </a:rPr>
              <a:t>构建覆盖中医药数据要素全生命周期与实际应用需求的质量评价指标体系，涵盖数据准确性、完整性、一致性、规范性、安全性等核心维度，实现数据全流程管控目标</a:t>
            </a:r>
            <a:r>
              <a:rPr lang="zh-CN" altLang="en-US" sz="2000" b="1" dirty="0">
                <a:solidFill>
                  <a:schemeClr val="accent1"/>
                </a:solidFill>
                <a:latin typeface="微软雅黑" panose="020B0503020204020204" pitchFamily="34" charset="-122"/>
                <a:ea typeface="微软雅黑" panose="020B0503020204020204" pitchFamily="34" charset="-122"/>
              </a:rPr>
              <a:t>。</a:t>
            </a:r>
          </a:p>
        </p:txBody>
      </p:sp>
      <p:sp>
        <p:nvSpPr>
          <p:cNvPr id="12" name="矩形: 圆角 11"/>
          <p:cNvSpPr/>
          <p:nvPr>
            <p:custDataLst>
              <p:tags r:id="rId4"/>
            </p:custDataLst>
          </p:nvPr>
        </p:nvSpPr>
        <p:spPr>
          <a:xfrm>
            <a:off x="6390640" y="1847215"/>
            <a:ext cx="5356225" cy="3614420"/>
          </a:xfrm>
          <a:prstGeom prst="roundRect">
            <a:avLst>
              <a:gd name="adj" fmla="val 5265"/>
            </a:avLst>
          </a:prstGeom>
          <a:solidFill>
            <a:schemeClr val="bg1"/>
          </a:solidFill>
          <a:ln w="19050">
            <a:solidFill>
              <a:schemeClr val="accent2">
                <a:alpha val="30000"/>
              </a:schemeClr>
            </a:solidFill>
          </a:ln>
          <a:effectLst>
            <a:outerShdw blurRad="1016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形 3"/>
          <p:cNvPicPr>
            <a:picLocks noChangeAspect="1"/>
          </p:cNvPicPr>
          <p:nvPr>
            <p:custDataLst>
              <p:tags r:id="rId5"/>
            </p:custDataLst>
          </p:nvPr>
        </p:nvPicPr>
        <p:blipFill>
          <a:blip>
            <a:extLst>
              <a:ext uri="{96DAC541-7B7A-43D3-8B79-37D633B846F1}">
                <asvg:svgBlip xmlns:asvg="http://schemas.microsoft.com/office/drawing/2016/SVG/main" r:embed="rId11"/>
              </a:ext>
            </a:extLst>
          </a:blip>
          <a:stretch>
            <a:fillRect/>
          </a:stretch>
        </p:blipFill>
        <p:spPr>
          <a:xfrm>
            <a:off x="650613" y="1954232"/>
            <a:ext cx="396000" cy="396000"/>
          </a:xfrm>
          <a:prstGeom prst="rect">
            <a:avLst/>
          </a:prstGeom>
        </p:spPr>
      </p:pic>
      <p:pic>
        <p:nvPicPr>
          <p:cNvPr id="16" name="图形 15"/>
          <p:cNvPicPr>
            <a:picLocks noChangeAspect="1"/>
          </p:cNvPicPr>
          <p:nvPr>
            <p:custDataLst>
              <p:tags r:id="rId6"/>
            </p:custDataLst>
          </p:nvPr>
        </p:nvPicPr>
        <p:blipFill>
          <a:blip>
            <a:extLst>
              <a:ext uri="{96DAC541-7B7A-43D3-8B79-37D633B846F1}">
                <asvg:svgBlip xmlns:asvg="http://schemas.microsoft.com/office/drawing/2016/SVG/main" r:embed="rId12"/>
              </a:ext>
            </a:extLst>
          </a:blip>
          <a:stretch>
            <a:fillRect/>
          </a:stretch>
        </p:blipFill>
        <p:spPr>
          <a:xfrm>
            <a:off x="6700128" y="2038492"/>
            <a:ext cx="360000" cy="360000"/>
          </a:xfrm>
          <a:prstGeom prst="rect">
            <a:avLst/>
          </a:prstGeom>
        </p:spPr>
      </p:pic>
      <p:sp>
        <p:nvSpPr>
          <p:cNvPr id="5" name="文本框 4"/>
          <p:cNvSpPr txBox="1"/>
          <p:nvPr>
            <p:custDataLst>
              <p:tags r:id="rId7"/>
            </p:custDataLst>
          </p:nvPr>
        </p:nvSpPr>
        <p:spPr>
          <a:xfrm>
            <a:off x="6415405" y="2630170"/>
            <a:ext cx="5457190" cy="2245360"/>
          </a:xfrm>
          <a:prstGeom prst="rect">
            <a:avLst/>
          </a:prstGeom>
          <a:noFill/>
        </p:spPr>
        <p:txBody>
          <a:bodyPr wrap="square">
            <a:spAutoFit/>
          </a:bodyPr>
          <a:lstStyle/>
          <a:p>
            <a:pPr marL="342900" indent="-342900">
              <a:lnSpc>
                <a:spcPct val="100000"/>
              </a:lnSpc>
              <a:buFont typeface="Wingdings" panose="05000000000000000000" charset="0"/>
              <a:buChar char="Ø"/>
            </a:pPr>
            <a:r>
              <a:rPr lang="zh-CN" altLang="en-US" sz="2000" b="1" i="0" dirty="0">
                <a:solidFill>
                  <a:schemeClr val="accent1"/>
                </a:solidFill>
                <a:effectLst/>
                <a:latin typeface="微软雅黑" panose="020B0503020204020204" pitchFamily="34" charset="-122"/>
                <a:ea typeface="微软雅黑" panose="020B0503020204020204" pitchFamily="34" charset="-122"/>
              </a:rPr>
              <a:t>明确数据集研发、交付与持续更新等关键环节的管理要求，</a:t>
            </a:r>
          </a:p>
          <a:p>
            <a:pPr marL="342900" indent="-342900">
              <a:lnSpc>
                <a:spcPct val="100000"/>
              </a:lnSpc>
              <a:buFont typeface="Wingdings" panose="05000000000000000000" charset="0"/>
              <a:buChar char="Ø"/>
            </a:pPr>
            <a:r>
              <a:rPr lang="zh-CN" altLang="en-US" sz="2000" b="1" i="0" dirty="0">
                <a:solidFill>
                  <a:schemeClr val="accent1"/>
                </a:solidFill>
                <a:effectLst/>
                <a:latin typeface="微软雅黑" panose="020B0503020204020204" pitchFamily="34" charset="-122"/>
                <a:ea typeface="微软雅黑" panose="020B0503020204020204" pitchFamily="34" charset="-122"/>
              </a:rPr>
              <a:t>构建覆盖用户需求响应、成本精细化管理、质量与安全管控及生态协同发展的全流程运营管理体系，推动中医药数据从“资源”向“资产”转化，实现数据集的可持续利用与价值持续释放。</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3" name="矩形 2"/>
          <p:cNvSpPr/>
          <p:nvPr>
            <p:custDataLst>
              <p:tags r:id="rId8"/>
            </p:custDataLst>
          </p:nvPr>
        </p:nvSpPr>
        <p:spPr>
          <a:xfrm>
            <a:off x="6415405" y="1847215"/>
            <a:ext cx="5332095" cy="683895"/>
          </a:xfrm>
          <a:prstGeom prst="rect">
            <a:avLst/>
          </a:prstGeom>
          <a:solidFill>
            <a:schemeClr val="accent1"/>
          </a:solidFill>
          <a:ln w="2222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effectLst/>
                <a:latin typeface="微软雅黑" panose="020B0503020204020204" pitchFamily="34" charset="-122"/>
                <a:ea typeface="微软雅黑" panose="020B0503020204020204" pitchFamily="34" charset="-122"/>
                <a:sym typeface="+mn-ea"/>
              </a:rPr>
              <a:t>结合应用场景需求，开展运营管理体系规划</a:t>
            </a:r>
          </a:p>
        </p:txBody>
      </p:sp>
      <p:pic>
        <p:nvPicPr>
          <p:cNvPr id="7" name="图形 3"/>
          <p:cNvPicPr>
            <a:picLocks noChangeAspect="1"/>
          </p:cNvPicPr>
          <p:nvPr>
            <p:custDataLst>
              <p:tags r:id="rId9"/>
            </p:custDataLst>
          </p:nvPr>
        </p:nvPicPr>
        <p:blipFill>
          <a:blip>
            <a:extLst>
              <a:ext uri="{96DAC541-7B7A-43D3-8B79-37D633B846F1}">
                <asvg:svgBlip xmlns:asvg="http://schemas.microsoft.com/office/drawing/2016/SVG/main" r:embed="rId11"/>
              </a:ext>
            </a:extLst>
          </a:blip>
          <a:stretch>
            <a:fillRect/>
          </a:stretch>
        </p:blipFill>
        <p:spPr>
          <a:xfrm>
            <a:off x="6415143" y="1954232"/>
            <a:ext cx="396000" cy="39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normAutofit/>
          </a:bodyPr>
          <a:lstStyle/>
          <a:p>
            <a:r>
              <a:rPr lang="zh-CN" altLang="en-US" dirty="0"/>
              <a:t>构建数据产业协同发展生态</a:t>
            </a:r>
          </a:p>
        </p:txBody>
      </p:sp>
      <p:sp>
        <p:nvSpPr>
          <p:cNvPr id="13" name="文本框 12"/>
          <p:cNvSpPr txBox="1"/>
          <p:nvPr/>
        </p:nvSpPr>
        <p:spPr>
          <a:xfrm>
            <a:off x="397658" y="386876"/>
            <a:ext cx="655413" cy="565604"/>
          </a:xfrm>
          <a:prstGeom prst="rect">
            <a:avLst/>
          </a:prstGeom>
          <a:noFill/>
        </p:spPr>
        <p:txBody>
          <a:bodyPr wrap="square" rtlCol="0">
            <a:spAutoFit/>
          </a:bodyPr>
          <a:lstStyle/>
          <a:p>
            <a:pPr algn="ctr">
              <a:lnSpc>
                <a:spcPct val="120000"/>
              </a:lnSpc>
            </a:pPr>
            <a:r>
              <a:rPr lang="en-US" altLang="zh-CN" sz="2800" b="1" dirty="0">
                <a:solidFill>
                  <a:schemeClr val="bg1"/>
                </a:solidFill>
                <a:latin typeface="微软雅黑" panose="020B0503020204020204" pitchFamily="34" charset="-122"/>
                <a:ea typeface="微软雅黑" panose="020B0503020204020204" pitchFamily="34" charset="-122"/>
              </a:rPr>
              <a:t>4</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5" name="文本框 18"/>
          <p:cNvSpPr txBox="1"/>
          <p:nvPr/>
        </p:nvSpPr>
        <p:spPr>
          <a:xfrm>
            <a:off x="492030" y="1278903"/>
            <a:ext cx="11207940" cy="412369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lnSpc>
                <a:spcPct val="120000"/>
              </a:lnSpc>
              <a:buFont typeface="Wingdings" panose="05000000000000000000" pitchFamily="2" charset="2"/>
              <a:buChar char="Ø"/>
            </a:pPr>
            <a:r>
              <a:rPr lang="zh-CN" altLang="en-US" sz="2000" b="1" i="0" dirty="0">
                <a:solidFill>
                  <a:srgbClr val="C00000"/>
                </a:solidFill>
                <a:effectLst/>
                <a:latin typeface="微软雅黑" panose="020B0503020204020204" pitchFamily="34" charset="-122"/>
                <a:ea typeface="微软雅黑" panose="020B0503020204020204" pitchFamily="34" charset="-122"/>
              </a:rPr>
              <a:t>一是加快推进中医药数据要素基础制度体系建设与行业试点工作</a:t>
            </a:r>
            <a:r>
              <a:rPr lang="zh-CN" altLang="en-US" sz="2000" i="0" dirty="0">
                <a:solidFill>
                  <a:srgbClr val="000000"/>
                </a:solidFill>
                <a:effectLst/>
                <a:latin typeface="微软雅黑" panose="020B0503020204020204" pitchFamily="34" charset="-122"/>
                <a:ea typeface="微软雅黑" panose="020B0503020204020204" pitchFamily="34" charset="-122"/>
              </a:rPr>
              <a:t>，创新突破数据权属、定价、收益分配、安全治理、流通交易等体制机制瓶颈，加快形成中医药高质量数据集价值循环体系，打造行业典型示范案例，以试点带动整体发展；</a:t>
            </a:r>
            <a:endParaRPr lang="en-US" altLang="zh-CN" sz="200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buFont typeface="Wingdings" panose="05000000000000000000" pitchFamily="2" charset="2"/>
              <a:buChar char="Ø"/>
            </a:pPr>
            <a:endParaRPr lang="en-US" altLang="zh-CN" sz="200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buFont typeface="Wingdings" panose="05000000000000000000" pitchFamily="2" charset="2"/>
              <a:buChar char="Ø"/>
            </a:pPr>
            <a:r>
              <a:rPr lang="zh-CN" altLang="en-US" sz="2000" b="1" i="0" dirty="0">
                <a:solidFill>
                  <a:srgbClr val="C00000"/>
                </a:solidFill>
                <a:effectLst/>
                <a:latin typeface="微软雅黑" panose="020B0503020204020204" pitchFamily="34" charset="-122"/>
                <a:ea typeface="微软雅黑" panose="020B0503020204020204" pitchFamily="34" charset="-122"/>
              </a:rPr>
              <a:t>二是搭建中医药数据产业发展合作平台</a:t>
            </a:r>
            <a:r>
              <a:rPr lang="zh-CN" altLang="en-US" sz="2000" i="0" dirty="0">
                <a:solidFill>
                  <a:srgbClr val="000000"/>
                </a:solidFill>
                <a:effectLst/>
                <a:latin typeface="微软雅黑" panose="020B0503020204020204" pitchFamily="34" charset="-122"/>
                <a:ea typeface="微软雅黑" panose="020B0503020204020204" pitchFamily="34" charset="-122"/>
              </a:rPr>
              <a:t>，建立完善政府引导、企业主导、科研支撑、多方参与的合作机制，打造覆盖中医药数据采集、清洗、标注、流通交易、应用的完整产业链，形成中医药数据创新发展共同体与产业联盟，推动资源共享、优势互补；</a:t>
            </a:r>
            <a:endParaRPr lang="en-US" altLang="zh-CN" sz="200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buFont typeface="Wingdings" panose="05000000000000000000" pitchFamily="2" charset="2"/>
              <a:buChar char="Ø"/>
            </a:pPr>
            <a:endParaRPr lang="en-US" altLang="zh-CN" sz="2000" i="0" dirty="0">
              <a:solidFill>
                <a:srgbClr val="000000"/>
              </a:solidFill>
              <a:effectLst/>
              <a:latin typeface="微软雅黑" panose="020B0503020204020204" pitchFamily="34" charset="-122"/>
              <a:ea typeface="微软雅黑" panose="020B0503020204020204" pitchFamily="34" charset="-122"/>
            </a:endParaRPr>
          </a:p>
          <a:p>
            <a:pPr marL="285750" indent="-285750" algn="l">
              <a:lnSpc>
                <a:spcPct val="120000"/>
              </a:lnSpc>
              <a:buFont typeface="Wingdings" panose="05000000000000000000" pitchFamily="2" charset="2"/>
              <a:buChar char="Ø"/>
            </a:pPr>
            <a:r>
              <a:rPr lang="zh-CN" altLang="en-US" sz="2000" b="1" i="0" dirty="0">
                <a:solidFill>
                  <a:srgbClr val="C00000"/>
                </a:solidFill>
                <a:effectLst/>
                <a:latin typeface="微软雅黑" panose="020B0503020204020204" pitchFamily="34" charset="-122"/>
                <a:ea typeface="微软雅黑" panose="020B0503020204020204" pitchFamily="34" charset="-122"/>
              </a:rPr>
              <a:t>三是加强交叉创新人才培养与数据工程团队建设</a:t>
            </a:r>
            <a:r>
              <a:rPr lang="zh-CN" altLang="en-US" sz="2000" i="0" dirty="0">
                <a:solidFill>
                  <a:srgbClr val="000000"/>
                </a:solidFill>
                <a:effectLst/>
                <a:latin typeface="微软雅黑" panose="020B0503020204020204" pitchFamily="34" charset="-122"/>
                <a:ea typeface="微软雅黑" panose="020B0503020204020204" pitchFamily="34" charset="-122"/>
              </a:rPr>
              <a:t>，推进中医药数据科学交叉创新学科建设，积极培育与引进既掌握中医药专业知识，又具备数据科学、软件工程、</a:t>
            </a:r>
            <a:r>
              <a:rPr lang="en-US" altLang="zh-CN" sz="2000" i="0" dirty="0">
                <a:solidFill>
                  <a:srgbClr val="000000"/>
                </a:solidFill>
                <a:effectLst/>
                <a:latin typeface="微软雅黑" panose="020B0503020204020204" pitchFamily="34" charset="-122"/>
                <a:ea typeface="微软雅黑" panose="020B0503020204020204" pitchFamily="34" charset="-122"/>
              </a:rPr>
              <a:t>AI</a:t>
            </a:r>
            <a:r>
              <a:rPr lang="zh-CN" altLang="en-US" sz="2000" i="0" dirty="0">
                <a:solidFill>
                  <a:srgbClr val="000000"/>
                </a:solidFill>
                <a:effectLst/>
                <a:latin typeface="微软雅黑" panose="020B0503020204020204" pitchFamily="34" charset="-122"/>
                <a:ea typeface="微软雅黑" panose="020B0503020204020204" pitchFamily="34" charset="-122"/>
              </a:rPr>
              <a:t>等多领域交叉背景的复合型人才，强化人才队伍与创新团队建设，为中医药数据要素价值释放注入持续创新活力。</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8999"/>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405502" y="3005326"/>
            <a:ext cx="10506306" cy="706755"/>
          </a:xfrm>
          <a:prstGeom prst="rect">
            <a:avLst/>
          </a:prstGeom>
          <a:noFill/>
        </p:spPr>
        <p:txBody>
          <a:bodyPr wrap="square">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工作倡议</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866518" y="2897604"/>
            <a:ext cx="1525875" cy="922020"/>
          </a:xfrm>
          <a:prstGeom prst="rect">
            <a:avLst/>
          </a:prstGeom>
          <a:noFill/>
        </p:spPr>
        <p:txBody>
          <a:bodyPr wrap="square">
            <a:spAutoFit/>
          </a:bodyPr>
          <a:lstStyle/>
          <a:p>
            <a:pPr algn="ctr"/>
            <a:r>
              <a:rPr lang="en-US" altLang="zh-CN" sz="5400" b="1" i="0" dirty="0">
                <a:solidFill>
                  <a:schemeClr val="bg1"/>
                </a:solidFill>
                <a:effectLst/>
                <a:latin typeface="Noto Sans SC Black" panose="020B0200000000000000" pitchFamily="34" charset="-122"/>
                <a:ea typeface="Noto Sans SC Black" panose="020B0200000000000000" pitchFamily="34" charset="-122"/>
              </a:rPr>
              <a:t>08</a:t>
            </a:r>
            <a:endParaRPr lang="zh-CN" altLang="en-US" sz="5400" b="1" i="0" dirty="0">
              <a:solidFill>
                <a:schemeClr val="bg1"/>
              </a:solidFill>
              <a:effectLst/>
              <a:latin typeface="Noto Sans SC Black" panose="020B0200000000000000" pitchFamily="34" charset="-122"/>
              <a:ea typeface="Noto Sans SC Black" panose="020B0200000000000000" pitchFamily="34" charset="-122"/>
            </a:endParaRPr>
          </a:p>
        </p:txBody>
      </p: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10616242" y="201782"/>
            <a:ext cx="1295566" cy="126513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nvSpPr>
        <p:spPr>
          <a:xfrm>
            <a:off x="206375" y="765810"/>
            <a:ext cx="11811000" cy="6629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spc="100" baseline="0">
                <a:solidFill>
                  <a:schemeClr val="accent1"/>
                </a:solidFill>
                <a:latin typeface="微软雅黑" panose="020B0503020204020204" pitchFamily="34" charset="-122"/>
                <a:ea typeface="微软雅黑" panose="020B0503020204020204" pitchFamily="34" charset="-122"/>
                <a:cs typeface="+mj-cs"/>
              </a:defRPr>
            </a:lvl1pPr>
          </a:lstStyle>
          <a:p>
            <a:pPr algn="ctr"/>
            <a:r>
              <a:rPr lang="zh-CN" altLang="en-US" dirty="0"/>
              <a:t>中西医融合诊疗人工智能高质量标准数据</a:t>
            </a:r>
            <a:r>
              <a:rPr lang="zh-CN" altLang="en-US" dirty="0">
                <a:sym typeface="+mn-ea"/>
              </a:rPr>
              <a:t>集构建与评价</a:t>
            </a:r>
            <a:endParaRPr lang="zh-CN" altLang="en-US" dirty="0"/>
          </a:p>
        </p:txBody>
      </p:sp>
      <p:sp>
        <p:nvSpPr>
          <p:cNvPr id="3" name="文本框 2"/>
          <p:cNvSpPr txBox="1"/>
          <p:nvPr/>
        </p:nvSpPr>
        <p:spPr>
          <a:xfrm>
            <a:off x="1638300" y="2136775"/>
            <a:ext cx="9779000" cy="2584450"/>
          </a:xfrm>
          <a:prstGeom prst="rect">
            <a:avLst/>
          </a:prstGeom>
          <a:noFill/>
        </p:spPr>
        <p:txBody>
          <a:bodyPr wrap="square" rtlCol="0" anchor="t">
            <a:spAutoFit/>
          </a:bodyPr>
          <a:lstStyle/>
          <a:p>
            <a:pPr marL="571500" indent="-571500">
              <a:lnSpc>
                <a:spcPct val="150000"/>
              </a:lnSpc>
              <a:buFont typeface="Wingdings" panose="05000000000000000000" charset="0"/>
              <a:buChar char="Ø"/>
            </a:pPr>
            <a:r>
              <a:rPr lang="zh-CN" altLang="en-US" sz="3600" b="1">
                <a:latin typeface="黑体" panose="02010609060101010101" charset="-122"/>
                <a:ea typeface="黑体" panose="02010609060101010101" charset="-122"/>
              </a:rPr>
              <a:t>一套方法学体系</a:t>
            </a:r>
          </a:p>
          <a:p>
            <a:pPr marL="571500" indent="-571500">
              <a:lnSpc>
                <a:spcPct val="150000"/>
              </a:lnSpc>
              <a:buFont typeface="Wingdings" panose="05000000000000000000" charset="0"/>
              <a:buChar char="Ø"/>
            </a:pPr>
            <a:r>
              <a:rPr lang="en-US" altLang="zh-CN" sz="3600" b="1">
                <a:latin typeface="黑体" panose="02010609060101010101" charset="-122"/>
                <a:ea typeface="黑体" panose="02010609060101010101" charset="-122"/>
              </a:rPr>
              <a:t>10</a:t>
            </a:r>
            <a:r>
              <a:rPr lang="zh-CN" altLang="en-US" sz="3600" b="1">
                <a:latin typeface="黑体" panose="02010609060101010101" charset="-122"/>
                <a:ea typeface="黑体" panose="02010609060101010101" charset="-122"/>
              </a:rPr>
              <a:t>以上试点病种数据集（冠心病、糖尿病等）</a:t>
            </a:r>
          </a:p>
          <a:p>
            <a:pPr marL="571500" indent="-571500">
              <a:lnSpc>
                <a:spcPct val="150000"/>
              </a:lnSpc>
              <a:buFont typeface="Wingdings" panose="05000000000000000000" charset="0"/>
              <a:buChar char="Ø"/>
            </a:pPr>
            <a:r>
              <a:rPr lang="zh-CN" altLang="en-US" sz="3600" b="1">
                <a:latin typeface="黑体" panose="02010609060101010101" charset="-122"/>
                <a:ea typeface="黑体" panose="02010609060101010101" charset="-122"/>
              </a:rPr>
              <a:t>一套人工智能高质量数据应用系统</a:t>
            </a:r>
          </a:p>
        </p:txBody>
      </p:sp>
      <p:sp>
        <p:nvSpPr>
          <p:cNvPr id="4" name="文本框 3"/>
          <p:cNvSpPr txBox="1"/>
          <p:nvPr/>
        </p:nvSpPr>
        <p:spPr>
          <a:xfrm>
            <a:off x="1311910" y="5158105"/>
            <a:ext cx="9779000" cy="922020"/>
          </a:xfrm>
          <a:prstGeom prst="rect">
            <a:avLst/>
          </a:prstGeom>
          <a:noFill/>
        </p:spPr>
        <p:txBody>
          <a:bodyPr wrap="square" rtlCol="0" anchor="t">
            <a:spAutoFit/>
          </a:bodyPr>
          <a:lstStyle/>
          <a:p>
            <a:pPr indent="0" algn="ctr">
              <a:lnSpc>
                <a:spcPct val="150000"/>
              </a:lnSpc>
              <a:buFont typeface="Wingdings" panose="05000000000000000000" charset="0"/>
              <a:buNone/>
            </a:pPr>
            <a:r>
              <a:rPr lang="zh-CN" altLang="en-US" sz="3600" b="1">
                <a:solidFill>
                  <a:srgbClr val="C00000"/>
                </a:solidFill>
                <a:latin typeface="黑体" panose="02010609060101010101" charset="-122"/>
                <a:ea typeface="黑体" panose="02010609060101010101" charset="-122"/>
              </a:rPr>
              <a:t>数智中医药</a:t>
            </a:r>
            <a:r>
              <a:rPr lang="en-US" altLang="zh-CN" sz="3600" b="1">
                <a:solidFill>
                  <a:srgbClr val="C00000"/>
                </a:solidFill>
                <a:latin typeface="黑体" panose="02010609060101010101" charset="-122"/>
                <a:ea typeface="黑体" panose="02010609060101010101" charset="-122"/>
              </a:rPr>
              <a:t>-</a:t>
            </a:r>
            <a:r>
              <a:rPr lang="zh-CN" altLang="en-US" sz="3600" b="1">
                <a:solidFill>
                  <a:srgbClr val="C00000"/>
                </a:solidFill>
                <a:latin typeface="黑体" panose="02010609060101010101" charset="-122"/>
                <a:ea typeface="黑体" panose="02010609060101010101" charset="-122"/>
              </a:rPr>
              <a:t>数据筑基</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2159000"/>
            <a:ext cx="12192000" cy="2667000"/>
          </a:xfrm>
          <a:prstGeom prst="rect">
            <a:avLst/>
          </a:prstGeom>
          <a:solidFill>
            <a:schemeClr val="accent1"/>
          </a:solidFill>
          <a:ln w="1016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831270" y="3138944"/>
            <a:ext cx="10506306" cy="706755"/>
          </a:xfrm>
          <a:prstGeom prst="rect">
            <a:avLst/>
          </a:prstGeom>
          <a:noFill/>
        </p:spPr>
        <p:txBody>
          <a:bodyPr wrap="square">
            <a:spAutoFit/>
          </a:bodyPr>
          <a:lstStyle/>
          <a:p>
            <a:pPr algn="ctr"/>
            <a:r>
              <a:rPr lang="zh-CN" altLang="en-US" sz="4000" b="1" i="0" dirty="0">
                <a:solidFill>
                  <a:schemeClr val="bg1"/>
                </a:solidFill>
                <a:effectLst/>
                <a:latin typeface="微软雅黑" panose="020B0503020204020204" pitchFamily="34" charset="-122"/>
                <a:ea typeface="微软雅黑" panose="020B0503020204020204" pitchFamily="34" charset="-122"/>
              </a:rPr>
              <a:t>敬请批评指正！</a:t>
            </a:r>
          </a:p>
        </p:txBody>
      </p:sp>
      <p:cxnSp>
        <p:nvCxnSpPr>
          <p:cNvPr id="4" name="直接连接符 3"/>
          <p:cNvCxnSpPr/>
          <p:nvPr/>
        </p:nvCxnSpPr>
        <p:spPr>
          <a:xfrm>
            <a:off x="0" y="49717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 name="直接连接符 1"/>
          <p:cNvCxnSpPr/>
          <p:nvPr/>
        </p:nvCxnSpPr>
        <p:spPr>
          <a:xfrm>
            <a:off x="0" y="1999930"/>
            <a:ext cx="12192000"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rcRect l="3110" t="1683" r="3735" b="3824"/>
          <a:stretch>
            <a:fillRect/>
          </a:stretch>
        </p:blipFill>
        <p:spPr>
          <a:xfrm>
            <a:off x="5227608" y="299049"/>
            <a:ext cx="1713781" cy="16735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38.24622047244094,&quot;left&quot;:178.47543307086613,&quot;top&quot;:54.35629921259842,&quot;width&quot;:743.313779527559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498.58968503937,&quot;left&quot;:-11.63118110236228,&quot;top&quot;:99.68708661417323,&quot;width&quot;:1401.912283464567}"/>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09.46708661417324,&quot;left&quot;:42.91850393700788,&quot;top&quot;:120.98244094488189,&quot;width&quot;:882.8064566929133}"/>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76.2563779527559,&quot;left&quot;:8.148503937007874,&quot;top&quot;:140.5436220472441,&quot;width&quot;:955.189527559055}"/>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98.88220472440946,&quot;left&quot;:37.43086614173228,&quot;top&quot;:98.92322834645668,&quot;width&quot;:878.7015748031496}"/>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98.88220472440946,&quot;left&quot;:37.43086614173228,&quot;top&quot;:98.92322834645668,&quot;width&quot;:878.7015748031496}"/>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422.8054330708661,&quot;left&quot;:37.43086614173228,&quot;top&quot;:75,&quot;width&quot;:878.7015748031496}"/>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05.9002362204725,&quot;left&quot;:42.1,&quot;top&quot;:145.45,&quot;width&quot;:892.75}"/>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285.1090551181103,&quot;left&quot;:42.1,&quot;top&quot;:166.2411811023622,&quot;width&quot;:856.1053543307087}"/>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85.1090551181103,&quot;left&quot;:42.1,&quot;top&quot;:166.2411811023622,&quot;width&quot;:892.75}"/>
</p:tagLst>
</file>

<file path=ppt/theme/theme1.xml><?xml version="1.0" encoding="utf-8"?>
<a:theme xmlns:a="http://schemas.openxmlformats.org/drawingml/2006/main" name="Office 主题​​">
  <a:themeElements>
    <a:clrScheme name="自定义 91">
      <a:dk1>
        <a:sysClr val="windowText" lastClr="000000"/>
      </a:dk1>
      <a:lt1>
        <a:sysClr val="window" lastClr="FFFFFF"/>
      </a:lt1>
      <a:dk2>
        <a:srgbClr val="242852"/>
      </a:dk2>
      <a:lt2>
        <a:srgbClr val="ACCBF9"/>
      </a:lt2>
      <a:accent1>
        <a:srgbClr val="003F88"/>
      </a:accent1>
      <a:accent2>
        <a:srgbClr val="1F5FA0"/>
      </a:accent2>
      <a:accent3>
        <a:srgbClr val="629DD1"/>
      </a:accent3>
      <a:accent4>
        <a:srgbClr val="7F8FA9"/>
      </a:accent4>
      <a:accent5>
        <a:srgbClr val="5AA2AE"/>
      </a:accent5>
      <a:accent6>
        <a:srgbClr val="9D90A0"/>
      </a:accent6>
      <a:hlink>
        <a:srgbClr val="9454C3"/>
      </a:hlink>
      <a:folHlink>
        <a:srgbClr val="3EBBF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01600">
          <a:solidFill>
            <a:schemeClr val="accent3"/>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自定义 91">
      <a:dk1>
        <a:sysClr val="windowText" lastClr="000000"/>
      </a:dk1>
      <a:lt1>
        <a:sysClr val="window" lastClr="FFFFFF"/>
      </a:lt1>
      <a:dk2>
        <a:srgbClr val="242852"/>
      </a:dk2>
      <a:lt2>
        <a:srgbClr val="ACCBF9"/>
      </a:lt2>
      <a:accent1>
        <a:srgbClr val="003F88"/>
      </a:accent1>
      <a:accent2>
        <a:srgbClr val="1F5FA0"/>
      </a:accent2>
      <a:accent3>
        <a:srgbClr val="629DD1"/>
      </a:accent3>
      <a:accent4>
        <a:srgbClr val="7F8FA9"/>
      </a:accent4>
      <a:accent5>
        <a:srgbClr val="5AA2AE"/>
      </a:accent5>
      <a:accent6>
        <a:srgbClr val="9D90A0"/>
      </a:accent6>
      <a:hlink>
        <a:srgbClr val="9454C3"/>
      </a:hlink>
      <a:folHlink>
        <a:srgbClr val="3EBBF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101600">
          <a:solidFill>
            <a:schemeClr val="accent3"/>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9648</Words>
  <Application>Microsoft Office PowerPoint</Application>
  <PresentationFormat>宽屏</PresentationFormat>
  <Paragraphs>345</Paragraphs>
  <Slides>36</Slides>
  <Notes>6</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36</vt:i4>
      </vt:variant>
    </vt:vector>
  </HeadingPairs>
  <TitlesOfParts>
    <vt:vector size="47" baseType="lpstr">
      <vt:lpstr>Noto Sans SC Black</vt:lpstr>
      <vt:lpstr>等线</vt:lpstr>
      <vt:lpstr>等线 Light</vt:lpstr>
      <vt:lpstr>黑体</vt:lpstr>
      <vt:lpstr>微软雅黑</vt:lpstr>
      <vt:lpstr>Arial</vt:lpstr>
      <vt:lpstr>Poppins</vt:lpstr>
      <vt:lpstr>Wingdings</vt:lpstr>
      <vt:lpstr>Office 主题​​</vt:lpstr>
      <vt:lpstr>1_Office 主题​​</vt:lpstr>
      <vt:lpstr>2_Office 主题​​</vt:lpstr>
      <vt:lpstr>PowerPoint 演示文稿</vt:lpstr>
      <vt:lpstr>PowerPoint 演示文稿</vt:lpstr>
      <vt:lpstr>PowerPoint 演示文稿</vt:lpstr>
      <vt:lpstr>中医药数据相关概念及基本特征</vt:lpstr>
      <vt:lpstr>中医药高质量数据集基本概念</vt:lpstr>
      <vt:lpstr>中医药高质量数据集建设的背景</vt:lpstr>
      <vt:lpstr>中医药高质量数据集建设的意义</vt:lpstr>
      <vt:lpstr>中医药高质量数据集建设的意义</vt:lpstr>
      <vt:lpstr>中医药高质量数据集建设的意义</vt:lpstr>
      <vt:lpstr>PowerPoint 演示文稿</vt:lpstr>
      <vt:lpstr>中医药高质量数据集建设现状与挑战</vt:lpstr>
      <vt:lpstr>PowerPoint 演示文稿</vt:lpstr>
      <vt:lpstr>中医药高质量数据集建设目标</vt:lpstr>
      <vt:lpstr>PowerPoint 演示文稿</vt:lpstr>
      <vt:lpstr>中医药高质量数据集核心特征 </vt:lpstr>
      <vt:lpstr>中医药高质量数据集组成要素</vt:lpstr>
      <vt:lpstr>中医药高质量数据集质量评价维度</vt:lpstr>
      <vt:lpstr>PowerPoint 演示文稿</vt:lpstr>
      <vt:lpstr>基于数据模态分类</vt:lpstr>
      <vt:lpstr>基于数据模态分类</vt:lpstr>
      <vt:lpstr>基于模型训练流程阶段的分类</vt:lpstr>
      <vt:lpstr>基于应用场景与知识深度的分类</vt:lpstr>
      <vt:lpstr>PowerPoint 演示文稿</vt:lpstr>
      <vt:lpstr>中医药高质量数据集的建设模式</vt:lpstr>
      <vt:lpstr>中医药高质量数据集的建设路径指引</vt:lpstr>
      <vt:lpstr>中医药高质量数据集的建设路径指引</vt:lpstr>
      <vt:lpstr>中医药高质量数据集的建设路径指引</vt:lpstr>
      <vt:lpstr>中医药高质量数据集的建设路径指引</vt:lpstr>
      <vt:lpstr>PowerPoint 演示文稿</vt:lpstr>
      <vt:lpstr>实施中医药数据工程建设</vt:lpstr>
      <vt:lpstr>提升AI数据技术创新能力</vt:lpstr>
      <vt:lpstr>建立数据质量与运营管理体系 </vt:lpstr>
      <vt:lpstr>构建数据产业协同发展生态</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SYS</dc:creator>
  <cp:lastModifiedBy>子玉 赵</cp:lastModifiedBy>
  <cp:revision>723</cp:revision>
  <dcterms:created xsi:type="dcterms:W3CDTF">2025-05-12T09:52:00Z</dcterms:created>
  <dcterms:modified xsi:type="dcterms:W3CDTF">2026-10-03T09:02:47Z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1C8CF33AF7A540C5B9678B0957B76068_13</vt:lpwstr>
  </property>
</Properties>
</file>